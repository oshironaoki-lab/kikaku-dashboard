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3A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4C7C74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4114800" cy="4114800"/>
          </a:xfrm>
          <a:prstGeom prst="ellipse">
            <a:avLst/>
          </a:prstGeom>
          <a:solidFill>
            <a:srgbClr val="3A4A58"/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4754880"/>
            <a:ext cx="3291840" cy="3291840"/>
          </a:xfrm>
          <a:prstGeom prst="ellipse">
            <a:avLst/>
          </a:prstGeom>
          <a:solidFill>
            <a:srgbClr val="3A4A58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20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BE9A5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琉球リース様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242316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MVV策定・浸透 ご提案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34747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BD6D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次の55年を、社員の言葉で創る。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22960" y="40690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0B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2方向設計案｜チーム沖縄型・大手コンサル連携型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株式会社宣伝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67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琉球リース様 MVV策定・浸透 ご提案｜株式会社宣伝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47120" y="642823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E9A5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本提案の全体構成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67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共通の設計思想から、2つの推進体制、選定の考え方までを一気通貫でご説明します。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664208"/>
            <a:ext cx="11091672" cy="0"/>
          </a:xfrm>
          <a:prstGeom prst="line">
            <a:avLst/>
          </a:prstGeom>
          <a:noFill/>
          <a:ln w="15875">
            <a:solidFill>
              <a:srgbClr val="E3DC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9659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9F2EF"/>
          </a:solidFill>
          <a:ln w="12700">
            <a:solidFill>
              <a:srgbClr val="6FA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7C7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196596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なぜ今、MVVを策定するのか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262432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9F2EF"/>
          </a:solidFill>
          <a:ln w="12700">
            <a:solidFill>
              <a:srgbClr val="6FA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6243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7C7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34440" y="2624328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共通の企画思想「観る・紡ぐ・繋ぐ」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328269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9F2EF"/>
          </a:solidFill>
          <a:ln w="12700">
            <a:solidFill>
              <a:srgbClr val="6FA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2826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7C7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34440" y="3282696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全体スケジュール（9月〜3月、+4月以降オプション）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394106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9F2EF"/>
          </a:solidFill>
          <a:ln w="12700">
            <a:solidFill>
              <a:srgbClr val="6FA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9410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7C7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34440" y="3941064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方向A｜チーム沖縄型のご提案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4599432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9F2EF"/>
          </a:solidFill>
          <a:ln w="12700">
            <a:solidFill>
              <a:srgbClr val="6FA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5994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7C7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34440" y="4599432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方向B｜大手コンサル連携型のご提案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48640" y="52578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9F2EF"/>
          </a:solidFill>
          <a:ln w="12700">
            <a:solidFill>
              <a:srgbClr val="6FA3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5257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7C7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6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34440" y="525780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2方向の比較と、意思決定のための問い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7818120" y="1965960"/>
            <a:ext cx="3840480" cy="3977640"/>
          </a:xfrm>
          <a:prstGeom prst="roundRect">
            <a:avLst>
              <a:gd name="adj" fmla="val 2381"/>
            </a:avLst>
          </a:prstGeom>
          <a:solidFill>
            <a:srgbClr val="F4EEE1"/>
          </a:solidFill>
          <a:ln w="12700">
            <a:solidFill>
              <a:srgbClr val="BE9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92440" y="21945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実施スケジュール（要点）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092440" y="2651760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5D667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・MVV確定は9月〜1月中旬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5D667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・制作物は1月末〜3月初旬に完成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5D667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・3月中に社内共有発表会を実施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5D667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・4月以降の浸透アクションはオプション扱い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092440" y="4617720"/>
            <a:ext cx="3291840" cy="0"/>
          </a:xfrm>
          <a:prstGeom prst="line">
            <a:avLst/>
          </a:prstGeom>
          <a:noFill/>
          <a:ln w="9525">
            <a:solidFill>
              <a:srgbClr val="BE9A5F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8092440" y="4754880"/>
            <a:ext cx="3291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4C7C7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予算面の差は現時点では前面に出さず、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4C7C7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まずは進め方・体制の違いから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4C7C7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ご判断いただける構成にしています。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67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琉球リース様 MVV策定・浸透 ご提案｜株式会社宣伝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47120" y="642823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E9A5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02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エグゼクティブサマリー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67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本提案の核心を、一言でお伝えします。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664208"/>
            <a:ext cx="11091672" cy="0"/>
          </a:xfrm>
          <a:prstGeom prst="line">
            <a:avLst/>
          </a:prstGeom>
          <a:noFill/>
          <a:ln w="15875">
            <a:solidFill>
              <a:srgbClr val="E3DC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74520"/>
            <a:ext cx="11091672" cy="1371600"/>
          </a:xfrm>
          <a:prstGeom prst="roundRect">
            <a:avLst>
              <a:gd name="adj" fmla="val 6667"/>
            </a:avLst>
          </a:prstGeom>
          <a:solidFill>
            <a:srgbClr val="2E3A46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874520"/>
            <a:ext cx="10424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創業55年、時代とともに「必要なもの」を届け続けてきた琉球リース様。</a:t>
            </a:r>
            <a:endParaRPr lang="en-US" sz="19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次の55年を支えるのは、社員一人ひとりが語れる言葉です。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3520440"/>
            <a:ext cx="3529584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3DC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3520440"/>
            <a:ext cx="82296" cy="2514600"/>
          </a:xfrm>
          <a:prstGeom prst="rect">
            <a:avLst/>
          </a:prstGeom>
          <a:solidFill>
            <a:srgbClr val="6FA39A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749040"/>
            <a:ext cx="30266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経営基盤としてのMVV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4343400"/>
            <a:ext cx="3026664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D667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社内標語で終わらせず、人的資本経営・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D667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事業承継・採用競争力へつながる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D667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経営基盤として設計します。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34256" y="3520440"/>
            <a:ext cx="3529584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3DCC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34256" y="3520440"/>
            <a:ext cx="82296" cy="2514600"/>
          </a:xfrm>
          <a:prstGeom prst="rect">
            <a:avLst/>
          </a:prstGeom>
          <a:solidFill>
            <a:srgbClr val="6FA39A"/>
          </a:solidFill>
          <a:ln/>
        </p:spPr>
      </p:sp>
      <p:sp>
        <p:nvSpPr>
          <p:cNvPr id="16" name="Text 14"/>
          <p:cNvSpPr/>
          <p:nvPr/>
        </p:nvSpPr>
        <p:spPr>
          <a:xfrm>
            <a:off x="4608576" y="3749040"/>
            <a:ext cx="30266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2方向からのご提案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608576" y="4343400"/>
            <a:ext cx="3026664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D667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「チーム沖縄型」と「大手コンサル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D667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連携型」を並列に提示し、貴社らしい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D667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進め方をお選びいただけます。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19872" y="3520440"/>
            <a:ext cx="3529584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3DCC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19872" y="3520440"/>
            <a:ext cx="82296" cy="2514600"/>
          </a:xfrm>
          <a:prstGeom prst="rect">
            <a:avLst/>
          </a:prstGeom>
          <a:solidFill>
            <a:srgbClr val="6FA39A"/>
          </a:solidFill>
          <a:ln/>
        </p:spPr>
      </p:sp>
      <p:sp>
        <p:nvSpPr>
          <p:cNvPr id="20" name="Text 18"/>
          <p:cNvSpPr/>
          <p:nvPr/>
        </p:nvSpPr>
        <p:spPr>
          <a:xfrm>
            <a:off x="8394192" y="3749040"/>
            <a:ext cx="30266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3月発表をゴールに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394192" y="4343400"/>
            <a:ext cx="3026664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D667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1月中旬にMVVを確定し、3月の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D667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全社共有発表会で社員の皆様へ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D667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お披露目します。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67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琉球リース様 MVV策定・浸透 ご提案｜株式会社宣伝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47120" y="642823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E9A5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03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ご与件の整理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67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外部の力を借りながらも、「自分たちの言葉」であり続けることを、最も大切にします。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664208"/>
            <a:ext cx="11091672" cy="0"/>
          </a:xfrm>
          <a:prstGeom prst="line">
            <a:avLst/>
          </a:prstGeom>
          <a:noFill/>
          <a:ln w="15875">
            <a:solidFill>
              <a:srgbClr val="E3DC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965960"/>
            <a:ext cx="5394960" cy="2788920"/>
          </a:xfrm>
          <a:prstGeom prst="roundRect">
            <a:avLst>
              <a:gd name="adj" fmla="val 3279"/>
            </a:avLst>
          </a:prstGeom>
          <a:solidFill>
            <a:srgbClr val="E9F2EF"/>
          </a:solidFill>
          <a:ln w="12700">
            <a:solidFill>
              <a:srgbClr val="6FA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6712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C7C7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今回のご要望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2651760"/>
            <a:ext cx="48463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・55期の取り組みとして、行動指針をMVVへ刷新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・プロジェクトチームを組成し、現状把握から言語化・周知宣言までを推進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・本社移転という節目にあわせた展開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63640" y="1965960"/>
            <a:ext cx="5394960" cy="2788920"/>
          </a:xfrm>
          <a:prstGeom prst="roundRect">
            <a:avLst>
              <a:gd name="adj" fmla="val 3279"/>
            </a:avLst>
          </a:prstGeom>
          <a:solidFill>
            <a:srgbClr val="F5EDEA"/>
          </a:solidFill>
          <a:ln w="12700">
            <a:solidFill>
              <a:srgbClr val="C98F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216712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5B4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外部活用への懸念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37960" y="2651760"/>
            <a:ext cx="48463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・費用が高額化しないか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・独自性が弱まらないか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・コンサル任せになり、「他人事」化しないか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5029200"/>
            <a:ext cx="11091672" cy="1005840"/>
          </a:xfrm>
          <a:prstGeom prst="roundRect">
            <a:avLst>
              <a:gd name="adj" fmla="val 9091"/>
            </a:avLst>
          </a:prstGeom>
          <a:solidFill>
            <a:srgbClr val="F4EEE1"/>
          </a:solidFill>
          <a:ln w="12700">
            <a:solidFill>
              <a:srgbClr val="BE9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502920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企画上の答え：社員の声を起点にしながら、外部専門家の客観性と、宣伝の編集・制作・発信力によって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「MVVを使える状態」まで整えます。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67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琉球リース様 MVV策定・浸透 ご提案｜株式会社宣伝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47120" y="642823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E9A5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04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共通の企画思想｜観る・紡ぐ・繋ぐ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67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リース業の本質である「つなぐ」を、MVV策定のプロセスそのものに重ねます。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664208"/>
            <a:ext cx="11091672" cy="0"/>
          </a:xfrm>
          <a:prstGeom prst="line">
            <a:avLst/>
          </a:prstGeom>
          <a:noFill/>
          <a:ln w="15875">
            <a:solidFill>
              <a:srgbClr val="E3DC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965960"/>
            <a:ext cx="3529584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E3DC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4672" y="2221992"/>
            <a:ext cx="640080" cy="640080"/>
          </a:xfrm>
          <a:prstGeom prst="ellipse">
            <a:avLst/>
          </a:prstGeom>
          <a:solidFill>
            <a:srgbClr val="E9F2EF"/>
          </a:solidFill>
          <a:ln w="12700">
            <a:solidFill>
              <a:srgbClr val="6FA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222199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C7C7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600200" y="2240280"/>
            <a:ext cx="2249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観る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600200" y="2606040"/>
            <a:ext cx="22494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D667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経営環境や社内外の声を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D667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客観的に観る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4672" y="3337560"/>
            <a:ext cx="3017520" cy="0"/>
          </a:xfrm>
          <a:prstGeom prst="line">
            <a:avLst/>
          </a:prstGeom>
          <a:noFill/>
          <a:ln w="9525">
            <a:solidFill>
              <a:srgbClr val="E3DC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347472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・サーベイ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・アンケート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・インタビュー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・社史資料の整理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334256" y="1965960"/>
            <a:ext cx="3529584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E3DCC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90288" y="2221992"/>
            <a:ext cx="640080" cy="640080"/>
          </a:xfrm>
          <a:prstGeom prst="ellipse">
            <a:avLst/>
          </a:prstGeom>
          <a:solidFill>
            <a:srgbClr val="E9F2EF"/>
          </a:solidFill>
          <a:ln w="12700">
            <a:solidFill>
              <a:srgbClr val="6FA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90288" y="222199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C7C7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紡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385816" y="2240280"/>
            <a:ext cx="2249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紡ぐ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385816" y="2606040"/>
            <a:ext cx="22494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D667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社員の言葉を紡ぎ合わせ、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D667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MVVとして言語化する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90288" y="3337560"/>
            <a:ext cx="3017520" cy="0"/>
          </a:xfrm>
          <a:prstGeom prst="line">
            <a:avLst/>
          </a:prstGeom>
          <a:noFill/>
          <a:ln w="9525">
            <a:solidFill>
              <a:srgbClr val="E3DCC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90288" y="347472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・階層別ワークショップ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・プロジェクトチーム討議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・複数案の磨き込み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119872" y="1965960"/>
            <a:ext cx="3529584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E3DCC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375904" y="2221992"/>
            <a:ext cx="640080" cy="640080"/>
          </a:xfrm>
          <a:prstGeom prst="ellipse">
            <a:avLst/>
          </a:prstGeom>
          <a:solidFill>
            <a:srgbClr val="E9F2EF"/>
          </a:solidFill>
          <a:ln w="12700">
            <a:solidFill>
              <a:srgbClr val="6FA3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75904" y="222199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C7C7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繋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171432" y="2240280"/>
            <a:ext cx="2249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繋ぐ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171432" y="2606040"/>
            <a:ext cx="22494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D667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過去と未来、社内と社外、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D667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理念と行動をつなぐ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375904" y="3337560"/>
            <a:ext cx="3017520" cy="0"/>
          </a:xfrm>
          <a:prstGeom prst="line">
            <a:avLst/>
          </a:prstGeom>
          <a:noFill/>
          <a:ln w="9525">
            <a:solidFill>
              <a:srgbClr val="E3DCC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75904" y="347472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・制作物化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・社内発表会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・評価・採用・研修への展開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48640" y="5257800"/>
            <a:ext cx="11091672" cy="777240"/>
          </a:xfrm>
          <a:prstGeom prst="roundRect">
            <a:avLst>
              <a:gd name="adj" fmla="val 11765"/>
            </a:avLst>
          </a:prstGeom>
          <a:solidFill>
            <a:srgbClr val="2E3A46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" y="525780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方向Aも方向Bも、最終ゴールは同じです。社員が理解し、納得し、行動できるMVVへ。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67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琉球リース様 MVV策定・浸透 ご提案｜株式会社宣伝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47120" y="642823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E9A5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05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全体スケジュール案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67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9月〜1月中旬でMVVを確定し、3月中に全社共有発表会を実施します。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664208"/>
            <a:ext cx="11091672" cy="0"/>
          </a:xfrm>
          <a:prstGeom prst="line">
            <a:avLst/>
          </a:prstGeom>
          <a:noFill/>
          <a:ln w="15875">
            <a:solidFill>
              <a:srgbClr val="E3DC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103120"/>
            <a:ext cx="1331595" cy="502920"/>
          </a:xfrm>
          <a:prstGeom prst="rect">
            <a:avLst/>
          </a:prstGeom>
          <a:solidFill>
            <a:srgbClr val="6FA39A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103120"/>
            <a:ext cx="13315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9月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935099" y="2103120"/>
            <a:ext cx="1331595" cy="502920"/>
          </a:xfrm>
          <a:prstGeom prst="rect">
            <a:avLst/>
          </a:prstGeom>
          <a:solidFill>
            <a:srgbClr val="6FA39A"/>
          </a:solidFill>
          <a:ln/>
        </p:spPr>
      </p:sp>
      <p:sp>
        <p:nvSpPr>
          <p:cNvPr id="11" name="Text 9"/>
          <p:cNvSpPr/>
          <p:nvPr/>
        </p:nvSpPr>
        <p:spPr>
          <a:xfrm>
            <a:off x="1935099" y="2103120"/>
            <a:ext cx="13315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10月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321558" y="2103120"/>
            <a:ext cx="1331595" cy="502920"/>
          </a:xfrm>
          <a:prstGeom prst="rect">
            <a:avLst/>
          </a:prstGeom>
          <a:solidFill>
            <a:srgbClr val="6FA39A"/>
          </a:solidFill>
          <a:ln/>
        </p:spPr>
      </p:sp>
      <p:sp>
        <p:nvSpPr>
          <p:cNvPr id="13" name="Text 11"/>
          <p:cNvSpPr/>
          <p:nvPr/>
        </p:nvSpPr>
        <p:spPr>
          <a:xfrm>
            <a:off x="3321558" y="2103120"/>
            <a:ext cx="13315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11月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08017" y="2103120"/>
            <a:ext cx="1331595" cy="502920"/>
          </a:xfrm>
          <a:prstGeom prst="rect">
            <a:avLst/>
          </a:prstGeom>
          <a:solidFill>
            <a:srgbClr val="7C93B0"/>
          </a:solidFill>
          <a:ln/>
        </p:spPr>
      </p:sp>
      <p:sp>
        <p:nvSpPr>
          <p:cNvPr id="15" name="Text 13"/>
          <p:cNvSpPr/>
          <p:nvPr/>
        </p:nvSpPr>
        <p:spPr>
          <a:xfrm>
            <a:off x="4708017" y="2103120"/>
            <a:ext cx="13315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12月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94476" y="2103120"/>
            <a:ext cx="1331595" cy="502920"/>
          </a:xfrm>
          <a:prstGeom prst="rect">
            <a:avLst/>
          </a:prstGeom>
          <a:solidFill>
            <a:srgbClr val="7C93B0"/>
          </a:solidFill>
          <a:ln/>
        </p:spPr>
      </p:sp>
      <p:sp>
        <p:nvSpPr>
          <p:cNvPr id="17" name="Text 15"/>
          <p:cNvSpPr/>
          <p:nvPr/>
        </p:nvSpPr>
        <p:spPr>
          <a:xfrm>
            <a:off x="6094476" y="2103120"/>
            <a:ext cx="13315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1月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480935" y="2103120"/>
            <a:ext cx="1331595" cy="502920"/>
          </a:xfrm>
          <a:prstGeom prst="rect">
            <a:avLst/>
          </a:prstGeom>
          <a:solidFill>
            <a:srgbClr val="BE9A5F"/>
          </a:solidFill>
          <a:ln/>
        </p:spPr>
      </p:sp>
      <p:sp>
        <p:nvSpPr>
          <p:cNvPr id="19" name="Text 17"/>
          <p:cNvSpPr/>
          <p:nvPr/>
        </p:nvSpPr>
        <p:spPr>
          <a:xfrm>
            <a:off x="7480935" y="2103120"/>
            <a:ext cx="13315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2月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867394" y="2103120"/>
            <a:ext cx="1331595" cy="502920"/>
          </a:xfrm>
          <a:prstGeom prst="rect">
            <a:avLst/>
          </a:prstGeom>
          <a:solidFill>
            <a:srgbClr val="BE9A5F"/>
          </a:solidFill>
          <a:ln/>
        </p:spPr>
      </p:sp>
      <p:sp>
        <p:nvSpPr>
          <p:cNvPr id="21" name="Text 19"/>
          <p:cNvSpPr/>
          <p:nvPr/>
        </p:nvSpPr>
        <p:spPr>
          <a:xfrm>
            <a:off x="8867394" y="2103120"/>
            <a:ext cx="13315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3月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0253853" y="2103120"/>
            <a:ext cx="1331595" cy="502920"/>
          </a:xfrm>
          <a:prstGeom prst="rect">
            <a:avLst/>
          </a:prstGeom>
          <a:solidFill>
            <a:srgbClr val="B9B2A6"/>
          </a:solidFill>
          <a:ln/>
        </p:spPr>
      </p:sp>
      <p:sp>
        <p:nvSpPr>
          <p:cNvPr id="23" name="Text 21"/>
          <p:cNvSpPr/>
          <p:nvPr/>
        </p:nvSpPr>
        <p:spPr>
          <a:xfrm>
            <a:off x="10253853" y="2103120"/>
            <a:ext cx="13315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4月以降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2788920"/>
            <a:ext cx="1331595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DCC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2788920"/>
            <a:ext cx="10572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準備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935099" y="3337560"/>
            <a:ext cx="4104513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DCC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72259" y="3337560"/>
            <a:ext cx="383019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意見吸い上げ（最重点）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08017" y="3886200"/>
            <a:ext cx="2718054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DCC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5177" y="3886200"/>
            <a:ext cx="244373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統合・言語化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094476" y="4434840"/>
            <a:ext cx="4104513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DCC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31636" y="4434840"/>
            <a:ext cx="383019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制作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867394" y="4983480"/>
            <a:ext cx="2718054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DCC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004554" y="4983480"/>
            <a:ext cx="244373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発表・浸透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5623560"/>
            <a:ext cx="11091672" cy="502920"/>
          </a:xfrm>
          <a:prstGeom prst="roundRect">
            <a:avLst>
              <a:gd name="adj" fmla="val 14545"/>
            </a:avLst>
          </a:prstGeom>
          <a:solidFill>
            <a:srgbClr val="F4EEE1"/>
          </a:solidFill>
          <a:ln w="12700">
            <a:solidFill>
              <a:srgbClr val="BE9A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2960" y="56235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※ 意見吸い上げフェーズが、最も丁寧な対応を要する期間と想定しています。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C7C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645920"/>
            <a:ext cx="5029200" cy="5029200"/>
          </a:xfrm>
          <a:prstGeom prst="ellipse">
            <a:avLst/>
          </a:prstGeom>
          <a:solidFill>
            <a:srgbClr val="6FA39A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572000"/>
            <a:ext cx="4206240" cy="4206240"/>
          </a:xfrm>
          <a:prstGeom prst="ellipse">
            <a:avLst/>
          </a:prstGeom>
          <a:solidFill>
            <a:srgbClr val="6FA39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28600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方向 A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68680" y="34290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チーム沖縄型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68680" y="41148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EAE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県内コンサル・株式会社宣伝・琉球リース様が、近い距離で社員の言葉を引き出す進め方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7CFD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琉球リース様 MVV策定・浸透 ご提案｜株式会社宣伝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47120" y="642823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67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琉球リース様 MVV策定・浸透 ご提案｜株式会社宣伝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47120" y="642823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07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E9A5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06 ｜ 方向A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方向A｜提案コンセプト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67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社員の声を起点に、沖縄で実績を積んだ専門家チームと共に、納得感のあるMVVをつくります。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664208"/>
            <a:ext cx="11091672" cy="0"/>
          </a:xfrm>
          <a:prstGeom prst="line">
            <a:avLst/>
          </a:prstGeom>
          <a:noFill/>
          <a:ln w="15875">
            <a:solidFill>
              <a:srgbClr val="E3DC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920240"/>
            <a:ext cx="11091672" cy="960120"/>
          </a:xfrm>
          <a:prstGeom prst="roundRect">
            <a:avLst>
              <a:gd name="adj" fmla="val 9524"/>
            </a:avLst>
          </a:prstGeom>
          <a:solidFill>
            <a:srgbClr val="E9F2EF"/>
          </a:solidFill>
          <a:ln w="12700">
            <a:solidFill>
              <a:srgbClr val="6FA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920240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C7C7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実績ある地元専門家と紡ぐ、沖縄発のMVVづくり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3529584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3DC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331012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C7C7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強み1｜証明された引き出し力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04672" y="3730752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5D667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質問家・糸数直氏が伴走。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5D667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著書は東京・大阪の書店で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5D667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ランキング1位を獲得。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334256" y="3108960"/>
            <a:ext cx="3529584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3DC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90288" y="331012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C7C7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強み2｜戦略人事の裏付け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90288" y="3730752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5D667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イコールパートナー社の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5D667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西川氏が伴走。富士通の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5D667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戦略人事ノウハウを持ち、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5D667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県内90社の実績があります。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119872" y="3108960"/>
            <a:ext cx="3529584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3DCC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75904" y="331012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C7C7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強み3｜実装力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375904" y="3730752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5D667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言語化したMVVを、動画・冊子・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5D667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ポスター・発表会・採用広報へ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5D667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すぐに展開できます。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544068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向いているケース：社員参加・地域性・柔軟な運用・継続伴走を重視する場合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67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琉球リース様 MVV策定・浸透 ご提案｜株式会社宣伝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47120" y="642823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E9A5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07 ｜ 方向A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方向A｜推進体制と役割分担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67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宣伝がプロデューサーとなり、実績ある地元専門家2名とチームを組みます。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664208"/>
            <a:ext cx="11091672" cy="0"/>
          </a:xfrm>
          <a:prstGeom prst="line">
            <a:avLst/>
          </a:prstGeom>
          <a:noFill/>
          <a:ln w="15875">
            <a:solidFill>
              <a:srgbClr val="E3DC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965960"/>
            <a:ext cx="3529584" cy="288036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2700">
            <a:solidFill>
              <a:srgbClr val="E3DC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965960"/>
            <a:ext cx="3529584" cy="777240"/>
          </a:xfrm>
          <a:prstGeom prst="rect">
            <a:avLst/>
          </a:prstGeom>
          <a:solidFill>
            <a:srgbClr val="6FA39A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057400"/>
            <a:ext cx="30723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株式会社宣伝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77240" y="2404872"/>
            <a:ext cx="3072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5F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プロデューサー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77240" y="2926080"/>
            <a:ext cx="3072384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150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・全体設計・進行管理</a:t>
            </a:r>
            <a:endParaRPr lang="en-US" sz="11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150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・言葉の編集・コピー化</a:t>
            </a:r>
            <a:endParaRPr lang="en-US" sz="11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150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・動画・冊子・ポスター制作</a:t>
            </a:r>
            <a:endParaRPr lang="en-US" sz="11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150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・社内発表会運営／社外発信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334256" y="1965960"/>
            <a:ext cx="3529584" cy="288036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2700">
            <a:solidFill>
              <a:srgbClr val="E3DC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34256" y="1965960"/>
            <a:ext cx="3529584" cy="777240"/>
          </a:xfrm>
          <a:prstGeom prst="rect">
            <a:avLst/>
          </a:prstGeom>
          <a:solidFill>
            <a:srgbClr val="6FA39A"/>
          </a:solidFill>
          <a:ln/>
        </p:spPr>
      </p:sp>
      <p:sp>
        <p:nvSpPr>
          <p:cNvPr id="15" name="Text 13"/>
          <p:cNvSpPr/>
          <p:nvPr/>
        </p:nvSpPr>
        <p:spPr>
          <a:xfrm>
            <a:off x="4562856" y="2057400"/>
            <a:ext cx="30723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地元専門家チーム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62856" y="2404872"/>
            <a:ext cx="3072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5F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糸数直氏／イコールパートナー西川氏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62856" y="2926080"/>
            <a:ext cx="3072384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150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・質問設計(糸数直氏)</a:t>
            </a:r>
            <a:endParaRPr lang="en-US" sz="11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150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・階層別ワークショップ</a:t>
            </a:r>
            <a:endParaRPr lang="en-US" sz="11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150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・理念浸透設計(西川氏)</a:t>
            </a:r>
            <a:endParaRPr lang="en-US" sz="11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150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・行動評価基準への接続支援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119872" y="1965960"/>
            <a:ext cx="3529584" cy="288036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2700">
            <a:solidFill>
              <a:srgbClr val="E3DCC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19872" y="1965960"/>
            <a:ext cx="3529584" cy="777240"/>
          </a:xfrm>
          <a:prstGeom prst="rect">
            <a:avLst/>
          </a:prstGeom>
          <a:solidFill>
            <a:srgbClr val="6FA39A"/>
          </a:solidFill>
          <a:ln/>
        </p:spPr>
      </p:sp>
      <p:sp>
        <p:nvSpPr>
          <p:cNvPr id="20" name="Text 18"/>
          <p:cNvSpPr/>
          <p:nvPr/>
        </p:nvSpPr>
        <p:spPr>
          <a:xfrm>
            <a:off x="8348472" y="2057400"/>
            <a:ext cx="30723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琉球リース様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348472" y="2404872"/>
            <a:ext cx="3072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5F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オーナー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348472" y="2926080"/>
            <a:ext cx="3072384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150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・プロジェクトチーム組成</a:t>
            </a:r>
            <a:endParaRPr lang="en-US" sz="11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150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・経営層・社員の参加</a:t>
            </a:r>
            <a:endParaRPr lang="en-US" sz="11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150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・社内調整</a:t>
            </a:r>
            <a:endParaRPr lang="en-US" sz="11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150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・MVV承認・社内展開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8640" y="507492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経営の方針と現場の想いが両立する言葉を、宣伝が「伝わる形」に整えます。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67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琉球リース様 MVV策定・浸透 ご提案｜株式会社宣伝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47120" y="642823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09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E9A5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08 ｜ 方向A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方向A｜実施プロセス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67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社員参加と制作実装を一体化し、3月の社内共有発表会へつなげます。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664208"/>
            <a:ext cx="11091672" cy="0"/>
          </a:xfrm>
          <a:prstGeom prst="line">
            <a:avLst/>
          </a:prstGeom>
          <a:noFill/>
          <a:ln w="15875">
            <a:solidFill>
              <a:srgbClr val="E3DCCB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10916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6885432"/>
                <a:gridCol w="1828800"/>
              </a:tblGrid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工程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A39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主な実施内容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A39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時期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A39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E3A4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設計・チーム化</a:t>
                      </a:r>
                      <a:endParaRPr lang="en-US" sz="11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E3A4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ゴールすり合わせ／プロジェクトチーム組成(15名程度)・キックオフ</a:t>
                      </a:r>
                      <a:endParaRPr lang="en-US" sz="11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E3A4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9月</a:t>
                      </a:r>
                      <a:endParaRPr lang="en-US" sz="11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E3A4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意見吸い上げ</a:t>
                      </a:r>
                      <a:endParaRPr lang="en-US" sz="11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E3A4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経営層〜中堅幹部インタビュー(計10名)／社員サーベイ・取引先アンケート</a:t>
                      </a:r>
                      <a:endParaRPr lang="en-US" sz="11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E3A4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9〜10月</a:t>
                      </a:r>
                      <a:endParaRPr lang="en-US" sz="11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E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E3A4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階層別ワークショップ</a:t>
                      </a:r>
                      <a:endParaRPr lang="en-US" sz="11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E3A4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糸数直氏によるワークショップ2回(棚卸し→言葉づくり)</a:t>
                      </a:r>
                      <a:endParaRPr lang="en-US" sz="11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E3A4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10〜11月</a:t>
                      </a:r>
                      <a:endParaRPr lang="en-US" sz="11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E3A4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統合・策定</a:t>
                      </a:r>
                      <a:endParaRPr lang="en-US" sz="11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E3A4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インタビュー・WS内容を統合・文章化／経営レビュー／MVV確定</a:t>
                      </a:r>
                      <a:endParaRPr lang="en-US" sz="11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E3A4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11月〜1月中旬</a:t>
                      </a:r>
                      <a:endParaRPr lang="en-US" sz="11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E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E3A4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制作・発表</a:t>
                      </a:r>
                      <a:endParaRPr lang="en-US" sz="11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E3A4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動画・冊子・ポスター制作／社内共有発表会の運営</a:t>
                      </a:r>
                      <a:endParaRPr lang="en-US" sz="11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E3A4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1月末〜3月</a:t>
                      </a:r>
                      <a:endParaRPr lang="en-US" sz="11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67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琉球リース様 MVV策定・浸透 ご提案｜株式会社宣伝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47120" y="642823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E9A5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09 ｜ 方向A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方向A｜成果物と提案範囲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67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制作会社としての実装力を活かし、3月発表時点で「使えるツール」を揃えます。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664208"/>
            <a:ext cx="11091672" cy="0"/>
          </a:xfrm>
          <a:prstGeom prst="line">
            <a:avLst/>
          </a:prstGeom>
          <a:noFill/>
          <a:ln w="15875">
            <a:solidFill>
              <a:srgbClr val="E3DC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965960"/>
            <a:ext cx="3529584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3DC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965960"/>
            <a:ext cx="73152" cy="1554480"/>
          </a:xfrm>
          <a:prstGeom prst="rect">
            <a:avLst/>
          </a:prstGeom>
          <a:solidFill>
            <a:srgbClr val="6FA39A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" y="2103120"/>
            <a:ext cx="30723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MVV定義書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04672" y="2496312"/>
            <a:ext cx="30723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D667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A4一枚の要約版＋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D667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社内説明用の解説文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34256" y="1965960"/>
            <a:ext cx="3529584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3DC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34256" y="1965960"/>
            <a:ext cx="73152" cy="1554480"/>
          </a:xfrm>
          <a:prstGeom prst="rect">
            <a:avLst/>
          </a:prstGeom>
          <a:solidFill>
            <a:srgbClr val="6FA39A"/>
          </a:solidFill>
          <a:ln/>
        </p:spPr>
      </p:sp>
      <p:sp>
        <p:nvSpPr>
          <p:cNvPr id="14" name="Text 12"/>
          <p:cNvSpPr/>
          <p:nvPr/>
        </p:nvSpPr>
        <p:spPr>
          <a:xfrm>
            <a:off x="4590288" y="2103120"/>
            <a:ext cx="30723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ブランドハンドブック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90288" y="2496312"/>
            <a:ext cx="30723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D667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A5冊子想定。歴史・MVV・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D667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社員エピソード・行動基準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19872" y="1965960"/>
            <a:ext cx="3529584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3DC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19872" y="1965960"/>
            <a:ext cx="73152" cy="1554480"/>
          </a:xfrm>
          <a:prstGeom prst="rect">
            <a:avLst/>
          </a:prstGeom>
          <a:solidFill>
            <a:srgbClr val="6FA39A"/>
          </a:solidFill>
          <a:ln/>
        </p:spPr>
      </p:sp>
      <p:sp>
        <p:nvSpPr>
          <p:cNvPr id="18" name="Text 16"/>
          <p:cNvSpPr/>
          <p:nvPr/>
        </p:nvSpPr>
        <p:spPr>
          <a:xfrm>
            <a:off x="8375904" y="2103120"/>
            <a:ext cx="30723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ブランドムービー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375904" y="2496312"/>
            <a:ext cx="30723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D667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全社発表会用フル版＋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D667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採用・SNS向けショート版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703320"/>
            <a:ext cx="3529584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3DCC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3703320"/>
            <a:ext cx="73152" cy="1554480"/>
          </a:xfrm>
          <a:prstGeom prst="rect">
            <a:avLst/>
          </a:prstGeom>
          <a:solidFill>
            <a:srgbClr val="6FA39A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" y="3840480"/>
            <a:ext cx="30723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社内周知ツール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04672" y="4233672"/>
            <a:ext cx="30723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D667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ポスター、サイネージ、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D667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社内掲示、発表会スライド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34256" y="3703320"/>
            <a:ext cx="3529584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3DCC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34256" y="3703320"/>
            <a:ext cx="73152" cy="1554480"/>
          </a:xfrm>
          <a:prstGeom prst="rect">
            <a:avLst/>
          </a:prstGeom>
          <a:solidFill>
            <a:srgbClr val="6FA39A"/>
          </a:solidFill>
          <a:ln/>
        </p:spPr>
      </p:sp>
      <p:sp>
        <p:nvSpPr>
          <p:cNvPr id="26" name="Text 24"/>
          <p:cNvSpPr/>
          <p:nvPr/>
        </p:nvSpPr>
        <p:spPr>
          <a:xfrm>
            <a:off x="4590288" y="3840480"/>
            <a:ext cx="30723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発表会運営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590288" y="4233672"/>
            <a:ext cx="30723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D667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進行台本、当日投影資料、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D667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代表者コメント整備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119872" y="3703320"/>
            <a:ext cx="3529584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3DCC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19872" y="3703320"/>
            <a:ext cx="73152" cy="1554480"/>
          </a:xfrm>
          <a:prstGeom prst="rect">
            <a:avLst/>
          </a:prstGeom>
          <a:solidFill>
            <a:srgbClr val="6FA39A"/>
          </a:solidFill>
          <a:ln/>
        </p:spPr>
      </p:sp>
      <p:sp>
        <p:nvSpPr>
          <p:cNvPr id="30" name="Text 28"/>
          <p:cNvSpPr/>
          <p:nvPr/>
        </p:nvSpPr>
        <p:spPr>
          <a:xfrm>
            <a:off x="8375904" y="3840480"/>
            <a:ext cx="30723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4月以降オプション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8375904" y="4233672"/>
            <a:ext cx="30723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D667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イコールパートナー社の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D667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理念浸透セット・評価制度など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" y="58064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チーム沖縄型では、策定プロセスと制作プロセスを近接させ、言葉が決まった後の実装スピードを高めます。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67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琉球リース様 MVV策定・浸透 ご提案｜株式会社宣伝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47120" y="642823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E9A5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10 ｜ 方向A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方向A｜想定リスクと対策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67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「身近さ」のメリットを活かしつつ、客観性と経営接続を補強します。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664208"/>
            <a:ext cx="11091672" cy="0"/>
          </a:xfrm>
          <a:prstGeom prst="line">
            <a:avLst/>
          </a:prstGeom>
          <a:noFill/>
          <a:ln w="15875">
            <a:solidFill>
              <a:srgbClr val="E3DCCB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1091672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7434072"/>
              </a:tblGrid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想定リスク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A39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対策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A39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E3A4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客観性が弱く見える</a:t>
                      </a:r>
                      <a:endParaRPr lang="en-US" sz="11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E3A4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サーベイ・取引先アンケート・現状分析資料を組み込み、根拠を可視化する</a:t>
                      </a:r>
                      <a:endParaRPr lang="en-US" sz="11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E3A4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ワークショップで意見が偏る</a:t>
                      </a:r>
                      <a:endParaRPr lang="en-US" sz="11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E3A4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個人ワーク→小グループ共有→全体共有の順で設計し、心理的安全性を確保する</a:t>
                      </a:r>
                      <a:endParaRPr lang="en-US" sz="11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E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E3A4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経営課題と離れる</a:t>
                      </a:r>
                      <a:endParaRPr lang="en-US" sz="11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E3A4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経営層レビューを定例化し、経営理念・事業戦略・人材像との接続を確認する</a:t>
                      </a:r>
                      <a:endParaRPr lang="en-US" sz="11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5A71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645920"/>
            <a:ext cx="5029200" cy="5029200"/>
          </a:xfrm>
          <a:prstGeom prst="ellipse">
            <a:avLst/>
          </a:prstGeom>
          <a:solidFill>
            <a:srgbClr val="7C93B0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572000"/>
            <a:ext cx="4206240" cy="4206240"/>
          </a:xfrm>
          <a:prstGeom prst="ellipse">
            <a:avLst/>
          </a:prstGeom>
          <a:solidFill>
            <a:srgbClr val="7C93B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28600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方向 B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68680" y="34290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大手コンサル連携型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68680" y="41148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EAE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大手コンサルの体系的な調査・分析・合意形成と、宣伝の実装力を組み合わせる進め方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7CFD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琉球リース様 MVV策定・浸透 ご提案｜株式会社宣伝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47120" y="642823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67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琉球リース様 MVV策定・浸透 ご提案｜株式会社宣伝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47120" y="642823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E9A5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11 ｜ 方向B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方向B｜提案コンセプト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67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経営・社員・社会をつなぐ、戦略型MVV再構築です。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664208"/>
            <a:ext cx="11091672" cy="0"/>
          </a:xfrm>
          <a:prstGeom prst="line">
            <a:avLst/>
          </a:prstGeom>
          <a:noFill/>
          <a:ln w="15875">
            <a:solidFill>
              <a:srgbClr val="E3DC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920240"/>
            <a:ext cx="11091672" cy="960120"/>
          </a:xfrm>
          <a:prstGeom prst="roundRect">
            <a:avLst>
              <a:gd name="adj" fmla="val 9524"/>
            </a:avLst>
          </a:prstGeom>
          <a:solidFill>
            <a:srgbClr val="EBEFF6"/>
          </a:solidFill>
          <a:ln w="12700">
            <a:solidFill>
              <a:srgbClr val="7C93B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920240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A719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客観評価から策定・浸透までを、体系的に進める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3529584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3DC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331012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A719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強み1｜客観性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04672" y="3730752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5D667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社内外調査、エンゲージメント、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5D667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eNPSなどにより、現状の課題を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5D667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定量・定性の両面で整理します。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334256" y="3108960"/>
            <a:ext cx="3529584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3DC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90288" y="331012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A719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強み2｜経営接続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90288" y="3730752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5D667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経営戦略・事業戦略・制度設計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5D667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との接続を前提に、経営層への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5D667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説明力を高めます。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119872" y="3108960"/>
            <a:ext cx="3529584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3DCC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75904" y="331012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A719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強み3｜信頼感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375904" y="3730752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5D667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大手コンサルの知見・実績を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5D667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活用し、社外説明や発信にも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5D667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説得力を持たせます。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544068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向いているケース：経営改革・制度連動・社外説明力・長期的な組織変革を重視する場合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67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琉球リース様 MVV策定・浸透 ご提案｜株式会社宣伝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47120" y="642823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E9A5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12 ｜ 方向B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方向B｜推進体制と役割分担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67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大手コンサルが調査・分析・合意形成を主導し、宣伝が浸透・制作・発信を担います。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664208"/>
            <a:ext cx="11091672" cy="0"/>
          </a:xfrm>
          <a:prstGeom prst="line">
            <a:avLst/>
          </a:prstGeom>
          <a:noFill/>
          <a:ln w="15875">
            <a:solidFill>
              <a:srgbClr val="E3DC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965960"/>
            <a:ext cx="3529584" cy="288036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2700">
            <a:solidFill>
              <a:srgbClr val="E3DC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965960"/>
            <a:ext cx="3529584" cy="777240"/>
          </a:xfrm>
          <a:prstGeom prst="rect">
            <a:avLst/>
          </a:prstGeom>
          <a:solidFill>
            <a:srgbClr val="7C93B0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057400"/>
            <a:ext cx="30723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大手コンサル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77240" y="2404872"/>
            <a:ext cx="3072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EFF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調査・分析・合意形成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77240" y="2926080"/>
            <a:ext cx="3072384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150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・現状評価／調査設計</a:t>
            </a:r>
            <a:endParaRPr lang="en-US" sz="11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150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・エンゲージメント調査</a:t>
            </a:r>
            <a:endParaRPr lang="en-US" sz="11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150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・AsIs/ToBe整理</a:t>
            </a:r>
            <a:endParaRPr lang="en-US" sz="11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150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・経営層合意形成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334256" y="1965960"/>
            <a:ext cx="3529584" cy="288036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2700">
            <a:solidFill>
              <a:srgbClr val="E3DC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34256" y="1965960"/>
            <a:ext cx="3529584" cy="777240"/>
          </a:xfrm>
          <a:prstGeom prst="rect">
            <a:avLst/>
          </a:prstGeom>
          <a:solidFill>
            <a:srgbClr val="7C93B0"/>
          </a:solidFill>
          <a:ln/>
        </p:spPr>
      </p:sp>
      <p:sp>
        <p:nvSpPr>
          <p:cNvPr id="15" name="Text 13"/>
          <p:cNvSpPr/>
          <p:nvPr/>
        </p:nvSpPr>
        <p:spPr>
          <a:xfrm>
            <a:off x="4562856" y="2057400"/>
            <a:ext cx="30723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株式会社宣伝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62856" y="2404872"/>
            <a:ext cx="3072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EFF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プロデュース・実装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62856" y="2926080"/>
            <a:ext cx="3072384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150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・全体プロデュース</a:t>
            </a:r>
            <a:endParaRPr lang="en-US" sz="11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150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・言葉の編集／コピー化</a:t>
            </a:r>
            <a:endParaRPr lang="en-US" sz="11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150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・動画・冊子・ポスター制作</a:t>
            </a:r>
            <a:endParaRPr lang="en-US" sz="11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150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・社外発信／採用広報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119872" y="1965960"/>
            <a:ext cx="3529584" cy="288036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2700">
            <a:solidFill>
              <a:srgbClr val="E3DCC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19872" y="1965960"/>
            <a:ext cx="3529584" cy="777240"/>
          </a:xfrm>
          <a:prstGeom prst="rect">
            <a:avLst/>
          </a:prstGeom>
          <a:solidFill>
            <a:srgbClr val="7C93B0"/>
          </a:solidFill>
          <a:ln/>
        </p:spPr>
      </p:sp>
      <p:sp>
        <p:nvSpPr>
          <p:cNvPr id="20" name="Text 18"/>
          <p:cNvSpPr/>
          <p:nvPr/>
        </p:nvSpPr>
        <p:spPr>
          <a:xfrm>
            <a:off x="8348472" y="2057400"/>
            <a:ext cx="30723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琉球リース様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348472" y="2404872"/>
            <a:ext cx="3072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EFF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オーナー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348472" y="2926080"/>
            <a:ext cx="3072384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150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・経営層意思決定</a:t>
            </a:r>
            <a:endParaRPr lang="en-US" sz="11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150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・キーパーソン選定</a:t>
            </a:r>
            <a:endParaRPr lang="en-US" sz="11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150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・社内調整</a:t>
            </a:r>
            <a:endParaRPr lang="en-US" sz="11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150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・発表会・浸透の推進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8640" y="507492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宣伝の価値：大手コンサルの専門知見を、琉球リース様の社員に伝わる「言葉・体験・制作物」へ変換します。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67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琉球リース様 MVV策定・浸透 ご提案｜株式会社宣伝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47120" y="642823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E9A5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13 ｜ 方向B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方向B｜実施プロセス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67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現状評価・策定・浸透計画を段階化し、経営層の合意形成を厚くします。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664208"/>
            <a:ext cx="11091672" cy="0"/>
          </a:xfrm>
          <a:prstGeom prst="line">
            <a:avLst/>
          </a:prstGeom>
          <a:noFill/>
          <a:ln w="15875">
            <a:solidFill>
              <a:srgbClr val="E3DCCB"/>
            </a:solidFill>
            <a:prstDash val="solid"/>
          </a:ln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10916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6519672"/>
                <a:gridCol w="2194560"/>
              </a:tblGrid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フェーズ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93B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主な内容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93B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主担当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93B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E3A4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1. 現状評価</a:t>
                      </a:r>
                      <a:endParaRPr lang="en-US" sz="11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E3A4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エンゲージメント調査／eNPS／理念浸透度／社内外環境の確認</a:t>
                      </a:r>
                      <a:endParaRPr lang="en-US" sz="11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E3A4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大手コンサル主導</a:t>
                      </a:r>
                      <a:endParaRPr lang="en-US" sz="11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E3A4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2. インプット収集</a:t>
                      </a:r>
                      <a:endParaRPr lang="en-US" sz="11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F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E3A4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経営層・社員インタビュー／ワークショップ／AsIs・ToBe整理</a:t>
                      </a:r>
                      <a:endParaRPr lang="en-US" sz="11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F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E3A4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大手コンサル＋宣伝</a:t>
                      </a:r>
                      <a:endParaRPr lang="en-US" sz="11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FF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E3A4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3. MVV策定</a:t>
                      </a:r>
                      <a:endParaRPr lang="en-US" sz="11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E3A4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複数原案の作成／ワーディング／経営層レビュー</a:t>
                      </a:r>
                      <a:endParaRPr lang="en-US" sz="11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E3A4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大手コンサル＋宣伝</a:t>
                      </a:r>
                      <a:endParaRPr lang="en-US" sz="11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E3A4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4. 浸透計画</a:t>
                      </a:r>
                      <a:endParaRPr lang="en-US" sz="11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F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E3A4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社内浸透設計／タウンホール／社外PR／制度接続計画</a:t>
                      </a:r>
                      <a:endParaRPr lang="en-US" sz="11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F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E3A4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宣伝＋大手コンサル</a:t>
                      </a:r>
                      <a:endParaRPr lang="en-US" sz="11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FF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E3A4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5. 実装・発表</a:t>
                      </a:r>
                      <a:endParaRPr lang="en-US" sz="11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E3A4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ムービー・冊子・ポスター制作／社内発表会／社外発信準備</a:t>
                      </a:r>
                      <a:endParaRPr lang="en-US" sz="11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E3A4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宣伝主導</a:t>
                      </a:r>
                      <a:endParaRPr lang="en-US" sz="11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67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琉球リース様 MVV策定・浸透 ご提案｜株式会社宣伝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47120" y="642823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E9A5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14 ｜ 方向B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方向B｜想定リスクと対策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67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大手コンサルの強みを活かしつつ、社員の自分ごと化を失わない設計にします。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664208"/>
            <a:ext cx="11091672" cy="0"/>
          </a:xfrm>
          <a:prstGeom prst="line">
            <a:avLst/>
          </a:prstGeom>
          <a:noFill/>
          <a:ln w="15875">
            <a:solidFill>
              <a:srgbClr val="E3DCCB"/>
            </a:solidFill>
            <a:prstDash val="solid"/>
          </a:ln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1091672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7068312"/>
              </a:tblGrid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想定リスク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93B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対策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93B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E3A4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他人事化（外から来た言葉と感じる）</a:t>
                      </a:r>
                      <a:endParaRPr lang="en-US" sz="11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E3A4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社員ワークショップ、発言引用、発表会での社員参加演出を組み込む</a:t>
                      </a:r>
                      <a:endParaRPr lang="en-US" sz="11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E3A4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大規模化（制作・発表までを圧迫）</a:t>
                      </a:r>
                      <a:endParaRPr lang="en-US" sz="11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F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E3A4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1月中旬のMVV確定期限を明確にし、制作要件を早期に並行整理する</a:t>
                      </a:r>
                      <a:endParaRPr lang="en-US" sz="11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FF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E3A4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社内文化との距離</a:t>
                      </a:r>
                      <a:endParaRPr lang="en-US" sz="11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E3A4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宣伝が言葉の編集・トーン調整・社員向け翻訳を担う</a:t>
                      </a:r>
                      <a:endParaRPr lang="en-US" sz="11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67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琉球リース様 MVV策定・浸透 ご提案｜株式会社宣伝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47120" y="642823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E9A5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4月以降の浸透アクション（オプション）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67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3月発表会後、MVVを「知っている」から「行動している」状態へ進めます。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664208"/>
            <a:ext cx="11091672" cy="0"/>
          </a:xfrm>
          <a:prstGeom prst="line">
            <a:avLst/>
          </a:prstGeom>
          <a:noFill/>
          <a:ln w="15875">
            <a:solidFill>
              <a:srgbClr val="E3DC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965960"/>
            <a:ext cx="2624328" cy="2926080"/>
          </a:xfrm>
          <a:prstGeom prst="roundRect">
            <a:avLst>
              <a:gd name="adj" fmla="val 3484"/>
            </a:avLst>
          </a:prstGeom>
          <a:solidFill>
            <a:srgbClr val="E9F2EF"/>
          </a:solidFill>
          <a:ln w="12700">
            <a:solidFill>
              <a:srgbClr val="6FA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13055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D667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2468880"/>
            <a:ext cx="2258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認識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3017520"/>
            <a:ext cx="2258568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・MVVポスター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・サイネージ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・社内掲示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・動画再編集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・社内報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191256" y="324612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E9A5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▶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374136" y="1965960"/>
            <a:ext cx="2624328" cy="2926080"/>
          </a:xfrm>
          <a:prstGeom prst="roundRect">
            <a:avLst>
              <a:gd name="adj" fmla="val 3484"/>
            </a:avLst>
          </a:prstGeom>
          <a:solidFill>
            <a:srgbClr val="EBEFF6"/>
          </a:solidFill>
          <a:ln w="12700">
            <a:solidFill>
              <a:srgbClr val="7C93B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57016" y="213055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D667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57016" y="2468880"/>
            <a:ext cx="2258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理解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557016" y="3017520"/>
            <a:ext cx="2258568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・部署別説明会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・マネージャー向け目標管理シート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・ハンドブック読み合わせ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016752" y="324612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E9A5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▶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199632" y="1965960"/>
            <a:ext cx="2624328" cy="2926080"/>
          </a:xfrm>
          <a:prstGeom prst="roundRect">
            <a:avLst>
              <a:gd name="adj" fmla="val 3484"/>
            </a:avLst>
          </a:prstGeom>
          <a:solidFill>
            <a:srgbClr val="E9F2EF"/>
          </a:solidFill>
          <a:ln w="12700">
            <a:solidFill>
              <a:srgbClr val="6FA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82512" y="213055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D667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82512" y="2468880"/>
            <a:ext cx="2258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納得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382512" y="3017520"/>
            <a:ext cx="2258568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・職場推進リーダーによるミーティング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・事例発表会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・行動宣言カード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842248" y="324612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E9A5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▶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025128" y="1965960"/>
            <a:ext cx="2624328" cy="2926080"/>
          </a:xfrm>
          <a:prstGeom prst="roundRect">
            <a:avLst>
              <a:gd name="adj" fmla="val 3484"/>
            </a:avLst>
          </a:prstGeom>
          <a:solidFill>
            <a:srgbClr val="EBEFF6"/>
          </a:solidFill>
          <a:ln w="12700">
            <a:solidFill>
              <a:srgbClr val="7C93B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08008" y="213055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D667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208008" y="2468880"/>
            <a:ext cx="2258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体現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208008" y="3017520"/>
            <a:ext cx="2258568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・キックオフ宣言大会・表彰イベント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・評価制度連動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・採用基準への反映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・面接官研修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5166360"/>
            <a:ext cx="11091672" cy="1005840"/>
          </a:xfrm>
          <a:prstGeom prst="roundRect">
            <a:avLst>
              <a:gd name="adj" fmla="val 9091"/>
            </a:avLst>
          </a:prstGeom>
          <a:solidFill>
            <a:srgbClr val="F4EEE1"/>
          </a:solidFill>
          <a:ln w="12700">
            <a:solidFill>
              <a:srgbClr val="BE9A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52120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・4月以降、イコールパートナー社の「理念浸透セット」(3階層アプローチ・1年間伴走)を軸に年間プランとして設計します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・人事評価制度・採用広報・研修・社内表彰のいずれから着手するかを選択いただけます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・MVVが日々の判断基準として使われているかを、定期サーベイやミーティングで確認します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67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琉球リース様 MVV策定・浸透 ご提案｜株式会社宣伝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47120" y="642823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E9A5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2方向の比較整理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67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費用ではなく、目的・体制・成果物・リスクの違いで判断できるようにします。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664208"/>
            <a:ext cx="11091672" cy="0"/>
          </a:xfrm>
          <a:prstGeom prst="line">
            <a:avLst/>
          </a:prstGeom>
          <a:noFill/>
          <a:ln w="15875">
            <a:solidFill>
              <a:srgbClr val="E3DCCB"/>
            </a:solidFill>
            <a:prstDash val="solid"/>
          </a:ln>
        </p:spPr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1091672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480560"/>
                <a:gridCol w="4507992"/>
              </a:tblGrid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比較項目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方向A｜チーム沖縄型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方向B｜大手コンサル連携型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4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E3A4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基本思想</a:t>
                      </a:r>
                      <a:endParaRPr lang="en-US" sz="11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E3A4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社員の声を引き出し、地域性と</a:t>
                      </a:r>
                      <a:endParaRPr lang="en-US" sz="11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E3A4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納得感を重視</a:t>
                      </a:r>
                      <a:endParaRPr lang="en-US" sz="11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E3A4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客観評価・経営接続・体系的な</a:t>
                      </a:r>
                      <a:endParaRPr lang="en-US" sz="11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E3A4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合意形成を重視</a:t>
                      </a:r>
                      <a:endParaRPr lang="en-US" sz="11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E3A4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主な強み</a:t>
                      </a:r>
                      <a:endParaRPr lang="en-US" sz="11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E3A4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実績ある地元専門家、柔軟性、継続伴走、</a:t>
                      </a:r>
                      <a:endParaRPr lang="en-US" sz="11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E3A4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制作展開の速さ</a:t>
                      </a:r>
                      <a:endParaRPr lang="en-US" sz="11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E3A4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調査・分析の厚み、経営層への</a:t>
                      </a:r>
                      <a:endParaRPr lang="en-US" sz="11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E3A4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説明力、社外信頼性</a:t>
                      </a:r>
                      <a:endParaRPr lang="en-US" sz="11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E3A4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社員参加</a:t>
                      </a:r>
                      <a:endParaRPr lang="en-US" sz="11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E3A4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心理的安全性を重視した対話で</a:t>
                      </a:r>
                      <a:endParaRPr lang="en-US" sz="11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E3A4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参加感を高める</a:t>
                      </a:r>
                      <a:endParaRPr lang="en-US" sz="11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E3A4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キーパーソン選出と委員会設計で</a:t>
                      </a:r>
                      <a:endParaRPr lang="en-US" sz="11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E3A4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浸透の主役をつくる</a:t>
                      </a:r>
                      <a:endParaRPr lang="en-US" sz="11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E3A4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留意点</a:t>
                      </a:r>
                      <a:endParaRPr lang="en-US" sz="11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E3A4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客観性の担保を資料上で</a:t>
                      </a:r>
                      <a:endParaRPr lang="en-US" sz="11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E3A4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明確化する必要がある</a:t>
                      </a:r>
                      <a:endParaRPr lang="en-US" sz="11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E3A4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社員が外部からの言葉と感じないよう</a:t>
                      </a:r>
                      <a:endParaRPr lang="en-US" sz="11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E3A4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翻訳設計が必要</a:t>
                      </a:r>
                      <a:endParaRPr lang="en-US" sz="11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67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琉球リース様 MVV策定・浸透 ご提案｜株式会社宣伝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47120" y="642823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E9A5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選定基準の設計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67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打ち合わせでは「どちらを選ぶか」ではなく、「何を重視するか」を先に確認します。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664208"/>
            <a:ext cx="11091672" cy="0"/>
          </a:xfrm>
          <a:prstGeom prst="line">
            <a:avLst/>
          </a:prstGeom>
          <a:noFill/>
          <a:ln w="15875">
            <a:solidFill>
              <a:srgbClr val="E3DC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965960"/>
            <a:ext cx="11091672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3DC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965960"/>
            <a:ext cx="82296" cy="685800"/>
          </a:xfrm>
          <a:prstGeom prst="rect">
            <a:avLst/>
          </a:prstGeom>
          <a:solidFill>
            <a:srgbClr val="6FA39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96596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社員参加・納得感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20440" y="1965960"/>
            <a:ext cx="7955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D667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現場の言葉からつくることを最重視するなら、チーム沖縄型が合いやすい。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743200"/>
            <a:ext cx="11091672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3DC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743200"/>
            <a:ext cx="82296" cy="685800"/>
          </a:xfrm>
          <a:prstGeom prst="rect">
            <a:avLst/>
          </a:prstGeom>
          <a:solidFill>
            <a:srgbClr val="7C93B0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74320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経営接続・制度連動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20440" y="2743200"/>
            <a:ext cx="7955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D667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経営戦略・人事制度・人的資本開示まで接続するなら、大手コンサル連携型が合いやすい。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520440"/>
            <a:ext cx="11091672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3DC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520440"/>
            <a:ext cx="82296" cy="685800"/>
          </a:xfrm>
          <a:prstGeom prst="rect">
            <a:avLst/>
          </a:prstGeom>
          <a:solidFill>
            <a:srgbClr val="6FA39A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52044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スピード・柔軟性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520440" y="3520440"/>
            <a:ext cx="7955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D667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1月中旬のMVV確定、3月発表会までの短期実装を重視するなら、チーム沖縄型が有利。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297680"/>
            <a:ext cx="11091672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3DCC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4297680"/>
            <a:ext cx="82296" cy="685800"/>
          </a:xfrm>
          <a:prstGeom prst="rect">
            <a:avLst/>
          </a:prstGeom>
          <a:solidFill>
            <a:srgbClr val="7C93B0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429768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社外説明力・安心感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520440" y="4297680"/>
            <a:ext cx="7955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D667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ステークホルダーへの説明や客観性を強く出すなら、大手コンサル連携型が有利。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212080"/>
            <a:ext cx="11091672" cy="1051560"/>
          </a:xfrm>
          <a:prstGeom prst="roundRect">
            <a:avLst>
              <a:gd name="adj" fmla="val 8696"/>
            </a:avLst>
          </a:prstGeom>
          <a:solidFill>
            <a:srgbClr val="2E3A46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53035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E9A5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打ち合わせで確認したい問い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22960" y="56235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「今回のMVV策定で、最も避けたいことは何か」／「3月発表会後、社員にどのような状態になっていてほしいか」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67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琉球リース様 MVV策定・浸透 ご提案｜株式会社宣伝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47120" y="642823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E9A5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次のステップ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67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提案書化に向け、体制・範囲・成果物の粒度を揃えます。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664208"/>
            <a:ext cx="11091672" cy="0"/>
          </a:xfrm>
          <a:prstGeom prst="line">
            <a:avLst/>
          </a:prstGeom>
          <a:noFill/>
          <a:ln w="15875">
            <a:solidFill>
              <a:srgbClr val="E3DC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011680"/>
            <a:ext cx="548640" cy="548640"/>
          </a:xfrm>
          <a:prstGeom prst="ellipse">
            <a:avLst/>
          </a:prstGeom>
          <a:solidFill>
            <a:srgbClr val="E9F2EF"/>
          </a:solidFill>
          <a:ln w="12700">
            <a:solidFill>
              <a:srgbClr val="6FA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C7C7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80160" y="198424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琉球リース様への確認事項整理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280160" y="233172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67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判断軸、参加人数、意思決定者、発表会イメージを確認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926080"/>
            <a:ext cx="548640" cy="548640"/>
          </a:xfrm>
          <a:prstGeom prst="ellipse">
            <a:avLst/>
          </a:prstGeom>
          <a:solidFill>
            <a:srgbClr val="E9F2EF"/>
          </a:solidFill>
          <a:ln w="12700">
            <a:solidFill>
              <a:srgbClr val="6FA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926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C7C7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80160" y="289864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2方向の実施範囲を確定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280160" y="324612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67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インタビュー人数、WS回数、サーベイ、制作物仕様を整理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840480"/>
            <a:ext cx="548640" cy="548640"/>
          </a:xfrm>
          <a:prstGeom prst="ellipse">
            <a:avLst/>
          </a:prstGeom>
          <a:solidFill>
            <a:srgbClr val="E9F2EF"/>
          </a:solidFill>
          <a:ln w="12700">
            <a:solidFill>
              <a:srgbClr val="6FA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840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C7C7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80160" y="381304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提案資料の見せ方を調整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280160" y="416052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67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共通部分→方向A→方向B→比較→選定基準の流れに再構成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754880"/>
            <a:ext cx="548640" cy="548640"/>
          </a:xfrm>
          <a:prstGeom prst="ellipse">
            <a:avLst/>
          </a:prstGeom>
          <a:solidFill>
            <a:srgbClr val="E9F2EF"/>
          </a:solidFill>
          <a:ln w="12700">
            <a:solidFill>
              <a:srgbClr val="6FA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754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C7C7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80160" y="472744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見積は別紙で段階提示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280160" y="507492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67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現段階では金額を前面に出さず、採用方向確定後に詳細化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5760720"/>
            <a:ext cx="11091672" cy="914400"/>
          </a:xfrm>
          <a:prstGeom prst="roundRect">
            <a:avLst>
              <a:gd name="adj" fmla="val 10000"/>
            </a:avLst>
          </a:prstGeom>
          <a:solidFill>
            <a:srgbClr val="F4EEE1"/>
          </a:solidFill>
          <a:ln w="12700">
            <a:solidFill>
              <a:srgbClr val="BE9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57607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「大手か県内か」ではなく、琉球リース様にとって最も納得感のあるMVVづくりを、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2E3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宣伝が最適な体制でプロデュースします。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2026-07-22T11:08:32Z</dcterms:created>
  <dcterms:modified xsi:type="dcterms:W3CDTF">2026-07-22T11:08:32Z</dcterms:modified>
</cp:coreProperties>
</file>