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18"/>
  </p:notesMasterIdLst>
  <p:handoutMasterIdLst>
    <p:handoutMasterId r:id="rId19"/>
  </p:handoutMasterIdLst>
  <p:sldIdLst>
    <p:sldId id="256" r:id="rId2"/>
    <p:sldId id="257" r:id="rId3"/>
    <p:sldId id="258" r:id="rId4"/>
    <p:sldId id="262" r:id="rId5"/>
    <p:sldId id="260" r:id="rId6"/>
    <p:sldId id="259" r:id="rId7"/>
    <p:sldId id="261" r:id="rId8"/>
    <p:sldId id="263" r:id="rId9"/>
    <p:sldId id="264" r:id="rId10"/>
    <p:sldId id="265" r:id="rId11"/>
    <p:sldId id="267" r:id="rId12"/>
    <p:sldId id="266" r:id="rId13"/>
    <p:sldId id="268" r:id="rId14"/>
    <p:sldId id="270" r:id="rId15"/>
    <p:sldId id="269" r:id="rId16"/>
    <p:sldId id="271" r:id="rId17"/>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68" d="100"/>
          <a:sy n="68" d="100"/>
        </p:scale>
        <p:origin x="298" y="62"/>
      </p:cViewPr>
      <p:guideLst/>
    </p:cSldViewPr>
  </p:slideViewPr>
  <p:notesTextViewPr>
    <p:cViewPr>
      <p:scale>
        <a:sx n="300" d="100"/>
        <a:sy n="3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E1B63331-5475-D094-1F0F-2749AC4C5515}"/>
              </a:ext>
            </a:extLst>
          </p:cNvPr>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2DB501C-23A1-9EBD-518F-6F20534008EC}"/>
              </a:ext>
            </a:extLst>
          </p:cNvPr>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941B3681-8F41-4008-B164-DC059D5A5148}" type="datetimeFigureOut">
              <a:rPr kumimoji="1" lang="ja-JP" altLang="en-US" smtClean="0"/>
              <a:t>2026/2/25</a:t>
            </a:fld>
            <a:endParaRPr kumimoji="1" lang="ja-JP" altLang="en-US"/>
          </a:p>
        </p:txBody>
      </p:sp>
      <p:sp>
        <p:nvSpPr>
          <p:cNvPr id="4" name="フッター プレースホルダー 3">
            <a:extLst>
              <a:ext uri="{FF2B5EF4-FFF2-40B4-BE49-F238E27FC236}">
                <a16:creationId xmlns:a16="http://schemas.microsoft.com/office/drawing/2014/main" id="{987E25AB-9315-D46B-4E0E-5CB25054CB60}"/>
              </a:ext>
            </a:extLst>
          </p:cNvPr>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463629C-78CE-E0C9-A3C2-5C1E4CE87BFC}"/>
              </a:ext>
            </a:extLst>
          </p:cNvPr>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4E798980-94D6-410B-920C-F806B7F2662E}" type="slidenum">
              <a:rPr kumimoji="1" lang="ja-JP" altLang="en-US" smtClean="0"/>
              <a:t>‹#›</a:t>
            </a:fld>
            <a:endParaRPr kumimoji="1" lang="ja-JP" altLang="en-US"/>
          </a:p>
        </p:txBody>
      </p:sp>
    </p:spTree>
    <p:extLst>
      <p:ext uri="{BB962C8B-B14F-4D97-AF65-F5344CB8AC3E}">
        <p14:creationId xmlns:p14="http://schemas.microsoft.com/office/powerpoint/2010/main" val="42757594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664BDA68-27E4-43B6-8828-849FD156CFA8}" type="datetimeFigureOut">
              <a:rPr kumimoji="1" lang="ja-JP" altLang="en-US" smtClean="0"/>
              <a:t>2026/2/24</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8102549D-7ACA-44F3-86BE-9D03BA9721F8}" type="slidenum">
              <a:rPr kumimoji="1" lang="ja-JP" altLang="en-US" smtClean="0"/>
              <a:t>‹#›</a:t>
            </a:fld>
            <a:endParaRPr kumimoji="1" lang="ja-JP" altLang="en-US"/>
          </a:p>
        </p:txBody>
      </p:sp>
    </p:spTree>
    <p:extLst>
      <p:ext uri="{BB962C8B-B14F-4D97-AF65-F5344CB8AC3E}">
        <p14:creationId xmlns:p14="http://schemas.microsoft.com/office/powerpoint/2010/main" val="11618055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102549D-7ACA-44F3-86BE-9D03BA9721F8}" type="slidenum">
              <a:rPr kumimoji="1" lang="ja-JP" altLang="en-US" smtClean="0"/>
              <a:t>9</a:t>
            </a:fld>
            <a:endParaRPr kumimoji="1" lang="ja-JP" altLang="en-US"/>
          </a:p>
        </p:txBody>
      </p:sp>
    </p:spTree>
    <p:extLst>
      <p:ext uri="{BB962C8B-B14F-4D97-AF65-F5344CB8AC3E}">
        <p14:creationId xmlns:p14="http://schemas.microsoft.com/office/powerpoint/2010/main" val="327834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102549D-7ACA-44F3-86BE-9D03BA9721F8}" type="slidenum">
              <a:rPr kumimoji="1" lang="ja-JP" altLang="en-US" smtClean="0"/>
              <a:t>10</a:t>
            </a:fld>
            <a:endParaRPr kumimoji="1" lang="ja-JP" altLang="en-US"/>
          </a:p>
        </p:txBody>
      </p:sp>
    </p:spTree>
    <p:extLst>
      <p:ext uri="{BB962C8B-B14F-4D97-AF65-F5344CB8AC3E}">
        <p14:creationId xmlns:p14="http://schemas.microsoft.com/office/powerpoint/2010/main" val="49547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102549D-7ACA-44F3-86BE-9D03BA9721F8}" type="slidenum">
              <a:rPr kumimoji="1" lang="ja-JP" altLang="en-US" smtClean="0"/>
              <a:t>11</a:t>
            </a:fld>
            <a:endParaRPr kumimoji="1" lang="ja-JP" altLang="en-US"/>
          </a:p>
        </p:txBody>
      </p:sp>
    </p:spTree>
    <p:extLst>
      <p:ext uri="{BB962C8B-B14F-4D97-AF65-F5344CB8AC3E}">
        <p14:creationId xmlns:p14="http://schemas.microsoft.com/office/powerpoint/2010/main" val="2844217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102549D-7ACA-44F3-86BE-9D03BA9721F8}" type="slidenum">
              <a:rPr kumimoji="1" lang="ja-JP" altLang="en-US" smtClean="0"/>
              <a:t>12</a:t>
            </a:fld>
            <a:endParaRPr kumimoji="1" lang="ja-JP" altLang="en-US"/>
          </a:p>
        </p:txBody>
      </p:sp>
    </p:spTree>
    <p:extLst>
      <p:ext uri="{BB962C8B-B14F-4D97-AF65-F5344CB8AC3E}">
        <p14:creationId xmlns:p14="http://schemas.microsoft.com/office/powerpoint/2010/main" val="2723499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102549D-7ACA-44F3-86BE-9D03BA9721F8}" type="slidenum">
              <a:rPr kumimoji="1" lang="ja-JP" altLang="en-US" smtClean="0"/>
              <a:t>13</a:t>
            </a:fld>
            <a:endParaRPr kumimoji="1" lang="ja-JP" altLang="en-US"/>
          </a:p>
        </p:txBody>
      </p:sp>
    </p:spTree>
    <p:extLst>
      <p:ext uri="{BB962C8B-B14F-4D97-AF65-F5344CB8AC3E}">
        <p14:creationId xmlns:p14="http://schemas.microsoft.com/office/powerpoint/2010/main" val="2020173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102549D-7ACA-44F3-86BE-9D03BA9721F8}" type="slidenum">
              <a:rPr kumimoji="1" lang="ja-JP" altLang="en-US" smtClean="0"/>
              <a:t>14</a:t>
            </a:fld>
            <a:endParaRPr kumimoji="1" lang="ja-JP" altLang="en-US"/>
          </a:p>
        </p:txBody>
      </p:sp>
    </p:spTree>
    <p:extLst>
      <p:ext uri="{BB962C8B-B14F-4D97-AF65-F5344CB8AC3E}">
        <p14:creationId xmlns:p14="http://schemas.microsoft.com/office/powerpoint/2010/main" val="3433570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102549D-7ACA-44F3-86BE-9D03BA9721F8}" type="slidenum">
              <a:rPr kumimoji="1" lang="ja-JP" altLang="en-US" smtClean="0"/>
              <a:t>15</a:t>
            </a:fld>
            <a:endParaRPr kumimoji="1" lang="ja-JP" altLang="en-US"/>
          </a:p>
        </p:txBody>
      </p:sp>
    </p:spTree>
    <p:extLst>
      <p:ext uri="{BB962C8B-B14F-4D97-AF65-F5344CB8AC3E}">
        <p14:creationId xmlns:p14="http://schemas.microsoft.com/office/powerpoint/2010/main" val="4022309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EAE33C-4FBE-4893-B943-0995B0C0D45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54754B5-6511-B106-F2B7-AB245DAFE7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1C1EC83-E2DA-15BF-F23A-546D75292615}"/>
              </a:ext>
            </a:extLst>
          </p:cNvPr>
          <p:cNvSpPr>
            <a:spLocks noGrp="1"/>
          </p:cNvSpPr>
          <p:nvPr>
            <p:ph type="dt" sz="half" idx="10"/>
          </p:nvPr>
        </p:nvSpPr>
        <p:spPr/>
        <p:txBody>
          <a:bodyPr/>
          <a:lstStyle/>
          <a:p>
            <a:fld id="{F5A34F6C-0CF0-462D-8E44-A6CC8913E1B5}" type="datetimeFigureOut">
              <a:rPr kumimoji="1" lang="ja-JP" altLang="en-US" smtClean="0"/>
              <a:t>2026/2/24</a:t>
            </a:fld>
            <a:endParaRPr kumimoji="1" lang="ja-JP" altLang="en-US"/>
          </a:p>
        </p:txBody>
      </p:sp>
      <p:sp>
        <p:nvSpPr>
          <p:cNvPr id="5" name="フッター プレースホルダー 4">
            <a:extLst>
              <a:ext uri="{FF2B5EF4-FFF2-40B4-BE49-F238E27FC236}">
                <a16:creationId xmlns:a16="http://schemas.microsoft.com/office/drawing/2014/main" id="{FE10A878-873F-2709-8AB0-3D2DB4AA9BA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AA287D4-49D4-3B92-CEC2-A176A5F37BD7}"/>
              </a:ext>
            </a:extLst>
          </p:cNvPr>
          <p:cNvSpPr>
            <a:spLocks noGrp="1"/>
          </p:cNvSpPr>
          <p:nvPr>
            <p:ph type="sldNum" sz="quarter" idx="12"/>
          </p:nvPr>
        </p:nvSpPr>
        <p:spPr/>
        <p:txBody>
          <a:body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1825447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2E7034-89EB-A3F5-EEF7-C29AB94C9A3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37B10CF-DC7E-95F9-DA54-D369CA9E863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E82BA3-285B-786E-204F-4CDC5EE573CD}"/>
              </a:ext>
            </a:extLst>
          </p:cNvPr>
          <p:cNvSpPr>
            <a:spLocks noGrp="1"/>
          </p:cNvSpPr>
          <p:nvPr>
            <p:ph type="dt" sz="half" idx="10"/>
          </p:nvPr>
        </p:nvSpPr>
        <p:spPr/>
        <p:txBody>
          <a:bodyPr/>
          <a:lstStyle/>
          <a:p>
            <a:fld id="{F5A34F6C-0CF0-462D-8E44-A6CC8913E1B5}" type="datetimeFigureOut">
              <a:rPr kumimoji="1" lang="ja-JP" altLang="en-US" smtClean="0"/>
              <a:t>2026/2/24</a:t>
            </a:fld>
            <a:endParaRPr kumimoji="1" lang="ja-JP" altLang="en-US"/>
          </a:p>
        </p:txBody>
      </p:sp>
      <p:sp>
        <p:nvSpPr>
          <p:cNvPr id="5" name="フッター プレースホルダー 4">
            <a:extLst>
              <a:ext uri="{FF2B5EF4-FFF2-40B4-BE49-F238E27FC236}">
                <a16:creationId xmlns:a16="http://schemas.microsoft.com/office/drawing/2014/main" id="{3F4B1A8D-6A6A-1C9E-F8AE-22460CC90CF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451B6C-C4F5-2EBF-E76B-FE058374F18C}"/>
              </a:ext>
            </a:extLst>
          </p:cNvPr>
          <p:cNvSpPr>
            <a:spLocks noGrp="1"/>
          </p:cNvSpPr>
          <p:nvPr>
            <p:ph type="sldNum" sz="quarter" idx="12"/>
          </p:nvPr>
        </p:nvSpPr>
        <p:spPr/>
        <p:txBody>
          <a:body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3049195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7F8594-8352-9405-3B7F-ABE2827CC0A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55C63D0-C652-A261-1E27-304D8940C6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7DF589F-3CF3-4534-B17D-F33634DF2660}"/>
              </a:ext>
            </a:extLst>
          </p:cNvPr>
          <p:cNvSpPr>
            <a:spLocks noGrp="1"/>
          </p:cNvSpPr>
          <p:nvPr>
            <p:ph type="dt" sz="half" idx="10"/>
          </p:nvPr>
        </p:nvSpPr>
        <p:spPr/>
        <p:txBody>
          <a:bodyPr/>
          <a:lstStyle/>
          <a:p>
            <a:fld id="{F5A34F6C-0CF0-462D-8E44-A6CC8913E1B5}" type="datetimeFigureOut">
              <a:rPr kumimoji="1" lang="ja-JP" altLang="en-US" smtClean="0"/>
              <a:t>2026/2/24</a:t>
            </a:fld>
            <a:endParaRPr kumimoji="1" lang="ja-JP" altLang="en-US"/>
          </a:p>
        </p:txBody>
      </p:sp>
      <p:sp>
        <p:nvSpPr>
          <p:cNvPr id="5" name="フッター プレースホルダー 4">
            <a:extLst>
              <a:ext uri="{FF2B5EF4-FFF2-40B4-BE49-F238E27FC236}">
                <a16:creationId xmlns:a16="http://schemas.microsoft.com/office/drawing/2014/main" id="{31C6628C-49EB-282D-A3B3-CC64C61F08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E67DD5-41D6-634E-DAE2-2103EEFB963B}"/>
              </a:ext>
            </a:extLst>
          </p:cNvPr>
          <p:cNvSpPr>
            <a:spLocks noGrp="1"/>
          </p:cNvSpPr>
          <p:nvPr>
            <p:ph type="sldNum" sz="quarter" idx="12"/>
          </p:nvPr>
        </p:nvSpPr>
        <p:spPr/>
        <p:txBody>
          <a:body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2146792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C084B7-3B6A-B74A-767D-99F7888FF51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775C98C-8566-6880-3B06-8733266E0DB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6006E59-C711-50B6-62AF-503E11A862D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FFF61CB-BB6F-8150-BAF5-5D9D989B8294}"/>
              </a:ext>
            </a:extLst>
          </p:cNvPr>
          <p:cNvSpPr>
            <a:spLocks noGrp="1"/>
          </p:cNvSpPr>
          <p:nvPr>
            <p:ph type="dt" sz="half" idx="10"/>
          </p:nvPr>
        </p:nvSpPr>
        <p:spPr/>
        <p:txBody>
          <a:bodyPr/>
          <a:lstStyle/>
          <a:p>
            <a:fld id="{F5A34F6C-0CF0-462D-8E44-A6CC8913E1B5}" type="datetimeFigureOut">
              <a:rPr kumimoji="1" lang="ja-JP" altLang="en-US" smtClean="0"/>
              <a:t>2026/2/24</a:t>
            </a:fld>
            <a:endParaRPr kumimoji="1" lang="ja-JP" altLang="en-US"/>
          </a:p>
        </p:txBody>
      </p:sp>
      <p:sp>
        <p:nvSpPr>
          <p:cNvPr id="6" name="フッター プレースホルダー 5">
            <a:extLst>
              <a:ext uri="{FF2B5EF4-FFF2-40B4-BE49-F238E27FC236}">
                <a16:creationId xmlns:a16="http://schemas.microsoft.com/office/drawing/2014/main" id="{87C2F194-D1F3-DFE0-41C7-90C73331B1A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6FA67E3-06F3-F0DB-C68F-8A421750B811}"/>
              </a:ext>
            </a:extLst>
          </p:cNvPr>
          <p:cNvSpPr>
            <a:spLocks noGrp="1"/>
          </p:cNvSpPr>
          <p:nvPr>
            <p:ph type="sldNum" sz="quarter" idx="12"/>
          </p:nvPr>
        </p:nvSpPr>
        <p:spPr/>
        <p:txBody>
          <a:body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2945469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307138-DA97-96F3-2332-33C139C667D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920539E-2DEC-1F01-AC4D-598E892149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7106E2ED-B7ED-41D4-F0DA-1339142F066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8D656B4-1E50-9CFC-52A0-50AEB77BF6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4C1A955-0464-5384-D273-8FD16BE9EC1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CA7A22C-C187-FF9F-CF9F-C4E03E9BD1A3}"/>
              </a:ext>
            </a:extLst>
          </p:cNvPr>
          <p:cNvSpPr>
            <a:spLocks noGrp="1"/>
          </p:cNvSpPr>
          <p:nvPr>
            <p:ph type="dt" sz="half" idx="10"/>
          </p:nvPr>
        </p:nvSpPr>
        <p:spPr/>
        <p:txBody>
          <a:bodyPr/>
          <a:lstStyle/>
          <a:p>
            <a:fld id="{F5A34F6C-0CF0-462D-8E44-A6CC8913E1B5}" type="datetimeFigureOut">
              <a:rPr kumimoji="1" lang="ja-JP" altLang="en-US" smtClean="0"/>
              <a:t>2026/2/24</a:t>
            </a:fld>
            <a:endParaRPr kumimoji="1" lang="ja-JP" altLang="en-US"/>
          </a:p>
        </p:txBody>
      </p:sp>
      <p:sp>
        <p:nvSpPr>
          <p:cNvPr id="8" name="フッター プレースホルダー 7">
            <a:extLst>
              <a:ext uri="{FF2B5EF4-FFF2-40B4-BE49-F238E27FC236}">
                <a16:creationId xmlns:a16="http://schemas.microsoft.com/office/drawing/2014/main" id="{61560B5D-FB01-14D0-0F85-3A5F84C6899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06AF3EC-DF2B-D48B-C176-78AC3A52049C}"/>
              </a:ext>
            </a:extLst>
          </p:cNvPr>
          <p:cNvSpPr>
            <a:spLocks noGrp="1"/>
          </p:cNvSpPr>
          <p:nvPr>
            <p:ph type="sldNum" sz="quarter" idx="12"/>
          </p:nvPr>
        </p:nvSpPr>
        <p:spPr/>
        <p:txBody>
          <a:body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1353226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71A417-AF12-E41E-2FE6-2595D3C71A4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8288E7C-47EF-3F7D-DFC7-52F012432B32}"/>
              </a:ext>
            </a:extLst>
          </p:cNvPr>
          <p:cNvSpPr>
            <a:spLocks noGrp="1"/>
          </p:cNvSpPr>
          <p:nvPr>
            <p:ph type="dt" sz="half" idx="10"/>
          </p:nvPr>
        </p:nvSpPr>
        <p:spPr/>
        <p:txBody>
          <a:bodyPr/>
          <a:lstStyle/>
          <a:p>
            <a:fld id="{F5A34F6C-0CF0-462D-8E44-A6CC8913E1B5}" type="datetimeFigureOut">
              <a:rPr kumimoji="1" lang="ja-JP" altLang="en-US" smtClean="0"/>
              <a:t>2026/2/24</a:t>
            </a:fld>
            <a:endParaRPr kumimoji="1" lang="ja-JP" altLang="en-US"/>
          </a:p>
        </p:txBody>
      </p:sp>
      <p:sp>
        <p:nvSpPr>
          <p:cNvPr id="4" name="フッター プレースホルダー 3">
            <a:extLst>
              <a:ext uri="{FF2B5EF4-FFF2-40B4-BE49-F238E27FC236}">
                <a16:creationId xmlns:a16="http://schemas.microsoft.com/office/drawing/2014/main" id="{9A49812C-5BE4-067F-898F-D45A5105708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01FCB5A-B401-2663-33A3-E9D062217136}"/>
              </a:ext>
            </a:extLst>
          </p:cNvPr>
          <p:cNvSpPr>
            <a:spLocks noGrp="1"/>
          </p:cNvSpPr>
          <p:nvPr>
            <p:ph type="sldNum" sz="quarter" idx="12"/>
          </p:nvPr>
        </p:nvSpPr>
        <p:spPr/>
        <p:txBody>
          <a:body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4048639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531871B-C23F-4C19-C600-392BDEC9B777}"/>
              </a:ext>
            </a:extLst>
          </p:cNvPr>
          <p:cNvSpPr>
            <a:spLocks noGrp="1"/>
          </p:cNvSpPr>
          <p:nvPr>
            <p:ph type="dt" sz="half" idx="10"/>
          </p:nvPr>
        </p:nvSpPr>
        <p:spPr/>
        <p:txBody>
          <a:bodyPr/>
          <a:lstStyle/>
          <a:p>
            <a:fld id="{F5A34F6C-0CF0-462D-8E44-A6CC8913E1B5}" type="datetimeFigureOut">
              <a:rPr kumimoji="1" lang="ja-JP" altLang="en-US" smtClean="0"/>
              <a:t>2026/2/24</a:t>
            </a:fld>
            <a:endParaRPr kumimoji="1" lang="ja-JP" altLang="en-US"/>
          </a:p>
        </p:txBody>
      </p:sp>
      <p:sp>
        <p:nvSpPr>
          <p:cNvPr id="3" name="フッター プレースホルダー 2">
            <a:extLst>
              <a:ext uri="{FF2B5EF4-FFF2-40B4-BE49-F238E27FC236}">
                <a16:creationId xmlns:a16="http://schemas.microsoft.com/office/drawing/2014/main" id="{9754F510-3A6E-F97C-9ADD-A012E0F290B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1DCB5F9-29D4-66C4-F329-068EA8B355B7}"/>
              </a:ext>
            </a:extLst>
          </p:cNvPr>
          <p:cNvSpPr>
            <a:spLocks noGrp="1"/>
          </p:cNvSpPr>
          <p:nvPr>
            <p:ph type="sldNum" sz="quarter" idx="12"/>
          </p:nvPr>
        </p:nvSpPr>
        <p:spPr/>
        <p:txBody>
          <a:body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1279581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D8E952-379E-EBE9-FF63-9168D6FB217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2F9B5BA-E237-4918-254D-473F941F77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0D39741-00F0-AF39-6AA3-D1DFCBF871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687B99A-63DB-FACF-1BF4-B16A60F14668}"/>
              </a:ext>
            </a:extLst>
          </p:cNvPr>
          <p:cNvSpPr>
            <a:spLocks noGrp="1"/>
          </p:cNvSpPr>
          <p:nvPr>
            <p:ph type="dt" sz="half" idx="10"/>
          </p:nvPr>
        </p:nvSpPr>
        <p:spPr/>
        <p:txBody>
          <a:bodyPr/>
          <a:lstStyle/>
          <a:p>
            <a:fld id="{F5A34F6C-0CF0-462D-8E44-A6CC8913E1B5}" type="datetimeFigureOut">
              <a:rPr kumimoji="1" lang="ja-JP" altLang="en-US" smtClean="0"/>
              <a:t>2026/2/24</a:t>
            </a:fld>
            <a:endParaRPr kumimoji="1" lang="ja-JP" altLang="en-US"/>
          </a:p>
        </p:txBody>
      </p:sp>
      <p:sp>
        <p:nvSpPr>
          <p:cNvPr id="6" name="フッター プレースホルダー 5">
            <a:extLst>
              <a:ext uri="{FF2B5EF4-FFF2-40B4-BE49-F238E27FC236}">
                <a16:creationId xmlns:a16="http://schemas.microsoft.com/office/drawing/2014/main" id="{5390185D-B816-CACD-8D24-F5588E4C6AD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54BEB73-ABC9-05F6-B5BA-D179433350B2}"/>
              </a:ext>
            </a:extLst>
          </p:cNvPr>
          <p:cNvSpPr>
            <a:spLocks noGrp="1"/>
          </p:cNvSpPr>
          <p:nvPr>
            <p:ph type="sldNum" sz="quarter" idx="12"/>
          </p:nvPr>
        </p:nvSpPr>
        <p:spPr/>
        <p:txBody>
          <a:body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1209773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795F2A-A51D-6ACC-AF78-69ADB3FE4D9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09B887-3E41-DF1C-58F0-FA3F54CFD2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9326E05-6B76-511E-69DF-B47D34AC0C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5D02859-00FD-17DF-4B3A-89186FC1A430}"/>
              </a:ext>
            </a:extLst>
          </p:cNvPr>
          <p:cNvSpPr>
            <a:spLocks noGrp="1"/>
          </p:cNvSpPr>
          <p:nvPr>
            <p:ph type="dt" sz="half" idx="10"/>
          </p:nvPr>
        </p:nvSpPr>
        <p:spPr/>
        <p:txBody>
          <a:bodyPr/>
          <a:lstStyle/>
          <a:p>
            <a:fld id="{F5A34F6C-0CF0-462D-8E44-A6CC8913E1B5}" type="datetimeFigureOut">
              <a:rPr kumimoji="1" lang="ja-JP" altLang="en-US" smtClean="0"/>
              <a:t>2026/2/24</a:t>
            </a:fld>
            <a:endParaRPr kumimoji="1" lang="ja-JP" altLang="en-US"/>
          </a:p>
        </p:txBody>
      </p:sp>
      <p:sp>
        <p:nvSpPr>
          <p:cNvPr id="6" name="フッター プレースホルダー 5">
            <a:extLst>
              <a:ext uri="{FF2B5EF4-FFF2-40B4-BE49-F238E27FC236}">
                <a16:creationId xmlns:a16="http://schemas.microsoft.com/office/drawing/2014/main" id="{D77451D8-DDB0-7C2D-B47D-F0C5FD3E98B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C2300E1-65C8-4800-2A0C-4C15F2A442AA}"/>
              </a:ext>
            </a:extLst>
          </p:cNvPr>
          <p:cNvSpPr>
            <a:spLocks noGrp="1"/>
          </p:cNvSpPr>
          <p:nvPr>
            <p:ph type="sldNum" sz="quarter" idx="12"/>
          </p:nvPr>
        </p:nvSpPr>
        <p:spPr/>
        <p:txBody>
          <a:body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1806748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EF269E-36D1-9884-8F12-DC13758940D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D49CD37-2BF8-54A3-A3E2-5DA0786AB5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1E9B42-E3A1-04F0-6869-566AA6F8B6B4}"/>
              </a:ext>
            </a:extLst>
          </p:cNvPr>
          <p:cNvSpPr>
            <a:spLocks noGrp="1"/>
          </p:cNvSpPr>
          <p:nvPr>
            <p:ph type="dt" sz="half" idx="10"/>
          </p:nvPr>
        </p:nvSpPr>
        <p:spPr/>
        <p:txBody>
          <a:bodyPr/>
          <a:lstStyle/>
          <a:p>
            <a:fld id="{F5A34F6C-0CF0-462D-8E44-A6CC8913E1B5}" type="datetimeFigureOut">
              <a:rPr kumimoji="1" lang="ja-JP" altLang="en-US" smtClean="0"/>
              <a:t>2026/2/24</a:t>
            </a:fld>
            <a:endParaRPr kumimoji="1" lang="ja-JP" altLang="en-US"/>
          </a:p>
        </p:txBody>
      </p:sp>
      <p:sp>
        <p:nvSpPr>
          <p:cNvPr id="5" name="フッター プレースホルダー 4">
            <a:extLst>
              <a:ext uri="{FF2B5EF4-FFF2-40B4-BE49-F238E27FC236}">
                <a16:creationId xmlns:a16="http://schemas.microsoft.com/office/drawing/2014/main" id="{B3B2A447-70F0-1822-0FEC-691E41A01B1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094DA16-F7D1-37F0-22F5-05CC5CCCCF55}"/>
              </a:ext>
            </a:extLst>
          </p:cNvPr>
          <p:cNvSpPr>
            <a:spLocks noGrp="1"/>
          </p:cNvSpPr>
          <p:nvPr>
            <p:ph type="sldNum" sz="quarter" idx="12"/>
          </p:nvPr>
        </p:nvSpPr>
        <p:spPr/>
        <p:txBody>
          <a:body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1650118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D578C28-D39A-8CD8-DE1D-83F8E9C959A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A827589-8815-AE4F-54A6-027F8B97E75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A4898BA-1874-2B2F-DF72-278AB6909F57}"/>
              </a:ext>
            </a:extLst>
          </p:cNvPr>
          <p:cNvSpPr>
            <a:spLocks noGrp="1"/>
          </p:cNvSpPr>
          <p:nvPr>
            <p:ph type="dt" sz="half" idx="10"/>
          </p:nvPr>
        </p:nvSpPr>
        <p:spPr/>
        <p:txBody>
          <a:bodyPr/>
          <a:lstStyle/>
          <a:p>
            <a:fld id="{F5A34F6C-0CF0-462D-8E44-A6CC8913E1B5}" type="datetimeFigureOut">
              <a:rPr kumimoji="1" lang="ja-JP" altLang="en-US" smtClean="0"/>
              <a:t>2026/2/24</a:t>
            </a:fld>
            <a:endParaRPr kumimoji="1" lang="ja-JP" altLang="en-US"/>
          </a:p>
        </p:txBody>
      </p:sp>
      <p:sp>
        <p:nvSpPr>
          <p:cNvPr id="5" name="フッター プレースホルダー 4">
            <a:extLst>
              <a:ext uri="{FF2B5EF4-FFF2-40B4-BE49-F238E27FC236}">
                <a16:creationId xmlns:a16="http://schemas.microsoft.com/office/drawing/2014/main" id="{9697524D-2A5C-1BBC-088B-85922BFA675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F7FED27-E5EF-6333-26CD-FB21C9423338}"/>
              </a:ext>
            </a:extLst>
          </p:cNvPr>
          <p:cNvSpPr>
            <a:spLocks noGrp="1"/>
          </p:cNvSpPr>
          <p:nvPr>
            <p:ph type="sldNum" sz="quarter" idx="12"/>
          </p:nvPr>
        </p:nvSpPr>
        <p:spPr/>
        <p:txBody>
          <a:body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3242984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9C9A5D2-5B27-07BD-23F2-005CAE4C03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CA1CEAF-229F-9E2B-1DA0-08156A9326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5B26519-3554-2E27-9B65-D94B865E2E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A34F6C-0CF0-462D-8E44-A6CC8913E1B5}" type="datetimeFigureOut">
              <a:rPr kumimoji="1" lang="ja-JP" altLang="en-US" smtClean="0"/>
              <a:t>2026/2/24</a:t>
            </a:fld>
            <a:endParaRPr kumimoji="1" lang="ja-JP" altLang="en-US"/>
          </a:p>
        </p:txBody>
      </p:sp>
      <p:sp>
        <p:nvSpPr>
          <p:cNvPr id="5" name="フッター プレースホルダー 4">
            <a:extLst>
              <a:ext uri="{FF2B5EF4-FFF2-40B4-BE49-F238E27FC236}">
                <a16:creationId xmlns:a16="http://schemas.microsoft.com/office/drawing/2014/main" id="{91EEE849-E69C-0F90-8A39-A854D70DF3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DF45E03-48E4-6133-2F29-9AC96FDD8C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968F70-849A-4002-AAE1-AF06B930E453}" type="slidenum">
              <a:rPr kumimoji="1" lang="ja-JP" altLang="en-US" smtClean="0"/>
              <a:t>‹#›</a:t>
            </a:fld>
            <a:endParaRPr kumimoji="1" lang="ja-JP" altLang="en-US"/>
          </a:p>
        </p:txBody>
      </p:sp>
    </p:spTree>
    <p:extLst>
      <p:ext uri="{BB962C8B-B14F-4D97-AF65-F5344CB8AC3E}">
        <p14:creationId xmlns:p14="http://schemas.microsoft.com/office/powerpoint/2010/main" val="815197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2185214" cy="369332"/>
          </a:xfrm>
          <a:prstGeom prst="rect">
            <a:avLst/>
          </a:prstGeom>
          <a:noFill/>
        </p:spPr>
        <p:txBody>
          <a:bodyPr wrap="none" rtlCol="0">
            <a:spAutoFit/>
          </a:bodyPr>
          <a:lstStyle/>
          <a:p>
            <a:r>
              <a:rPr kumimoji="1" lang="ja-JP" altLang="en-US" u="sng" dirty="0">
                <a:latin typeface="BIZ UDPゴシック" panose="020B0400000000000000" pitchFamily="50" charset="-128"/>
                <a:ea typeface="BIZ UDPゴシック" panose="020B0400000000000000" pitchFamily="50" charset="-128"/>
              </a:rPr>
              <a:t>託一株式会社　御中</a:t>
            </a:r>
          </a:p>
        </p:txBody>
      </p:sp>
      <p:sp>
        <p:nvSpPr>
          <p:cNvPr id="5" name="テキスト ボックス 4">
            <a:extLst>
              <a:ext uri="{FF2B5EF4-FFF2-40B4-BE49-F238E27FC236}">
                <a16:creationId xmlns:a16="http://schemas.microsoft.com/office/drawing/2014/main" id="{E5607FAA-1F02-307B-E39F-A54B54FC3316}"/>
              </a:ext>
            </a:extLst>
          </p:cNvPr>
          <p:cNvSpPr txBox="1"/>
          <p:nvPr/>
        </p:nvSpPr>
        <p:spPr>
          <a:xfrm>
            <a:off x="3388369" y="2782669"/>
            <a:ext cx="5343129" cy="954107"/>
          </a:xfrm>
          <a:prstGeom prst="rect">
            <a:avLst/>
          </a:prstGeom>
          <a:noFill/>
        </p:spPr>
        <p:txBody>
          <a:bodyPr wrap="none" rtlCol="0">
            <a:spAutoFit/>
          </a:bodyPr>
          <a:lstStyle/>
          <a:p>
            <a:pPr algn="ctr"/>
            <a:r>
              <a:rPr lang="ja-JP" altLang="en-US" sz="2800" dirty="0">
                <a:latin typeface="BIZ UDPゴシック" panose="020B0400000000000000" pitchFamily="50" charset="-128"/>
                <a:ea typeface="BIZ UDPゴシック" panose="020B0400000000000000" pitchFamily="50" charset="-128"/>
              </a:rPr>
              <a:t>テレビ</a:t>
            </a:r>
            <a:r>
              <a:rPr lang="en-US" altLang="ja-JP" sz="2800" dirty="0">
                <a:latin typeface="BIZ UDPゴシック" panose="020B0400000000000000" pitchFamily="50" charset="-128"/>
                <a:ea typeface="BIZ UDPゴシック" panose="020B0400000000000000" pitchFamily="50" charset="-128"/>
              </a:rPr>
              <a:t>CM</a:t>
            </a:r>
            <a:r>
              <a:rPr lang="ja-JP" altLang="en-US" sz="2800" dirty="0">
                <a:latin typeface="BIZ UDPゴシック" panose="020B0400000000000000" pitchFamily="50" charset="-128"/>
                <a:ea typeface="BIZ UDPゴシック" panose="020B0400000000000000" pitchFamily="50" charset="-128"/>
              </a:rPr>
              <a:t>スポット</a:t>
            </a:r>
            <a:endParaRPr lang="en-US" altLang="ja-JP" sz="2800" dirty="0">
              <a:latin typeface="BIZ UDPゴシック" panose="020B0400000000000000" pitchFamily="50" charset="-128"/>
              <a:ea typeface="BIZ UDPゴシック" panose="020B0400000000000000" pitchFamily="50" charset="-128"/>
            </a:endParaRPr>
          </a:p>
          <a:p>
            <a:pPr algn="ctr"/>
            <a:r>
              <a:rPr kumimoji="1" lang="ja-JP" altLang="en-US" sz="2800" dirty="0">
                <a:latin typeface="BIZ UDPゴシック" panose="020B0400000000000000" pitchFamily="50" charset="-128"/>
                <a:ea typeface="BIZ UDPゴシック" panose="020B0400000000000000" pitchFamily="50" charset="-128"/>
              </a:rPr>
              <a:t>オンエアに関するご提案について</a:t>
            </a:r>
          </a:p>
        </p:txBody>
      </p:sp>
      <p:sp>
        <p:nvSpPr>
          <p:cNvPr id="6" name="正方形/長方形 5">
            <a:extLst>
              <a:ext uri="{FF2B5EF4-FFF2-40B4-BE49-F238E27FC236}">
                <a16:creationId xmlns:a16="http://schemas.microsoft.com/office/drawing/2014/main" id="{B0E03C5D-52F7-B214-5384-AB15B336A0FB}"/>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44481EA2-01B7-C992-EF9F-D764EE9315A0}"/>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5CC6234C-FEF6-7D25-0610-FE79567FA7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3711" y="5710538"/>
            <a:ext cx="764652" cy="478872"/>
          </a:xfrm>
          <a:prstGeom prst="rect">
            <a:avLst/>
          </a:prstGeom>
        </p:spPr>
      </p:pic>
      <p:sp>
        <p:nvSpPr>
          <p:cNvPr id="9" name="テキスト ボックス 8">
            <a:extLst>
              <a:ext uri="{FF2B5EF4-FFF2-40B4-BE49-F238E27FC236}">
                <a16:creationId xmlns:a16="http://schemas.microsoft.com/office/drawing/2014/main" id="{8E05B276-E04B-77C4-2601-9C6529846737}"/>
              </a:ext>
            </a:extLst>
          </p:cNvPr>
          <p:cNvSpPr txBox="1"/>
          <p:nvPr/>
        </p:nvSpPr>
        <p:spPr>
          <a:xfrm>
            <a:off x="4941851" y="6371613"/>
            <a:ext cx="2582617" cy="261610"/>
          </a:xfrm>
          <a:prstGeom prst="rect">
            <a:avLst/>
          </a:prstGeom>
          <a:noFill/>
        </p:spPr>
        <p:txBody>
          <a:bodyPr wrap="square" rtlCol="0">
            <a:spAutoFit/>
          </a:bodyPr>
          <a:lstStyle/>
          <a:p>
            <a:pPr algn="ctr"/>
            <a:r>
              <a:rPr lang="ja-JP" altLang="en-US" sz="1100" dirty="0">
                <a:latin typeface="BIZ UDPゴシック" panose="020B0400000000000000" pitchFamily="50" charset="-128"/>
                <a:ea typeface="BIZ UDPゴシック" panose="020B0400000000000000" pitchFamily="50" charset="-128"/>
              </a:rPr>
              <a:t>株式会社 宣伝</a:t>
            </a:r>
            <a:endParaRPr kumimoji="1" lang="ja-JP" altLang="en-US" sz="1100"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D8949C68-0F7E-DE3E-4EF9-4D6C0C4FB4CC}"/>
              </a:ext>
            </a:extLst>
          </p:cNvPr>
          <p:cNvSpPr txBox="1"/>
          <p:nvPr/>
        </p:nvSpPr>
        <p:spPr>
          <a:xfrm>
            <a:off x="4768624" y="3856795"/>
            <a:ext cx="2582617" cy="246221"/>
          </a:xfrm>
          <a:prstGeom prst="rect">
            <a:avLst/>
          </a:prstGeom>
          <a:noFill/>
        </p:spPr>
        <p:txBody>
          <a:bodyPr wrap="square" rtlCol="0">
            <a:spAutoFit/>
          </a:bodyPr>
          <a:lstStyle/>
          <a:p>
            <a:pPr algn="ctr"/>
            <a:r>
              <a:rPr lang="en-US" altLang="ja-JP" sz="1000" dirty="0">
                <a:latin typeface="BIZ UDPゴシック" panose="020B0400000000000000" pitchFamily="50" charset="-128"/>
                <a:ea typeface="BIZ UDPゴシック" panose="020B0400000000000000" pitchFamily="50" charset="-128"/>
              </a:rPr>
              <a:t>2025.08.15</a:t>
            </a:r>
          </a:p>
        </p:txBody>
      </p:sp>
    </p:spTree>
    <p:extLst>
      <p:ext uri="{BB962C8B-B14F-4D97-AF65-F5344CB8AC3E}">
        <p14:creationId xmlns:p14="http://schemas.microsoft.com/office/powerpoint/2010/main" val="155115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E6E1904-E6AC-CC0B-1C2C-7FE176EBC35B}"/>
              </a:ext>
            </a:extLst>
          </p:cNvPr>
          <p:cNvSpPr/>
          <p:nvPr/>
        </p:nvSpPr>
        <p:spPr>
          <a:xfrm>
            <a:off x="317269" y="4105472"/>
            <a:ext cx="1313411" cy="498764"/>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6E668549-21CA-8034-85EB-2883BFEB67E3}"/>
              </a:ext>
            </a:extLst>
          </p:cNvPr>
          <p:cNvSpPr/>
          <p:nvPr/>
        </p:nvSpPr>
        <p:spPr>
          <a:xfrm>
            <a:off x="317269" y="3042458"/>
            <a:ext cx="1313411" cy="498764"/>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1800493"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＞＞現状の整理</a:t>
            </a:r>
          </a:p>
        </p:txBody>
      </p:sp>
      <p:sp>
        <p:nvSpPr>
          <p:cNvPr id="5" name="テキスト ボックス 4">
            <a:extLst>
              <a:ext uri="{FF2B5EF4-FFF2-40B4-BE49-F238E27FC236}">
                <a16:creationId xmlns:a16="http://schemas.microsoft.com/office/drawing/2014/main" id="{E5607FAA-1F02-307B-E39F-A54B54FC3316}"/>
              </a:ext>
            </a:extLst>
          </p:cNvPr>
          <p:cNvSpPr txBox="1"/>
          <p:nvPr/>
        </p:nvSpPr>
        <p:spPr>
          <a:xfrm>
            <a:off x="500149" y="1203251"/>
            <a:ext cx="11479425" cy="1477328"/>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 現在の御社オンエア手法について</a:t>
            </a:r>
            <a:endParaRPr kumimoji="1" lang="en-US" altLang="ja-JP" dirty="0">
              <a:latin typeface="BIZ UDPゴシック" panose="020B0400000000000000" pitchFamily="50" charset="-128"/>
              <a:ea typeface="BIZ UDPゴシック" panose="020B0400000000000000" pitchFamily="50" charset="-128"/>
            </a:endParaRPr>
          </a:p>
          <a:p>
            <a:endParaRPr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　① １クールごとに局選定を実施（条件面がいい局でオンエア）</a:t>
            </a:r>
            <a:endParaRPr kumimoji="1"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　② 月あたり、１局放送　掛率取得　（予算：</a:t>
            </a:r>
            <a:r>
              <a:rPr lang="en-US" altLang="ja-JP" dirty="0">
                <a:latin typeface="BIZ UDPゴシック" panose="020B0400000000000000" pitchFamily="50" charset="-128"/>
                <a:ea typeface="BIZ UDPゴシック" panose="020B0400000000000000" pitchFamily="50" charset="-128"/>
              </a:rPr>
              <a:t>800,000</a:t>
            </a:r>
            <a:r>
              <a:rPr lang="ja-JP" altLang="en-US" dirty="0">
                <a:latin typeface="BIZ UDPゴシック" panose="020B0400000000000000" pitchFamily="50" charset="-128"/>
                <a:ea typeface="BIZ UDPゴシック" panose="020B0400000000000000" pitchFamily="50" charset="-128"/>
              </a:rPr>
              <a:t>円税別）　＋　</a:t>
            </a:r>
            <a:r>
              <a:rPr lang="en-US" altLang="ja-JP" dirty="0">
                <a:latin typeface="BIZ UDPゴシック" panose="020B0400000000000000" pitchFamily="50" charset="-128"/>
                <a:ea typeface="BIZ UDPゴシック" panose="020B0400000000000000" pitchFamily="50" charset="-128"/>
              </a:rPr>
              <a:t>5</a:t>
            </a:r>
            <a:r>
              <a:rPr lang="ja-JP" altLang="en-US" dirty="0">
                <a:latin typeface="BIZ UDPゴシック" panose="020B0400000000000000" pitchFamily="50" charset="-128"/>
                <a:ea typeface="BIZ UDPゴシック" panose="020B0400000000000000" pitchFamily="50" charset="-128"/>
              </a:rPr>
              <a:t>秒</a:t>
            </a:r>
            <a:r>
              <a:rPr lang="en-US" altLang="ja-JP" dirty="0">
                <a:latin typeface="BIZ UDPゴシック" panose="020B0400000000000000" pitchFamily="50" charset="-128"/>
                <a:ea typeface="BIZ UDPゴシック" panose="020B0400000000000000" pitchFamily="50" charset="-128"/>
              </a:rPr>
              <a:t>CM</a:t>
            </a:r>
            <a:r>
              <a:rPr lang="ja-JP" altLang="en-US" dirty="0">
                <a:latin typeface="BIZ UDPゴシック" panose="020B0400000000000000" pitchFamily="50" charset="-128"/>
                <a:ea typeface="BIZ UDPゴシック" panose="020B0400000000000000" pitchFamily="50" charset="-128"/>
              </a:rPr>
              <a:t>各局</a:t>
            </a:r>
            <a:r>
              <a:rPr lang="en-US" altLang="ja-JP" dirty="0">
                <a:latin typeface="BIZ UDPゴシック" panose="020B0400000000000000" pitchFamily="50" charset="-128"/>
                <a:ea typeface="BIZ UDPゴシック" panose="020B0400000000000000" pitchFamily="50" charset="-128"/>
              </a:rPr>
              <a:t>10</a:t>
            </a:r>
            <a:r>
              <a:rPr lang="ja-JP" altLang="en-US" dirty="0">
                <a:latin typeface="BIZ UDPゴシック" panose="020B0400000000000000" pitchFamily="50" charset="-128"/>
                <a:ea typeface="BIZ UDPゴシック" panose="020B0400000000000000" pitchFamily="50" charset="-128"/>
              </a:rPr>
              <a:t>万</a:t>
            </a:r>
            <a:endParaRPr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　③ 現在は</a:t>
            </a:r>
            <a:r>
              <a:rPr kumimoji="1" lang="en-US" altLang="ja-JP" dirty="0">
                <a:latin typeface="BIZ UDPゴシック" panose="020B0400000000000000" pitchFamily="50" charset="-128"/>
                <a:ea typeface="BIZ UDPゴシック" panose="020B0400000000000000" pitchFamily="50" charset="-128"/>
              </a:rPr>
              <a:t>RBC</a:t>
            </a:r>
            <a:r>
              <a:rPr kumimoji="1" lang="ja-JP" altLang="en-US" dirty="0">
                <a:latin typeface="BIZ UDPゴシック" panose="020B0400000000000000" pitchFamily="50" charset="-128"/>
                <a:ea typeface="BIZ UDPゴシック" panose="020B0400000000000000" pitchFamily="50" charset="-128"/>
              </a:rPr>
              <a:t>での放送比率が多い　タイムを中心に取得、</a:t>
            </a:r>
            <a:r>
              <a:rPr kumimoji="1" lang="en-US" altLang="ja-JP" dirty="0">
                <a:latin typeface="BIZ UDPゴシック" panose="020B0400000000000000" pitchFamily="50" charset="-128"/>
                <a:ea typeface="BIZ UDPゴシック" panose="020B0400000000000000" pitchFamily="50" charset="-128"/>
              </a:rPr>
              <a:t>OTV</a:t>
            </a:r>
            <a:r>
              <a:rPr kumimoji="1" lang="ja-JP" altLang="en-US" dirty="0">
                <a:latin typeface="BIZ UDPゴシック" panose="020B0400000000000000" pitchFamily="50" charset="-128"/>
                <a:ea typeface="BIZ UDPゴシック" panose="020B0400000000000000" pitchFamily="50" charset="-128"/>
              </a:rPr>
              <a:t>は年</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クール程度、</a:t>
            </a:r>
            <a:r>
              <a:rPr kumimoji="1" lang="en-US" altLang="ja-JP" dirty="0">
                <a:latin typeface="BIZ UDPゴシック" panose="020B0400000000000000" pitchFamily="50" charset="-128"/>
                <a:ea typeface="BIZ UDPゴシック" panose="020B0400000000000000" pitchFamily="50" charset="-128"/>
              </a:rPr>
              <a:t>QAB</a:t>
            </a:r>
            <a:r>
              <a:rPr kumimoji="1" lang="ja-JP" altLang="en-US" dirty="0">
                <a:latin typeface="BIZ UDPゴシック" panose="020B0400000000000000" pitchFamily="50" charset="-128"/>
                <a:ea typeface="BIZ UDPゴシック" panose="020B0400000000000000" pitchFamily="50" charset="-128"/>
              </a:rPr>
              <a:t>はほぼオンエアなし</a:t>
            </a:r>
            <a:endParaRPr kumimoji="1" lang="en-US" altLang="ja-JP" dirty="0">
              <a:latin typeface="BIZ UDPゴシック" panose="020B0400000000000000" pitchFamily="50" charset="-128"/>
              <a:ea typeface="BIZ UDPゴシック" panose="020B0400000000000000" pitchFamily="50" charset="-128"/>
            </a:endParaRPr>
          </a:p>
        </p:txBody>
      </p:sp>
      <p:sp>
        <p:nvSpPr>
          <p:cNvPr id="2" name="テキスト ボックス 1">
            <a:extLst>
              <a:ext uri="{FF2B5EF4-FFF2-40B4-BE49-F238E27FC236}">
                <a16:creationId xmlns:a16="http://schemas.microsoft.com/office/drawing/2014/main" id="{313D45F4-6403-B677-EF89-A704AE12F664}"/>
              </a:ext>
            </a:extLst>
          </p:cNvPr>
          <p:cNvSpPr txBox="1"/>
          <p:nvPr/>
        </p:nvSpPr>
        <p:spPr>
          <a:xfrm>
            <a:off x="500149" y="3081928"/>
            <a:ext cx="8449749" cy="2585323"/>
          </a:xfrm>
          <a:prstGeom prst="rect">
            <a:avLst/>
          </a:prstGeom>
          <a:noFill/>
        </p:spPr>
        <p:txBody>
          <a:bodyPr wrap="none" rtlCol="0">
            <a:spAutoFit/>
          </a:bodyPr>
          <a:lstStyle/>
          <a:p>
            <a:r>
              <a:rPr kumimoji="1" lang="ja-JP" altLang="en-US" b="1" dirty="0">
                <a:latin typeface="BIZ UDPゴシック" panose="020B0400000000000000" pitchFamily="50" charset="-128"/>
                <a:ea typeface="BIZ UDPゴシック" panose="020B0400000000000000" pitchFamily="50" charset="-128"/>
              </a:rPr>
              <a:t>メリット</a:t>
            </a:r>
            <a:endParaRPr kumimoji="1" lang="en-US" altLang="ja-JP" b="1" dirty="0">
              <a:latin typeface="BIZ UDPゴシック" panose="020B0400000000000000" pitchFamily="50" charset="-128"/>
              <a:ea typeface="BIZ UDPゴシック" panose="020B0400000000000000" pitchFamily="50" charset="-128"/>
            </a:endParaRPr>
          </a:p>
          <a:p>
            <a:endParaRPr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・各局競合状態を作り出すことで、良い時間帯に放送する局を選択する事が可能</a:t>
            </a:r>
            <a:endParaRPr kumimoji="1" lang="en-US" altLang="ja-JP" dirty="0">
              <a:latin typeface="BIZ UDPゴシック" panose="020B0400000000000000" pitchFamily="50" charset="-128"/>
              <a:ea typeface="BIZ UDPゴシック" panose="020B0400000000000000" pitchFamily="50" charset="-128"/>
            </a:endParaRPr>
          </a:p>
          <a:p>
            <a:endParaRPr lang="en-US" altLang="ja-JP" dirty="0">
              <a:latin typeface="BIZ UDPゴシック" panose="020B0400000000000000" pitchFamily="50" charset="-128"/>
              <a:ea typeface="BIZ UDPゴシック" panose="020B0400000000000000" pitchFamily="50" charset="-128"/>
            </a:endParaRPr>
          </a:p>
          <a:p>
            <a:r>
              <a:rPr lang="ja-JP" altLang="en-US" b="1" dirty="0">
                <a:latin typeface="BIZ UDPゴシック" panose="020B0400000000000000" pitchFamily="50" charset="-128"/>
                <a:ea typeface="BIZ UDPゴシック" panose="020B0400000000000000" pitchFamily="50" charset="-128"/>
              </a:rPr>
              <a:t>　課題</a:t>
            </a:r>
            <a:endParaRPr lang="en-US" altLang="ja-JP" b="1" dirty="0">
              <a:latin typeface="BIZ UDPゴシック" panose="020B0400000000000000" pitchFamily="50" charset="-128"/>
              <a:ea typeface="BIZ UDPゴシック" panose="020B0400000000000000" pitchFamily="50" charset="-128"/>
            </a:endParaRPr>
          </a:p>
          <a:p>
            <a:endParaRPr kumimoji="1"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・掛率取得（本数）の為、到達数（視聴率）にブレが発生しやすい</a:t>
            </a:r>
            <a:endParaRPr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a:t>
            </a:r>
            <a:r>
              <a:rPr kumimoji="1" lang="en-US" altLang="ja-JP" dirty="0">
                <a:latin typeface="BIZ UDPゴシック" panose="020B0400000000000000" pitchFamily="50" charset="-128"/>
                <a:ea typeface="BIZ UDPゴシック" panose="020B0400000000000000" pitchFamily="50" charset="-128"/>
              </a:rPr>
              <a:t>RBC1</a:t>
            </a:r>
            <a:r>
              <a:rPr kumimoji="1" lang="ja-JP" altLang="en-US" dirty="0">
                <a:latin typeface="BIZ UDPゴシック" panose="020B0400000000000000" pitchFamily="50" charset="-128"/>
                <a:ea typeface="BIZ UDPゴシック" panose="020B0400000000000000" pitchFamily="50" charset="-128"/>
              </a:rPr>
              <a:t>局に偏りがちになっており、オーバーアプローチになっている可能性がある</a:t>
            </a:r>
            <a:endParaRPr kumimoji="1"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・放送の無い局との連携を取りにくい（パブ枠取得など）</a:t>
            </a:r>
            <a:endParaRPr kumimoji="1" lang="en-US" altLang="ja-JP" dirty="0">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7EB42643-F398-57BD-D52F-D9774B74135D}"/>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36BD1D2-2A8C-8D7F-AEBF-9CBD1069F1C1}"/>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10">
            <a:extLst>
              <a:ext uri="{FF2B5EF4-FFF2-40B4-BE49-F238E27FC236}">
                <a16:creationId xmlns:a16="http://schemas.microsoft.com/office/drawing/2014/main" id="{AEDA3085-9D26-282F-BC2C-13DFCB544DB3}"/>
              </a:ext>
            </a:extLst>
          </p:cNvPr>
          <p:cNvSpPr>
            <a:spLocks noGrp="1"/>
          </p:cNvSpPr>
          <p:nvPr>
            <p:ph type="sldNum" sz="quarter" idx="12"/>
          </p:nvPr>
        </p:nvSpPr>
        <p:spPr>
          <a:xfrm>
            <a:off x="9326880" y="6371613"/>
            <a:ext cx="2743200" cy="365125"/>
          </a:xfrm>
        </p:spPr>
        <p:txBody>
          <a:bodyPr/>
          <a:lstStyle/>
          <a:p>
            <a:fld id="{5A968F70-849A-4002-AAE1-AF06B930E453}" type="slidenum">
              <a:rPr kumimoji="1" lang="ja-JP" altLang="en-US" smtClean="0"/>
              <a:t>1</a:t>
            </a:fld>
            <a:endParaRPr kumimoji="1" lang="ja-JP" altLang="en-US"/>
          </a:p>
        </p:txBody>
      </p:sp>
    </p:spTree>
    <p:extLst>
      <p:ext uri="{BB962C8B-B14F-4D97-AF65-F5344CB8AC3E}">
        <p14:creationId xmlns:p14="http://schemas.microsoft.com/office/powerpoint/2010/main" val="129878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2690160"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＞＞放送に関するご提案</a:t>
            </a:r>
          </a:p>
        </p:txBody>
      </p:sp>
      <p:sp>
        <p:nvSpPr>
          <p:cNvPr id="3" name="テキスト ボックス 2">
            <a:extLst>
              <a:ext uri="{FF2B5EF4-FFF2-40B4-BE49-F238E27FC236}">
                <a16:creationId xmlns:a16="http://schemas.microsoft.com/office/drawing/2014/main" id="{A635D3F6-D9E0-838C-3953-705B0D9A71B2}"/>
              </a:ext>
            </a:extLst>
          </p:cNvPr>
          <p:cNvSpPr txBox="1"/>
          <p:nvPr/>
        </p:nvSpPr>
        <p:spPr>
          <a:xfrm>
            <a:off x="332509" y="937244"/>
            <a:ext cx="11633313" cy="646331"/>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テレビ</a:t>
            </a:r>
            <a:r>
              <a:rPr kumimoji="1" lang="en-US" altLang="ja-JP" dirty="0">
                <a:latin typeface="BIZ UDPゴシック" panose="020B0400000000000000" pitchFamily="50" charset="-128"/>
                <a:ea typeface="BIZ UDPゴシック" panose="020B0400000000000000" pitchFamily="50" charset="-128"/>
              </a:rPr>
              <a:t>CM</a:t>
            </a:r>
            <a:r>
              <a:rPr kumimoji="1" lang="ja-JP" altLang="en-US" dirty="0">
                <a:latin typeface="BIZ UDPゴシック" panose="020B0400000000000000" pitchFamily="50" charset="-128"/>
                <a:ea typeface="BIZ UDPゴシック" panose="020B0400000000000000" pitchFamily="50" charset="-128"/>
              </a:rPr>
              <a:t>スポットの流し方には、大きく分けて以下の手法があります。</a:t>
            </a:r>
            <a:endParaRPr kumimoji="1"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今現在実施している掛け率での</a:t>
            </a:r>
            <a:r>
              <a:rPr lang="en-US" altLang="ja-JP" dirty="0">
                <a:latin typeface="BIZ UDPゴシック" panose="020B0400000000000000" pitchFamily="50" charset="-128"/>
                <a:ea typeface="BIZ UDPゴシック" panose="020B0400000000000000" pitchFamily="50" charset="-128"/>
              </a:rPr>
              <a:t>CM</a:t>
            </a:r>
            <a:r>
              <a:rPr lang="ja-JP" altLang="en-US" dirty="0">
                <a:latin typeface="BIZ UDPゴシック" panose="020B0400000000000000" pitchFamily="50" charset="-128"/>
                <a:ea typeface="BIZ UDPゴシック" panose="020B0400000000000000" pitchFamily="50" charset="-128"/>
              </a:rPr>
              <a:t>枠取得法に加え、パーコストでの取得についてもご提案をさせて頂きます。</a:t>
            </a:r>
            <a:endParaRPr kumimoji="1" lang="en-US" altLang="ja-JP" dirty="0">
              <a:latin typeface="BIZ UDPゴシック" panose="020B0400000000000000" pitchFamily="50" charset="-128"/>
              <a:ea typeface="BIZ UDPゴシック" panose="020B0400000000000000" pitchFamily="50" charset="-128"/>
            </a:endParaRPr>
          </a:p>
        </p:txBody>
      </p:sp>
      <p:sp>
        <p:nvSpPr>
          <p:cNvPr id="6" name="四角形: 角を丸くする 5">
            <a:extLst>
              <a:ext uri="{FF2B5EF4-FFF2-40B4-BE49-F238E27FC236}">
                <a16:creationId xmlns:a16="http://schemas.microsoft.com/office/drawing/2014/main" id="{7BAB8267-98C9-38EB-409C-DB080229CDAB}"/>
              </a:ext>
            </a:extLst>
          </p:cNvPr>
          <p:cNvSpPr/>
          <p:nvPr/>
        </p:nvSpPr>
        <p:spPr>
          <a:xfrm>
            <a:off x="6988316" y="2684475"/>
            <a:ext cx="3258589" cy="2676699"/>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Pゴシック" panose="020B0400000000000000" pitchFamily="50" charset="-128"/>
              <a:ea typeface="BIZ UDPゴシック" panose="020B0400000000000000" pitchFamily="50" charset="-128"/>
            </a:endParaRPr>
          </a:p>
        </p:txBody>
      </p:sp>
      <p:sp>
        <p:nvSpPr>
          <p:cNvPr id="7" name="四角形: 角を丸くする 6">
            <a:extLst>
              <a:ext uri="{FF2B5EF4-FFF2-40B4-BE49-F238E27FC236}">
                <a16:creationId xmlns:a16="http://schemas.microsoft.com/office/drawing/2014/main" id="{C88B0106-38AB-9CC6-B417-F0FFBC6E4615}"/>
              </a:ext>
            </a:extLst>
          </p:cNvPr>
          <p:cNvSpPr/>
          <p:nvPr/>
        </p:nvSpPr>
        <p:spPr>
          <a:xfrm>
            <a:off x="2183479" y="2684475"/>
            <a:ext cx="3258589" cy="2676699"/>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512AF698-C071-8AA4-C2D9-EA6D30A4A402}"/>
              </a:ext>
            </a:extLst>
          </p:cNvPr>
          <p:cNvSpPr txBox="1"/>
          <p:nvPr/>
        </p:nvSpPr>
        <p:spPr>
          <a:xfrm>
            <a:off x="7909724" y="3063133"/>
            <a:ext cx="1415772" cy="584775"/>
          </a:xfrm>
          <a:prstGeom prst="rect">
            <a:avLst/>
          </a:prstGeom>
          <a:noFill/>
        </p:spPr>
        <p:txBody>
          <a:bodyPr wrap="none" rtlCol="0">
            <a:spAutoFit/>
          </a:bodyPr>
          <a:lstStyle/>
          <a:p>
            <a:pPr algn="ctr"/>
            <a:r>
              <a:rPr kumimoji="1" lang="ja-JP" altLang="en-US" sz="3200" b="1" dirty="0">
                <a:latin typeface="BIZ UDPゴシック" panose="020B0400000000000000" pitchFamily="50" charset="-128"/>
                <a:ea typeface="BIZ UDPゴシック" panose="020B0400000000000000" pitchFamily="50" charset="-128"/>
              </a:rPr>
              <a:t>掛け率</a:t>
            </a:r>
            <a:endParaRPr kumimoji="1" lang="en-US" altLang="ja-JP" sz="3200" b="1"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0DDB4104-0444-58AD-5FA7-100EC1B0363B}"/>
              </a:ext>
            </a:extLst>
          </p:cNvPr>
          <p:cNvSpPr txBox="1"/>
          <p:nvPr/>
        </p:nvSpPr>
        <p:spPr>
          <a:xfrm>
            <a:off x="7627598" y="4022824"/>
            <a:ext cx="1980029" cy="707886"/>
          </a:xfrm>
          <a:prstGeom prst="rect">
            <a:avLst/>
          </a:prstGeom>
          <a:noFill/>
        </p:spPr>
        <p:txBody>
          <a:bodyPr wrap="none" rtlCol="0">
            <a:spAutoFit/>
          </a:bodyPr>
          <a:lstStyle/>
          <a:p>
            <a:pPr algn="ctr"/>
            <a:r>
              <a:rPr kumimoji="1" lang="ja-JP" altLang="en-US" sz="2000" b="1" dirty="0">
                <a:latin typeface="BIZ UDPゴシック" panose="020B0400000000000000" pitchFamily="50" charset="-128"/>
                <a:ea typeface="BIZ UDPゴシック" panose="020B0400000000000000" pitchFamily="50" charset="-128"/>
              </a:rPr>
              <a:t>放送枠</a:t>
            </a:r>
            <a:r>
              <a:rPr kumimoji="1" lang="en-US" altLang="ja-JP" sz="2000" b="1" dirty="0">
                <a:latin typeface="BIZ UDPゴシック" panose="020B0400000000000000" pitchFamily="50" charset="-128"/>
                <a:ea typeface="BIZ UDPゴシック" panose="020B0400000000000000" pitchFamily="50" charset="-128"/>
              </a:rPr>
              <a:t>×</a:t>
            </a:r>
            <a:r>
              <a:rPr kumimoji="1" lang="ja-JP" altLang="en-US" sz="2000" b="1" dirty="0">
                <a:latin typeface="BIZ UDPゴシック" panose="020B0400000000000000" pitchFamily="50" charset="-128"/>
                <a:ea typeface="BIZ UDPゴシック" panose="020B0400000000000000" pitchFamily="50" charset="-128"/>
              </a:rPr>
              <a:t>本数で</a:t>
            </a:r>
            <a:endParaRPr kumimoji="1" lang="en-US" altLang="ja-JP" sz="2000" b="1" dirty="0">
              <a:latin typeface="BIZ UDPゴシック" panose="020B0400000000000000" pitchFamily="50" charset="-128"/>
              <a:ea typeface="BIZ UDPゴシック" panose="020B0400000000000000" pitchFamily="50" charset="-128"/>
            </a:endParaRPr>
          </a:p>
          <a:p>
            <a:pPr algn="ctr"/>
            <a:r>
              <a:rPr lang="en-US" altLang="ja-JP" sz="2000" b="1" dirty="0">
                <a:latin typeface="BIZ UDPゴシック" panose="020B0400000000000000" pitchFamily="50" charset="-128"/>
                <a:ea typeface="BIZ UDPゴシック" panose="020B0400000000000000" pitchFamily="50" charset="-128"/>
              </a:rPr>
              <a:t>CM</a:t>
            </a:r>
            <a:r>
              <a:rPr lang="ja-JP" altLang="en-US" sz="2000" b="1" dirty="0">
                <a:latin typeface="BIZ UDPゴシック" panose="020B0400000000000000" pitchFamily="50" charset="-128"/>
                <a:ea typeface="BIZ UDPゴシック" panose="020B0400000000000000" pitchFamily="50" charset="-128"/>
              </a:rPr>
              <a:t>枠を取得</a:t>
            </a:r>
            <a:endParaRPr kumimoji="1" lang="en-US" altLang="ja-JP" sz="2000" b="1"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D8875E9E-1B06-59E1-8517-03A9E8EBC2FA}"/>
              </a:ext>
            </a:extLst>
          </p:cNvPr>
          <p:cNvSpPr txBox="1"/>
          <p:nvPr/>
        </p:nvSpPr>
        <p:spPr>
          <a:xfrm>
            <a:off x="2777873" y="3063133"/>
            <a:ext cx="2069797" cy="584775"/>
          </a:xfrm>
          <a:prstGeom prst="rect">
            <a:avLst/>
          </a:prstGeom>
          <a:noFill/>
        </p:spPr>
        <p:txBody>
          <a:bodyPr wrap="none" rtlCol="0">
            <a:spAutoFit/>
          </a:bodyPr>
          <a:lstStyle/>
          <a:p>
            <a:pPr algn="ctr"/>
            <a:r>
              <a:rPr kumimoji="1" lang="ja-JP" altLang="en-US" sz="3200" b="1" dirty="0">
                <a:latin typeface="BIZ UDPゴシック" panose="020B0400000000000000" pitchFamily="50" charset="-128"/>
                <a:ea typeface="BIZ UDPゴシック" panose="020B0400000000000000" pitchFamily="50" charset="-128"/>
              </a:rPr>
              <a:t>パーコスト</a:t>
            </a:r>
            <a:endParaRPr kumimoji="1" lang="en-US" altLang="ja-JP" sz="3200" b="1"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DF98E7EA-A920-1986-D349-11A753D9028B}"/>
              </a:ext>
            </a:extLst>
          </p:cNvPr>
          <p:cNvSpPr txBox="1"/>
          <p:nvPr/>
        </p:nvSpPr>
        <p:spPr>
          <a:xfrm>
            <a:off x="2451668" y="4022824"/>
            <a:ext cx="2722219" cy="707886"/>
          </a:xfrm>
          <a:prstGeom prst="rect">
            <a:avLst/>
          </a:prstGeom>
          <a:noFill/>
        </p:spPr>
        <p:txBody>
          <a:bodyPr wrap="none" rtlCol="0">
            <a:spAutoFit/>
          </a:bodyPr>
          <a:lstStyle/>
          <a:p>
            <a:pPr algn="ctr"/>
            <a:r>
              <a:rPr kumimoji="1" lang="ja-JP" altLang="en-US" sz="2000" b="1" dirty="0">
                <a:latin typeface="BIZ UDPゴシック" panose="020B0400000000000000" pitchFamily="50" charset="-128"/>
                <a:ea typeface="BIZ UDPゴシック" panose="020B0400000000000000" pitchFamily="50" charset="-128"/>
              </a:rPr>
              <a:t>「視聴率」という指標で</a:t>
            </a:r>
            <a:endParaRPr kumimoji="1" lang="en-US" altLang="ja-JP" sz="2000" b="1" dirty="0">
              <a:latin typeface="BIZ UDPゴシック" panose="020B0400000000000000" pitchFamily="50" charset="-128"/>
              <a:ea typeface="BIZ UDPゴシック" panose="020B0400000000000000" pitchFamily="50" charset="-128"/>
            </a:endParaRPr>
          </a:p>
          <a:p>
            <a:pPr algn="ctr"/>
            <a:r>
              <a:rPr lang="en-US" altLang="ja-JP" sz="2000" b="1" dirty="0">
                <a:latin typeface="BIZ UDPゴシック" panose="020B0400000000000000" pitchFamily="50" charset="-128"/>
                <a:ea typeface="BIZ UDPゴシック" panose="020B0400000000000000" pitchFamily="50" charset="-128"/>
              </a:rPr>
              <a:t>CM</a:t>
            </a:r>
            <a:r>
              <a:rPr lang="ja-JP" altLang="en-US" sz="2000" b="1" dirty="0">
                <a:latin typeface="BIZ UDPゴシック" panose="020B0400000000000000" pitchFamily="50" charset="-128"/>
                <a:ea typeface="BIZ UDPゴシック" panose="020B0400000000000000" pitchFamily="50" charset="-128"/>
              </a:rPr>
              <a:t>枠を取得</a:t>
            </a:r>
            <a:endParaRPr kumimoji="1" lang="en-US" altLang="ja-JP" sz="2000" b="1" dirty="0">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4213CEC6-294C-43C9-6489-AFED61D0F74B}"/>
              </a:ext>
            </a:extLst>
          </p:cNvPr>
          <p:cNvSpPr/>
          <p:nvPr/>
        </p:nvSpPr>
        <p:spPr>
          <a:xfrm>
            <a:off x="6749934" y="2464820"/>
            <a:ext cx="3731815" cy="3195612"/>
          </a:xfrm>
          <a:prstGeom prst="rect">
            <a:avLst/>
          </a:prstGeom>
          <a:noFill/>
          <a:ln w="571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4492F118-FA2B-B7B1-EADE-8A3614778982}"/>
              </a:ext>
            </a:extLst>
          </p:cNvPr>
          <p:cNvSpPr txBox="1"/>
          <p:nvPr/>
        </p:nvSpPr>
        <p:spPr>
          <a:xfrm>
            <a:off x="8566868" y="5491740"/>
            <a:ext cx="2880917" cy="369332"/>
          </a:xfrm>
          <a:prstGeom prst="rect">
            <a:avLst/>
          </a:prstGeom>
          <a:solidFill>
            <a:srgbClr val="C00000"/>
          </a:solidFill>
        </p:spPr>
        <p:txBody>
          <a:bodyPr wrap="none" rtlCol="0">
            <a:spAutoFit/>
          </a:bodyPr>
          <a:lstStyle/>
          <a:p>
            <a:r>
              <a:rPr kumimoji="1" lang="ja-JP" altLang="en-US" b="1" dirty="0">
                <a:solidFill>
                  <a:schemeClr val="bg1"/>
                </a:solidFill>
                <a:latin typeface="BIZ UDPゴシック" panose="020B0400000000000000" pitchFamily="50" charset="-128"/>
                <a:ea typeface="BIZ UDPゴシック" panose="020B0400000000000000" pitchFamily="50" charset="-128"/>
              </a:rPr>
              <a:t>今現在の御社オンエア手法</a:t>
            </a:r>
            <a:endParaRPr kumimoji="1" lang="en-US" altLang="ja-JP" b="1" dirty="0">
              <a:solidFill>
                <a:schemeClr val="bg1"/>
              </a:solidFill>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E188537D-10AF-C2E6-91FE-69FABE0CC640}"/>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AD65A9C3-8D41-4632-E35E-BDB2F23F5999}"/>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スライド番号プレースホルダー 10">
            <a:extLst>
              <a:ext uri="{FF2B5EF4-FFF2-40B4-BE49-F238E27FC236}">
                <a16:creationId xmlns:a16="http://schemas.microsoft.com/office/drawing/2014/main" id="{DBD66C28-B119-F8BA-E006-E2D779E8493F}"/>
              </a:ext>
            </a:extLst>
          </p:cNvPr>
          <p:cNvSpPr>
            <a:spLocks noGrp="1"/>
          </p:cNvSpPr>
          <p:nvPr>
            <p:ph type="sldNum" sz="quarter" idx="12"/>
          </p:nvPr>
        </p:nvSpPr>
        <p:spPr>
          <a:xfrm>
            <a:off x="9326880" y="6386853"/>
            <a:ext cx="2743200" cy="365125"/>
          </a:xfrm>
        </p:spPr>
        <p:txBody>
          <a:bodyPr/>
          <a:lstStyle/>
          <a:p>
            <a:fld id="{5A968F70-849A-4002-AAE1-AF06B930E453}" type="slidenum">
              <a:rPr kumimoji="1" lang="ja-JP" altLang="en-US" smtClean="0"/>
              <a:t>2</a:t>
            </a:fld>
            <a:endParaRPr kumimoji="1" lang="ja-JP" altLang="en-US"/>
          </a:p>
        </p:txBody>
      </p:sp>
    </p:spTree>
    <p:extLst>
      <p:ext uri="{BB962C8B-B14F-4D97-AF65-F5344CB8AC3E}">
        <p14:creationId xmlns:p14="http://schemas.microsoft.com/office/powerpoint/2010/main" val="4027473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7BAB8267-98C9-38EB-409C-DB080229CDAB}"/>
              </a:ext>
            </a:extLst>
          </p:cNvPr>
          <p:cNvSpPr/>
          <p:nvPr/>
        </p:nvSpPr>
        <p:spPr>
          <a:xfrm>
            <a:off x="6988316" y="2090650"/>
            <a:ext cx="3258589" cy="2676699"/>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Pゴシック" panose="020B0400000000000000" pitchFamily="50" charset="-128"/>
              <a:ea typeface="BIZ UDPゴシック" panose="020B0400000000000000" pitchFamily="50" charset="-128"/>
            </a:endParaRPr>
          </a:p>
        </p:txBody>
      </p:sp>
      <p:sp>
        <p:nvSpPr>
          <p:cNvPr id="7" name="四角形: 角を丸くする 6">
            <a:extLst>
              <a:ext uri="{FF2B5EF4-FFF2-40B4-BE49-F238E27FC236}">
                <a16:creationId xmlns:a16="http://schemas.microsoft.com/office/drawing/2014/main" id="{C88B0106-38AB-9CC6-B417-F0FFBC6E4615}"/>
              </a:ext>
            </a:extLst>
          </p:cNvPr>
          <p:cNvSpPr/>
          <p:nvPr/>
        </p:nvSpPr>
        <p:spPr>
          <a:xfrm>
            <a:off x="2183479" y="2090650"/>
            <a:ext cx="3258589" cy="2676699"/>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512AF698-C071-8AA4-C2D9-EA6D30A4A402}"/>
              </a:ext>
            </a:extLst>
          </p:cNvPr>
          <p:cNvSpPr txBox="1"/>
          <p:nvPr/>
        </p:nvSpPr>
        <p:spPr>
          <a:xfrm>
            <a:off x="7909724" y="2469308"/>
            <a:ext cx="1415772" cy="584775"/>
          </a:xfrm>
          <a:prstGeom prst="rect">
            <a:avLst/>
          </a:prstGeom>
          <a:noFill/>
        </p:spPr>
        <p:txBody>
          <a:bodyPr wrap="none" rtlCol="0">
            <a:spAutoFit/>
          </a:bodyPr>
          <a:lstStyle/>
          <a:p>
            <a:pPr algn="ctr"/>
            <a:r>
              <a:rPr kumimoji="1" lang="ja-JP" altLang="en-US" sz="3200" b="1" dirty="0">
                <a:latin typeface="BIZ UDPゴシック" panose="020B0400000000000000" pitchFamily="50" charset="-128"/>
                <a:ea typeface="BIZ UDPゴシック" panose="020B0400000000000000" pitchFamily="50" charset="-128"/>
              </a:rPr>
              <a:t>掛け率</a:t>
            </a:r>
            <a:endParaRPr kumimoji="1" lang="en-US" altLang="ja-JP" sz="3200" b="1"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0DDB4104-0444-58AD-5FA7-100EC1B0363B}"/>
              </a:ext>
            </a:extLst>
          </p:cNvPr>
          <p:cNvSpPr txBox="1"/>
          <p:nvPr/>
        </p:nvSpPr>
        <p:spPr>
          <a:xfrm>
            <a:off x="7627598" y="3428999"/>
            <a:ext cx="1980029" cy="707886"/>
          </a:xfrm>
          <a:prstGeom prst="rect">
            <a:avLst/>
          </a:prstGeom>
          <a:noFill/>
        </p:spPr>
        <p:txBody>
          <a:bodyPr wrap="none" rtlCol="0">
            <a:spAutoFit/>
          </a:bodyPr>
          <a:lstStyle/>
          <a:p>
            <a:pPr algn="ctr"/>
            <a:r>
              <a:rPr kumimoji="1" lang="ja-JP" altLang="en-US" sz="2000" b="1" dirty="0">
                <a:latin typeface="BIZ UDPゴシック" panose="020B0400000000000000" pitchFamily="50" charset="-128"/>
                <a:ea typeface="BIZ UDPゴシック" panose="020B0400000000000000" pitchFamily="50" charset="-128"/>
              </a:rPr>
              <a:t>放送枠</a:t>
            </a:r>
            <a:r>
              <a:rPr kumimoji="1" lang="en-US" altLang="ja-JP" sz="2000" b="1" dirty="0">
                <a:latin typeface="BIZ UDPゴシック" panose="020B0400000000000000" pitchFamily="50" charset="-128"/>
                <a:ea typeface="BIZ UDPゴシック" panose="020B0400000000000000" pitchFamily="50" charset="-128"/>
              </a:rPr>
              <a:t>×</a:t>
            </a:r>
            <a:r>
              <a:rPr kumimoji="1" lang="ja-JP" altLang="en-US" sz="2000" b="1" dirty="0">
                <a:latin typeface="BIZ UDPゴシック" panose="020B0400000000000000" pitchFamily="50" charset="-128"/>
                <a:ea typeface="BIZ UDPゴシック" panose="020B0400000000000000" pitchFamily="50" charset="-128"/>
              </a:rPr>
              <a:t>本数で</a:t>
            </a:r>
            <a:endParaRPr kumimoji="1" lang="en-US" altLang="ja-JP" sz="2000" b="1" dirty="0">
              <a:latin typeface="BIZ UDPゴシック" panose="020B0400000000000000" pitchFamily="50" charset="-128"/>
              <a:ea typeface="BIZ UDPゴシック" panose="020B0400000000000000" pitchFamily="50" charset="-128"/>
            </a:endParaRPr>
          </a:p>
          <a:p>
            <a:pPr algn="ctr"/>
            <a:r>
              <a:rPr lang="en-US" altLang="ja-JP" sz="2000" b="1" dirty="0">
                <a:latin typeface="BIZ UDPゴシック" panose="020B0400000000000000" pitchFamily="50" charset="-128"/>
                <a:ea typeface="BIZ UDPゴシック" panose="020B0400000000000000" pitchFamily="50" charset="-128"/>
              </a:rPr>
              <a:t>CM</a:t>
            </a:r>
            <a:r>
              <a:rPr lang="ja-JP" altLang="en-US" sz="2000" b="1" dirty="0">
                <a:latin typeface="BIZ UDPゴシック" panose="020B0400000000000000" pitchFamily="50" charset="-128"/>
                <a:ea typeface="BIZ UDPゴシック" panose="020B0400000000000000" pitchFamily="50" charset="-128"/>
              </a:rPr>
              <a:t>枠を取得</a:t>
            </a:r>
            <a:endParaRPr kumimoji="1" lang="en-US" altLang="ja-JP" sz="2000" b="1"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D8875E9E-1B06-59E1-8517-03A9E8EBC2FA}"/>
              </a:ext>
            </a:extLst>
          </p:cNvPr>
          <p:cNvSpPr txBox="1"/>
          <p:nvPr/>
        </p:nvSpPr>
        <p:spPr>
          <a:xfrm>
            <a:off x="2777873" y="2469308"/>
            <a:ext cx="2069797" cy="584775"/>
          </a:xfrm>
          <a:prstGeom prst="rect">
            <a:avLst/>
          </a:prstGeom>
          <a:noFill/>
        </p:spPr>
        <p:txBody>
          <a:bodyPr wrap="none" rtlCol="0">
            <a:spAutoFit/>
          </a:bodyPr>
          <a:lstStyle/>
          <a:p>
            <a:pPr algn="ctr"/>
            <a:r>
              <a:rPr kumimoji="1" lang="ja-JP" altLang="en-US" sz="3200" b="1" dirty="0">
                <a:latin typeface="BIZ UDPゴシック" panose="020B0400000000000000" pitchFamily="50" charset="-128"/>
                <a:ea typeface="BIZ UDPゴシック" panose="020B0400000000000000" pitchFamily="50" charset="-128"/>
              </a:rPr>
              <a:t>パーコスト</a:t>
            </a:r>
            <a:endParaRPr kumimoji="1" lang="en-US" altLang="ja-JP" sz="3200" b="1"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DF98E7EA-A920-1986-D349-11A753D9028B}"/>
              </a:ext>
            </a:extLst>
          </p:cNvPr>
          <p:cNvSpPr txBox="1"/>
          <p:nvPr/>
        </p:nvSpPr>
        <p:spPr>
          <a:xfrm>
            <a:off x="2451668" y="3428999"/>
            <a:ext cx="2722219" cy="707886"/>
          </a:xfrm>
          <a:prstGeom prst="rect">
            <a:avLst/>
          </a:prstGeom>
          <a:noFill/>
        </p:spPr>
        <p:txBody>
          <a:bodyPr wrap="none" rtlCol="0">
            <a:spAutoFit/>
          </a:bodyPr>
          <a:lstStyle/>
          <a:p>
            <a:pPr algn="ctr"/>
            <a:r>
              <a:rPr kumimoji="1" lang="ja-JP" altLang="en-US" sz="2000" b="1" dirty="0">
                <a:latin typeface="BIZ UDPゴシック" panose="020B0400000000000000" pitchFamily="50" charset="-128"/>
                <a:ea typeface="BIZ UDPゴシック" panose="020B0400000000000000" pitchFamily="50" charset="-128"/>
              </a:rPr>
              <a:t>「視聴率」という指標で</a:t>
            </a:r>
            <a:endParaRPr kumimoji="1" lang="en-US" altLang="ja-JP" sz="2000" b="1" dirty="0">
              <a:latin typeface="BIZ UDPゴシック" panose="020B0400000000000000" pitchFamily="50" charset="-128"/>
              <a:ea typeface="BIZ UDPゴシック" panose="020B0400000000000000" pitchFamily="50" charset="-128"/>
            </a:endParaRPr>
          </a:p>
          <a:p>
            <a:pPr algn="ctr"/>
            <a:r>
              <a:rPr lang="en-US" altLang="ja-JP" sz="2000" b="1" dirty="0">
                <a:latin typeface="BIZ UDPゴシック" panose="020B0400000000000000" pitchFamily="50" charset="-128"/>
                <a:ea typeface="BIZ UDPゴシック" panose="020B0400000000000000" pitchFamily="50" charset="-128"/>
              </a:rPr>
              <a:t>CM</a:t>
            </a:r>
            <a:r>
              <a:rPr lang="ja-JP" altLang="en-US" sz="2000" b="1" dirty="0">
                <a:latin typeface="BIZ UDPゴシック" panose="020B0400000000000000" pitchFamily="50" charset="-128"/>
                <a:ea typeface="BIZ UDPゴシック" panose="020B0400000000000000" pitchFamily="50" charset="-128"/>
              </a:rPr>
              <a:t>枠を取得</a:t>
            </a:r>
            <a:endParaRPr kumimoji="1" lang="en-US" altLang="ja-JP" sz="2000" b="1" dirty="0">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4213CEC6-294C-43C9-6489-AFED61D0F74B}"/>
              </a:ext>
            </a:extLst>
          </p:cNvPr>
          <p:cNvSpPr/>
          <p:nvPr/>
        </p:nvSpPr>
        <p:spPr>
          <a:xfrm>
            <a:off x="6749934" y="1870995"/>
            <a:ext cx="3731815" cy="3195612"/>
          </a:xfrm>
          <a:prstGeom prst="rect">
            <a:avLst/>
          </a:prstGeom>
          <a:noFill/>
          <a:ln w="57150">
            <a:solidFill>
              <a:schemeClr val="bg2">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4492F118-FA2B-B7B1-EADE-8A3614778982}"/>
              </a:ext>
            </a:extLst>
          </p:cNvPr>
          <p:cNvSpPr txBox="1"/>
          <p:nvPr/>
        </p:nvSpPr>
        <p:spPr>
          <a:xfrm>
            <a:off x="8566868" y="4897915"/>
            <a:ext cx="2880917" cy="369332"/>
          </a:xfrm>
          <a:prstGeom prst="rect">
            <a:avLst/>
          </a:prstGeom>
          <a:solidFill>
            <a:schemeClr val="bg2">
              <a:lumMod val="75000"/>
            </a:schemeClr>
          </a:solidFill>
          <a:ln>
            <a:noFill/>
          </a:ln>
        </p:spPr>
        <p:txBody>
          <a:bodyPr wrap="none" rtlCol="0">
            <a:spAutoFit/>
          </a:bodyPr>
          <a:lstStyle/>
          <a:p>
            <a:r>
              <a:rPr kumimoji="1" lang="ja-JP" altLang="en-US" b="1" dirty="0">
                <a:solidFill>
                  <a:schemeClr val="bg1"/>
                </a:solidFill>
                <a:latin typeface="BIZ UDPゴシック" panose="020B0400000000000000" pitchFamily="50" charset="-128"/>
                <a:ea typeface="BIZ UDPゴシック" panose="020B0400000000000000" pitchFamily="50" charset="-128"/>
              </a:rPr>
              <a:t>今現在の御社オンエア手法</a:t>
            </a:r>
            <a:endParaRPr kumimoji="1" lang="en-US" altLang="ja-JP" b="1" dirty="0">
              <a:solidFill>
                <a:schemeClr val="bg1"/>
              </a:solidFill>
              <a:latin typeface="BIZ UDPゴシック" panose="020B0400000000000000" pitchFamily="50" charset="-128"/>
              <a:ea typeface="BIZ UDPゴシック" panose="020B0400000000000000" pitchFamily="50" charset="-128"/>
            </a:endParaRPr>
          </a:p>
        </p:txBody>
      </p:sp>
      <p:sp>
        <p:nvSpPr>
          <p:cNvPr id="2" name="正方形/長方形 1">
            <a:extLst>
              <a:ext uri="{FF2B5EF4-FFF2-40B4-BE49-F238E27FC236}">
                <a16:creationId xmlns:a16="http://schemas.microsoft.com/office/drawing/2014/main" id="{6B89A33F-AC83-B5C2-382E-5664D5C5EE3F}"/>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E4EB71DA-86E6-CDAC-4D72-04DEDF550AA5}"/>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スライド番号プレースホルダー 10">
            <a:extLst>
              <a:ext uri="{FF2B5EF4-FFF2-40B4-BE49-F238E27FC236}">
                <a16:creationId xmlns:a16="http://schemas.microsoft.com/office/drawing/2014/main" id="{AC956A35-1405-3AA2-82BD-7AD5FA1BADEA}"/>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3</a:t>
            </a:fld>
            <a:endParaRPr lang="ja-JP" altLang="en-US" dirty="0"/>
          </a:p>
        </p:txBody>
      </p:sp>
    </p:spTree>
    <p:extLst>
      <p:ext uri="{BB962C8B-B14F-4D97-AF65-F5344CB8AC3E}">
        <p14:creationId xmlns:p14="http://schemas.microsoft.com/office/powerpoint/2010/main" val="3327102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4156907"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＞＞パーコストでの</a:t>
            </a:r>
            <a:r>
              <a:rPr kumimoji="1" lang="en-US" altLang="ja-JP" dirty="0">
                <a:latin typeface="BIZ UDPゴシック" panose="020B0400000000000000" pitchFamily="50" charset="-128"/>
                <a:ea typeface="BIZ UDPゴシック" panose="020B0400000000000000" pitchFamily="50" charset="-128"/>
              </a:rPr>
              <a:t>CM</a:t>
            </a:r>
            <a:r>
              <a:rPr kumimoji="1" lang="ja-JP" altLang="en-US" dirty="0">
                <a:latin typeface="BIZ UDPゴシック" panose="020B0400000000000000" pitchFamily="50" charset="-128"/>
                <a:ea typeface="BIZ UDPゴシック" panose="020B0400000000000000" pitchFamily="50" charset="-128"/>
              </a:rPr>
              <a:t>枠取得について</a:t>
            </a:r>
          </a:p>
        </p:txBody>
      </p:sp>
      <p:sp>
        <p:nvSpPr>
          <p:cNvPr id="3" name="テキスト ボックス 2">
            <a:extLst>
              <a:ext uri="{FF2B5EF4-FFF2-40B4-BE49-F238E27FC236}">
                <a16:creationId xmlns:a16="http://schemas.microsoft.com/office/drawing/2014/main" id="{A635D3F6-D9E0-838C-3953-705B0D9A71B2}"/>
              </a:ext>
            </a:extLst>
          </p:cNvPr>
          <p:cNvSpPr txBox="1"/>
          <p:nvPr/>
        </p:nvSpPr>
        <p:spPr>
          <a:xfrm>
            <a:off x="92294" y="873421"/>
            <a:ext cx="10164962" cy="1200329"/>
          </a:xfrm>
          <a:prstGeom prst="rect">
            <a:avLst/>
          </a:prstGeom>
          <a:noFill/>
        </p:spPr>
        <p:txBody>
          <a:bodyPr wrap="none" rtlCol="0">
            <a:spAutoFit/>
          </a:bodyPr>
          <a:lstStyle/>
          <a:p>
            <a:r>
              <a:rPr kumimoji="1" lang="ja-JP" altLang="en-US" u="sng" dirty="0">
                <a:latin typeface="BIZ UDPゴシック" panose="020B0400000000000000" pitchFamily="50" charset="-128"/>
                <a:ea typeface="BIZ UDPゴシック" panose="020B0400000000000000" pitchFamily="50" charset="-128"/>
              </a:rPr>
              <a:t>■ パーコストとは</a:t>
            </a:r>
            <a:endParaRPr kumimoji="1" lang="en-US" altLang="ja-JP" u="sng" dirty="0">
              <a:latin typeface="BIZ UDPゴシック" panose="020B0400000000000000" pitchFamily="50" charset="-128"/>
              <a:ea typeface="BIZ UDPゴシック" panose="020B0400000000000000" pitchFamily="50" charset="-128"/>
            </a:endParaRPr>
          </a:p>
          <a:p>
            <a:endParaRPr kumimoji="1"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・視聴率１％あたりのコストの事を指します。</a:t>
            </a:r>
            <a:endParaRPr kumimoji="1"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掛け率が、</a:t>
            </a:r>
            <a:r>
              <a:rPr lang="en-US" altLang="ja-JP" dirty="0">
                <a:latin typeface="BIZ UDPゴシック" panose="020B0400000000000000" pitchFamily="50" charset="-128"/>
                <a:ea typeface="BIZ UDPゴシック" panose="020B0400000000000000" pitchFamily="50" charset="-128"/>
              </a:rPr>
              <a:t>CM</a:t>
            </a:r>
            <a:r>
              <a:rPr lang="ja-JP" altLang="en-US" dirty="0">
                <a:latin typeface="BIZ UDPゴシック" panose="020B0400000000000000" pitchFamily="50" charset="-128"/>
                <a:ea typeface="BIZ UDPゴシック" panose="020B0400000000000000" pitchFamily="50" charset="-128"/>
              </a:rPr>
              <a:t>の本数を買うのに対し、パーコスト取得の場合は合計視聴率を購入する事になります。</a:t>
            </a:r>
            <a:endParaRPr kumimoji="1" lang="en-US" altLang="ja-JP" dirty="0">
              <a:latin typeface="BIZ UDPゴシック" panose="020B0400000000000000" pitchFamily="50" charset="-128"/>
              <a:ea typeface="BIZ UDPゴシック" panose="020B0400000000000000" pitchFamily="50" charset="-128"/>
            </a:endParaRPr>
          </a:p>
        </p:txBody>
      </p:sp>
      <p:sp>
        <p:nvSpPr>
          <p:cNvPr id="2" name="テキスト ボックス 1">
            <a:extLst>
              <a:ext uri="{FF2B5EF4-FFF2-40B4-BE49-F238E27FC236}">
                <a16:creationId xmlns:a16="http://schemas.microsoft.com/office/drawing/2014/main" id="{9CFEBCC5-CCBB-B2A7-73C5-54E0BF0AA0FA}"/>
              </a:ext>
            </a:extLst>
          </p:cNvPr>
          <p:cNvSpPr txBox="1"/>
          <p:nvPr/>
        </p:nvSpPr>
        <p:spPr>
          <a:xfrm>
            <a:off x="92294" y="2365353"/>
            <a:ext cx="9857186" cy="1200329"/>
          </a:xfrm>
          <a:prstGeom prst="rect">
            <a:avLst/>
          </a:prstGeom>
          <a:noFill/>
        </p:spPr>
        <p:txBody>
          <a:bodyPr wrap="none" rtlCol="0">
            <a:spAutoFit/>
          </a:bodyPr>
          <a:lstStyle/>
          <a:p>
            <a:r>
              <a:rPr kumimoji="1" lang="ja-JP" altLang="en-US" u="sng" dirty="0">
                <a:latin typeface="BIZ UDPゴシック" panose="020B0400000000000000" pitchFamily="50" charset="-128"/>
                <a:ea typeface="BIZ UDPゴシック" panose="020B0400000000000000" pitchFamily="50" charset="-128"/>
              </a:rPr>
              <a:t>■ 視聴率からどのくらい視聴されているかを算出する計算方法</a:t>
            </a:r>
            <a:endParaRPr kumimoji="1" lang="en-US" altLang="ja-JP" u="sng" dirty="0">
              <a:latin typeface="BIZ UDPゴシック" panose="020B0400000000000000" pitchFamily="50" charset="-128"/>
              <a:ea typeface="BIZ UDPゴシック" panose="020B0400000000000000" pitchFamily="50" charset="-128"/>
            </a:endParaRPr>
          </a:p>
          <a:p>
            <a:endParaRPr kumimoji="1"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・テレビ視聴率については、現在個人視聴率（</a:t>
            </a:r>
            <a:r>
              <a:rPr kumimoji="1" lang="en-US" altLang="ja-JP" dirty="0">
                <a:latin typeface="BIZ UDPゴシック" panose="020B0400000000000000" pitchFamily="50" charset="-128"/>
                <a:ea typeface="BIZ UDPゴシック" panose="020B0400000000000000" pitchFamily="50" charset="-128"/>
              </a:rPr>
              <a:t>PRP</a:t>
            </a:r>
            <a:r>
              <a:rPr kumimoji="1" lang="ja-JP" altLang="en-US" dirty="0">
                <a:latin typeface="BIZ UDPゴシック" panose="020B0400000000000000" pitchFamily="50" charset="-128"/>
                <a:ea typeface="BIZ UDPゴシック" panose="020B0400000000000000" pitchFamily="50" charset="-128"/>
              </a:rPr>
              <a:t>）が主流となっております。</a:t>
            </a:r>
            <a:endParaRPr kumimoji="1"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各世代、男女での属性視聴率も取得が可能で、</a:t>
            </a:r>
            <a:r>
              <a:rPr lang="en-US" altLang="ja-JP" dirty="0">
                <a:latin typeface="BIZ UDPゴシック" panose="020B0400000000000000" pitchFamily="50" charset="-128"/>
                <a:ea typeface="BIZ UDPゴシック" panose="020B0400000000000000" pitchFamily="50" charset="-128"/>
              </a:rPr>
              <a:t>4</a:t>
            </a:r>
            <a:r>
              <a:rPr lang="ja-JP" altLang="en-US" dirty="0">
                <a:latin typeface="BIZ UDPゴシック" panose="020B0400000000000000" pitchFamily="50" charset="-128"/>
                <a:ea typeface="BIZ UDPゴシック" panose="020B0400000000000000" pitchFamily="50" charset="-128"/>
              </a:rPr>
              <a:t>歳以上の県民を対象に取得を行っております。</a:t>
            </a:r>
            <a:endParaRPr kumimoji="1" lang="en-US" altLang="ja-JP" dirty="0">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BCAF5BA7-4918-0B1A-E5A0-49A7943E88B3}"/>
              </a:ext>
            </a:extLst>
          </p:cNvPr>
          <p:cNvSpPr txBox="1"/>
          <p:nvPr/>
        </p:nvSpPr>
        <p:spPr>
          <a:xfrm>
            <a:off x="92294" y="3832233"/>
            <a:ext cx="10067180" cy="923330"/>
          </a:xfrm>
          <a:prstGeom prst="rect">
            <a:avLst/>
          </a:prstGeom>
          <a:solidFill>
            <a:schemeClr val="tx2">
              <a:lumMod val="10000"/>
              <a:lumOff val="90000"/>
            </a:schemeClr>
          </a:solid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１％あたりの視聴率　＝　約</a:t>
            </a:r>
            <a:r>
              <a:rPr kumimoji="1" lang="en-US" altLang="ja-JP" dirty="0">
                <a:latin typeface="BIZ UDPゴシック" panose="020B0400000000000000" pitchFamily="50" charset="-128"/>
                <a:ea typeface="BIZ UDPゴシック" panose="020B0400000000000000" pitchFamily="50" charset="-128"/>
              </a:rPr>
              <a:t>1,400,000</a:t>
            </a:r>
            <a:r>
              <a:rPr kumimoji="1" lang="ja-JP" altLang="en-US" dirty="0">
                <a:latin typeface="BIZ UDPゴシック" panose="020B0400000000000000" pitchFamily="50" charset="-128"/>
                <a:ea typeface="BIZ UDPゴシック" panose="020B0400000000000000" pitchFamily="50" charset="-128"/>
              </a:rPr>
              <a:t>人（沖縄全体の</a:t>
            </a:r>
            <a:r>
              <a:rPr kumimoji="1" lang="en-US" altLang="ja-JP" dirty="0">
                <a:latin typeface="BIZ UDPゴシック" panose="020B0400000000000000" pitchFamily="50" charset="-128"/>
                <a:ea typeface="BIZ UDPゴシック" panose="020B0400000000000000" pitchFamily="50" charset="-128"/>
              </a:rPr>
              <a:t>4</a:t>
            </a:r>
            <a:r>
              <a:rPr kumimoji="1" lang="ja-JP" altLang="en-US" dirty="0">
                <a:latin typeface="BIZ UDPゴシック" panose="020B0400000000000000" pitchFamily="50" charset="-128"/>
                <a:ea typeface="BIZ UDPゴシック" panose="020B0400000000000000" pitchFamily="50" charset="-128"/>
              </a:rPr>
              <a:t>歳以上人口）</a:t>
            </a:r>
            <a:r>
              <a:rPr kumimoji="1" lang="en-US" altLang="ja-JP" dirty="0">
                <a:latin typeface="BIZ UDPゴシック" panose="020B0400000000000000" pitchFamily="50" charset="-128"/>
                <a:ea typeface="BIZ UDPゴシック" panose="020B0400000000000000" pitchFamily="50" charset="-128"/>
              </a:rPr>
              <a:t>×0.01</a:t>
            </a:r>
            <a:r>
              <a:rPr kumimoji="1" lang="ja-JP" altLang="en-US" dirty="0">
                <a:latin typeface="BIZ UDPゴシック" panose="020B0400000000000000" pitchFamily="50" charset="-128"/>
                <a:ea typeface="BIZ UDPゴシック" panose="020B0400000000000000" pitchFamily="50" charset="-128"/>
              </a:rPr>
              <a:t>　＝　約</a:t>
            </a:r>
            <a:r>
              <a:rPr kumimoji="1" lang="en-US" altLang="ja-JP" dirty="0">
                <a:latin typeface="BIZ UDPゴシック" panose="020B0400000000000000" pitchFamily="50" charset="-128"/>
                <a:ea typeface="BIZ UDPゴシック" panose="020B0400000000000000" pitchFamily="50" charset="-128"/>
              </a:rPr>
              <a:t>14,000</a:t>
            </a:r>
            <a:r>
              <a:rPr kumimoji="1" lang="ja-JP" altLang="en-US" dirty="0">
                <a:latin typeface="BIZ UDPゴシック" panose="020B0400000000000000" pitchFamily="50" charset="-128"/>
                <a:ea typeface="BIZ UDPゴシック" panose="020B0400000000000000" pitchFamily="50" charset="-128"/>
              </a:rPr>
              <a:t>人</a:t>
            </a:r>
            <a:endParaRPr kumimoji="1" lang="en-US" altLang="ja-JP" dirty="0">
              <a:latin typeface="BIZ UDPゴシック" panose="020B0400000000000000" pitchFamily="50" charset="-128"/>
              <a:ea typeface="BIZ UDPゴシック" panose="020B0400000000000000" pitchFamily="50" charset="-128"/>
            </a:endParaRPr>
          </a:p>
          <a:p>
            <a:endParaRPr kumimoji="1"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視聴率</a:t>
            </a:r>
            <a:r>
              <a:rPr kumimoji="1" lang="en-US" altLang="ja-JP" dirty="0">
                <a:latin typeface="BIZ UDPゴシック" panose="020B0400000000000000" pitchFamily="50" charset="-128"/>
                <a:ea typeface="BIZ UDPゴシック" panose="020B0400000000000000" pitchFamily="50" charset="-128"/>
              </a:rPr>
              <a:t>8.5</a:t>
            </a:r>
            <a:r>
              <a:rPr kumimoji="1" lang="ja-JP" altLang="en-US" dirty="0">
                <a:latin typeface="BIZ UDPゴシック" panose="020B0400000000000000" pitchFamily="50" charset="-128"/>
                <a:ea typeface="BIZ UDPゴシック" panose="020B0400000000000000" pitchFamily="50" charset="-128"/>
              </a:rPr>
              <a:t>％の場合は、</a:t>
            </a:r>
            <a:r>
              <a:rPr kumimoji="1" lang="en-US" altLang="ja-JP" dirty="0">
                <a:latin typeface="BIZ UDPゴシック" panose="020B0400000000000000" pitchFamily="50" charset="-128"/>
                <a:ea typeface="BIZ UDPゴシック" panose="020B0400000000000000" pitchFamily="50" charset="-128"/>
              </a:rPr>
              <a:t>8.5×14,000</a:t>
            </a:r>
            <a:r>
              <a:rPr kumimoji="1" lang="ja-JP" altLang="en-US" dirty="0">
                <a:latin typeface="BIZ UDPゴシック" panose="020B0400000000000000" pitchFamily="50" charset="-128"/>
                <a:ea typeface="BIZ UDPゴシック" panose="020B0400000000000000" pitchFamily="50" charset="-128"/>
              </a:rPr>
              <a:t>人で</a:t>
            </a:r>
            <a:r>
              <a:rPr kumimoji="1" lang="en-US" altLang="ja-JP" dirty="0">
                <a:latin typeface="BIZ UDPゴシック" panose="020B0400000000000000" pitchFamily="50" charset="-128"/>
                <a:ea typeface="BIZ UDPゴシック" panose="020B0400000000000000" pitchFamily="50" charset="-128"/>
              </a:rPr>
              <a:t>119,000</a:t>
            </a:r>
            <a:r>
              <a:rPr kumimoji="1" lang="ja-JP" altLang="en-US" dirty="0">
                <a:latin typeface="BIZ UDPゴシック" panose="020B0400000000000000" pitchFamily="50" charset="-128"/>
                <a:ea typeface="BIZ UDPゴシック" panose="020B0400000000000000" pitchFamily="50" charset="-128"/>
              </a:rPr>
              <a:t>人の視聴が獲得できている計算となります。</a:t>
            </a:r>
            <a:endParaRPr kumimoji="1" lang="en-US" altLang="ja-JP" dirty="0">
              <a:latin typeface="BIZ UDPゴシック" panose="020B0400000000000000" pitchFamily="50" charset="-128"/>
              <a:ea typeface="BIZ UDPゴシック" panose="020B0400000000000000" pitchFamily="50" charset="-128"/>
            </a:endParaRPr>
          </a:p>
        </p:txBody>
      </p:sp>
      <p:pic>
        <p:nvPicPr>
          <p:cNvPr id="7" name="図 6">
            <a:extLst>
              <a:ext uri="{FF2B5EF4-FFF2-40B4-BE49-F238E27FC236}">
                <a16:creationId xmlns:a16="http://schemas.microsoft.com/office/drawing/2014/main" id="{9CA96B44-B357-EA4C-D43F-C3A8AB3948E9}"/>
              </a:ext>
            </a:extLst>
          </p:cNvPr>
          <p:cNvPicPr>
            <a:picLocks noChangeAspect="1"/>
          </p:cNvPicPr>
          <p:nvPr/>
        </p:nvPicPr>
        <p:blipFill>
          <a:blip r:embed="rId2"/>
          <a:stretch>
            <a:fillRect/>
          </a:stretch>
        </p:blipFill>
        <p:spPr>
          <a:xfrm>
            <a:off x="332509" y="5566610"/>
            <a:ext cx="1640209" cy="899078"/>
          </a:xfrm>
          <a:prstGeom prst="rect">
            <a:avLst/>
          </a:prstGeom>
        </p:spPr>
      </p:pic>
      <p:sp>
        <p:nvSpPr>
          <p:cNvPr id="8" name="楕円 7">
            <a:extLst>
              <a:ext uri="{FF2B5EF4-FFF2-40B4-BE49-F238E27FC236}">
                <a16:creationId xmlns:a16="http://schemas.microsoft.com/office/drawing/2014/main" id="{07D63E46-95AF-DF85-08BE-EB1987D496F0}"/>
              </a:ext>
            </a:extLst>
          </p:cNvPr>
          <p:cNvSpPr/>
          <p:nvPr/>
        </p:nvSpPr>
        <p:spPr>
          <a:xfrm>
            <a:off x="108919" y="5484876"/>
            <a:ext cx="1902761" cy="980812"/>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B6429FA2-B25F-1BCA-F7A0-19C11CB1228A}"/>
              </a:ext>
            </a:extLst>
          </p:cNvPr>
          <p:cNvPicPr>
            <a:picLocks noChangeAspect="1"/>
          </p:cNvPicPr>
          <p:nvPr/>
        </p:nvPicPr>
        <p:blipFill>
          <a:blip r:embed="rId2"/>
          <a:stretch>
            <a:fillRect/>
          </a:stretch>
        </p:blipFill>
        <p:spPr>
          <a:xfrm>
            <a:off x="3165091" y="5566610"/>
            <a:ext cx="1640209" cy="899078"/>
          </a:xfrm>
          <a:prstGeom prst="rect">
            <a:avLst/>
          </a:prstGeom>
        </p:spPr>
      </p:pic>
      <p:sp>
        <p:nvSpPr>
          <p:cNvPr id="10" name="楕円 9">
            <a:extLst>
              <a:ext uri="{FF2B5EF4-FFF2-40B4-BE49-F238E27FC236}">
                <a16:creationId xmlns:a16="http://schemas.microsoft.com/office/drawing/2014/main" id="{18542F70-FD0E-D318-78E5-CBDB3343885E}"/>
              </a:ext>
            </a:extLst>
          </p:cNvPr>
          <p:cNvSpPr/>
          <p:nvPr/>
        </p:nvSpPr>
        <p:spPr>
          <a:xfrm>
            <a:off x="4165531" y="5484876"/>
            <a:ext cx="423096" cy="980812"/>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右 10">
            <a:extLst>
              <a:ext uri="{FF2B5EF4-FFF2-40B4-BE49-F238E27FC236}">
                <a16:creationId xmlns:a16="http://schemas.microsoft.com/office/drawing/2014/main" id="{50A40057-4A6F-B359-C7EA-5EFC4E288C9E}"/>
              </a:ext>
            </a:extLst>
          </p:cNvPr>
          <p:cNvSpPr/>
          <p:nvPr/>
        </p:nvSpPr>
        <p:spPr>
          <a:xfrm>
            <a:off x="2340676" y="5745333"/>
            <a:ext cx="581891" cy="541631"/>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40FE8624-A6C9-1927-0C25-509E637AD823}"/>
              </a:ext>
            </a:extLst>
          </p:cNvPr>
          <p:cNvSpPr txBox="1"/>
          <p:nvPr/>
        </p:nvSpPr>
        <p:spPr>
          <a:xfrm>
            <a:off x="332509" y="4971745"/>
            <a:ext cx="4427815" cy="369332"/>
          </a:xfrm>
          <a:prstGeom prst="rect">
            <a:avLst/>
          </a:prstGeom>
          <a:noFill/>
        </p:spPr>
        <p:txBody>
          <a:bodyPr wrap="none" rtlCol="0">
            <a:spAutoFit/>
          </a:bodyPr>
          <a:lstStyle/>
          <a:p>
            <a:r>
              <a:rPr kumimoji="1" lang="ja-JP" altLang="en-US" dirty="0">
                <a:solidFill>
                  <a:srgbClr val="C00000"/>
                </a:solidFill>
                <a:latin typeface="BIZ UDPゴシック" panose="020B0400000000000000" pitchFamily="50" charset="-128"/>
                <a:ea typeface="BIZ UDPゴシック" panose="020B0400000000000000" pitchFamily="50" charset="-128"/>
              </a:rPr>
              <a:t>視聴率は「世帯視聴率」から「個人視聴率へ</a:t>
            </a:r>
          </a:p>
        </p:txBody>
      </p:sp>
      <p:sp>
        <p:nvSpPr>
          <p:cNvPr id="14" name="正方形/長方形 13">
            <a:extLst>
              <a:ext uri="{FF2B5EF4-FFF2-40B4-BE49-F238E27FC236}">
                <a16:creationId xmlns:a16="http://schemas.microsoft.com/office/drawing/2014/main" id="{A47368D4-8BB4-082B-CB00-7A24D099E560}"/>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4C4E1F1-BA8E-CD7A-119A-B7EA9A24BBD3}"/>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スライド番号プレースホルダー 10">
            <a:extLst>
              <a:ext uri="{FF2B5EF4-FFF2-40B4-BE49-F238E27FC236}">
                <a16:creationId xmlns:a16="http://schemas.microsoft.com/office/drawing/2014/main" id="{B6EBE562-1F3A-E036-B1C9-0172ED733538}"/>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4</a:t>
            </a:fld>
            <a:endParaRPr lang="ja-JP" altLang="en-US"/>
          </a:p>
        </p:txBody>
      </p:sp>
    </p:spTree>
    <p:extLst>
      <p:ext uri="{BB962C8B-B14F-4D97-AF65-F5344CB8AC3E}">
        <p14:creationId xmlns:p14="http://schemas.microsoft.com/office/powerpoint/2010/main" val="2735696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25">
            <a:extLst>
              <a:ext uri="{FF2B5EF4-FFF2-40B4-BE49-F238E27FC236}">
                <a16:creationId xmlns:a16="http://schemas.microsoft.com/office/drawing/2014/main" id="{906FCF87-4AEF-CC8C-8C96-4C8A29361F52}"/>
              </a:ext>
            </a:extLst>
          </p:cNvPr>
          <p:cNvSpPr/>
          <p:nvPr/>
        </p:nvSpPr>
        <p:spPr>
          <a:xfrm>
            <a:off x="92294" y="4767957"/>
            <a:ext cx="4041295" cy="4552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4156907"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＞＞パーコストでの</a:t>
            </a:r>
            <a:r>
              <a:rPr kumimoji="1" lang="en-US" altLang="ja-JP" dirty="0">
                <a:latin typeface="BIZ UDPゴシック" panose="020B0400000000000000" pitchFamily="50" charset="-128"/>
                <a:ea typeface="BIZ UDPゴシック" panose="020B0400000000000000" pitchFamily="50" charset="-128"/>
              </a:rPr>
              <a:t>CM</a:t>
            </a:r>
            <a:r>
              <a:rPr kumimoji="1" lang="ja-JP" altLang="en-US" dirty="0">
                <a:latin typeface="BIZ UDPゴシック" panose="020B0400000000000000" pitchFamily="50" charset="-128"/>
                <a:ea typeface="BIZ UDPゴシック" panose="020B0400000000000000" pitchFamily="50" charset="-128"/>
              </a:rPr>
              <a:t>枠取得について</a:t>
            </a:r>
          </a:p>
        </p:txBody>
      </p:sp>
      <p:sp>
        <p:nvSpPr>
          <p:cNvPr id="3" name="テキスト ボックス 2">
            <a:extLst>
              <a:ext uri="{FF2B5EF4-FFF2-40B4-BE49-F238E27FC236}">
                <a16:creationId xmlns:a16="http://schemas.microsoft.com/office/drawing/2014/main" id="{A635D3F6-D9E0-838C-3953-705B0D9A71B2}"/>
              </a:ext>
            </a:extLst>
          </p:cNvPr>
          <p:cNvSpPr txBox="1"/>
          <p:nvPr/>
        </p:nvSpPr>
        <p:spPr>
          <a:xfrm>
            <a:off x="92294" y="873421"/>
            <a:ext cx="8765541" cy="1477328"/>
          </a:xfrm>
          <a:prstGeom prst="rect">
            <a:avLst/>
          </a:prstGeom>
          <a:noFill/>
        </p:spPr>
        <p:txBody>
          <a:bodyPr wrap="none" rtlCol="0">
            <a:spAutoFit/>
          </a:bodyPr>
          <a:lstStyle/>
          <a:p>
            <a:r>
              <a:rPr kumimoji="1" lang="ja-JP" altLang="en-US" u="sng" dirty="0">
                <a:latin typeface="BIZ UDPゴシック" panose="020B0400000000000000" pitchFamily="50" charset="-128"/>
                <a:ea typeface="BIZ UDPゴシック" panose="020B0400000000000000" pitchFamily="50" charset="-128"/>
              </a:rPr>
              <a:t>■ パーコスト取得のメリット</a:t>
            </a:r>
            <a:endParaRPr kumimoji="1" lang="en-US" altLang="ja-JP" u="sng" dirty="0">
              <a:latin typeface="BIZ UDPゴシック" panose="020B0400000000000000" pitchFamily="50" charset="-128"/>
              <a:ea typeface="BIZ UDPゴシック" panose="020B0400000000000000" pitchFamily="50" charset="-128"/>
            </a:endParaRPr>
          </a:p>
          <a:p>
            <a:endParaRPr kumimoji="1"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・どれくらいの視聴者へ</a:t>
            </a:r>
            <a:r>
              <a:rPr kumimoji="1" lang="en-US" altLang="ja-JP" dirty="0">
                <a:latin typeface="BIZ UDPゴシック" panose="020B0400000000000000" pitchFamily="50" charset="-128"/>
                <a:ea typeface="BIZ UDPゴシック" panose="020B0400000000000000" pitchFamily="50" charset="-128"/>
              </a:rPr>
              <a:t>CM</a:t>
            </a:r>
            <a:r>
              <a:rPr kumimoji="1" lang="ja-JP" altLang="en-US" dirty="0">
                <a:latin typeface="BIZ UDPゴシック" panose="020B0400000000000000" pitchFamily="50" charset="-128"/>
                <a:ea typeface="BIZ UDPゴシック" panose="020B0400000000000000" pitchFamily="50" charset="-128"/>
              </a:rPr>
              <a:t>を届けるか、指標を元にオンエア設計が行いやすい。</a:t>
            </a:r>
            <a:endParaRPr kumimoji="1"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・リーチ（どれだけの人が</a:t>
            </a:r>
            <a:r>
              <a:rPr kumimoji="1" lang="en-US" altLang="ja-JP" dirty="0">
                <a:latin typeface="BIZ UDPゴシック" panose="020B0400000000000000" pitchFamily="50" charset="-128"/>
                <a:ea typeface="BIZ UDPゴシック" panose="020B0400000000000000" pitchFamily="50" charset="-128"/>
              </a:rPr>
              <a:t>CM</a:t>
            </a:r>
            <a:r>
              <a:rPr kumimoji="1" lang="ja-JP" altLang="en-US" dirty="0">
                <a:latin typeface="BIZ UDPゴシック" panose="020B0400000000000000" pitchFamily="50" charset="-128"/>
                <a:ea typeface="BIZ UDPゴシック" panose="020B0400000000000000" pitchFamily="50" charset="-128"/>
              </a:rPr>
              <a:t>を見たか）、フリークエンシー（接触回数）を容易に測れる。</a:t>
            </a:r>
            <a:endParaRPr kumimoji="1"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・掛率取得と違い、放送番組などによる獲得できる視聴率のぶれが少ない。</a:t>
            </a:r>
            <a:endParaRPr kumimoji="1" lang="en-US" altLang="ja-JP" dirty="0">
              <a:latin typeface="BIZ UDPゴシック" panose="020B0400000000000000" pitchFamily="50" charset="-128"/>
              <a:ea typeface="BIZ UDPゴシック" panose="020B0400000000000000" pitchFamily="50" charset="-128"/>
            </a:endParaRPr>
          </a:p>
        </p:txBody>
      </p:sp>
      <p:pic>
        <p:nvPicPr>
          <p:cNvPr id="5" name="図 4">
            <a:extLst>
              <a:ext uri="{FF2B5EF4-FFF2-40B4-BE49-F238E27FC236}">
                <a16:creationId xmlns:a16="http://schemas.microsoft.com/office/drawing/2014/main" id="{BB75B2B5-771C-CF7D-898F-B1D017435358}"/>
              </a:ext>
            </a:extLst>
          </p:cNvPr>
          <p:cNvPicPr>
            <a:picLocks noChangeAspect="1"/>
          </p:cNvPicPr>
          <p:nvPr/>
        </p:nvPicPr>
        <p:blipFill>
          <a:blip r:embed="rId2"/>
          <a:stretch>
            <a:fillRect/>
          </a:stretch>
        </p:blipFill>
        <p:spPr>
          <a:xfrm>
            <a:off x="3562459" y="2727017"/>
            <a:ext cx="8538101" cy="1780235"/>
          </a:xfrm>
          <a:prstGeom prst="rect">
            <a:avLst/>
          </a:prstGeom>
        </p:spPr>
      </p:pic>
      <p:sp>
        <p:nvSpPr>
          <p:cNvPr id="12" name="テキスト ボックス 11">
            <a:extLst>
              <a:ext uri="{FF2B5EF4-FFF2-40B4-BE49-F238E27FC236}">
                <a16:creationId xmlns:a16="http://schemas.microsoft.com/office/drawing/2014/main" id="{5B227E10-717C-759E-6F30-BD3CC5987261}"/>
              </a:ext>
            </a:extLst>
          </p:cNvPr>
          <p:cNvSpPr txBox="1"/>
          <p:nvPr/>
        </p:nvSpPr>
        <p:spPr>
          <a:xfrm>
            <a:off x="92294" y="2832304"/>
            <a:ext cx="3584636" cy="1569660"/>
          </a:xfrm>
          <a:prstGeom prst="rect">
            <a:avLst/>
          </a:prstGeom>
          <a:noFill/>
        </p:spPr>
        <p:txBody>
          <a:bodyPr wrap="none" rtlCol="0">
            <a:spAutoFit/>
          </a:bodyPr>
          <a:lstStyle/>
          <a:p>
            <a:r>
              <a:rPr kumimoji="1" lang="ja-JP" altLang="en-US" sz="1600" b="1" dirty="0">
                <a:latin typeface="BIZ UDPゴシック" panose="020B0400000000000000" pitchFamily="50" charset="-128"/>
                <a:ea typeface="BIZ UDPゴシック" panose="020B0400000000000000" pitchFamily="50" charset="-128"/>
              </a:rPr>
              <a:t>通常、掛率取得だと</a:t>
            </a:r>
            <a:endParaRPr kumimoji="1" lang="en-US" altLang="ja-JP" sz="1600" b="1" dirty="0">
              <a:latin typeface="BIZ UDPゴシック" panose="020B0400000000000000" pitchFamily="50" charset="-128"/>
              <a:ea typeface="BIZ UDPゴシック" panose="020B0400000000000000" pitchFamily="50" charset="-128"/>
            </a:endParaRPr>
          </a:p>
          <a:p>
            <a:r>
              <a:rPr lang="en-US" altLang="ja-JP" sz="1600" b="1" dirty="0">
                <a:latin typeface="BIZ UDPゴシック" panose="020B0400000000000000" pitchFamily="50" charset="-128"/>
                <a:ea typeface="BIZ UDPゴシック" panose="020B0400000000000000" pitchFamily="50" charset="-128"/>
              </a:rPr>
              <a:t>A</a:t>
            </a:r>
            <a:r>
              <a:rPr lang="ja-JP" altLang="en-US" sz="1600" b="1" dirty="0">
                <a:latin typeface="BIZ UDPゴシック" panose="020B0400000000000000" pitchFamily="50" charset="-128"/>
                <a:ea typeface="BIZ UDPゴシック" panose="020B0400000000000000" pitchFamily="50" charset="-128"/>
              </a:rPr>
              <a:t>タイム</a:t>
            </a:r>
            <a:r>
              <a:rPr lang="en-US" altLang="ja-JP" sz="1600" b="1" dirty="0">
                <a:latin typeface="BIZ UDPゴシック" panose="020B0400000000000000" pitchFamily="50" charset="-128"/>
                <a:ea typeface="BIZ UDPゴシック" panose="020B0400000000000000" pitchFamily="50" charset="-128"/>
              </a:rPr>
              <a:t>×8</a:t>
            </a:r>
            <a:r>
              <a:rPr lang="ja-JP" altLang="en-US" sz="1600" b="1" dirty="0">
                <a:latin typeface="BIZ UDPゴシック" panose="020B0400000000000000" pitchFamily="50" charset="-128"/>
                <a:ea typeface="BIZ UDPゴシック" panose="020B0400000000000000" pitchFamily="50" charset="-128"/>
              </a:rPr>
              <a:t>本などと表示されるが、</a:t>
            </a:r>
            <a:endParaRPr lang="en-US" altLang="ja-JP" sz="1600" b="1" dirty="0">
              <a:latin typeface="BIZ UDPゴシック" panose="020B0400000000000000" pitchFamily="50" charset="-128"/>
              <a:ea typeface="BIZ UDPゴシック" panose="020B0400000000000000" pitchFamily="50" charset="-128"/>
            </a:endParaRPr>
          </a:p>
          <a:p>
            <a:r>
              <a:rPr kumimoji="1" lang="ja-JP" altLang="en-US" sz="1600" b="1" dirty="0">
                <a:latin typeface="BIZ UDPゴシック" panose="020B0400000000000000" pitchFamily="50" charset="-128"/>
                <a:ea typeface="BIZ UDPゴシック" panose="020B0400000000000000" pitchFamily="50" charset="-128"/>
              </a:rPr>
              <a:t>同じ</a:t>
            </a:r>
            <a:r>
              <a:rPr kumimoji="1" lang="en-US" altLang="ja-JP" sz="1600" b="1" dirty="0">
                <a:latin typeface="BIZ UDPゴシック" panose="020B0400000000000000" pitchFamily="50" charset="-128"/>
                <a:ea typeface="BIZ UDPゴシック" panose="020B0400000000000000" pitchFamily="50" charset="-128"/>
              </a:rPr>
              <a:t>A</a:t>
            </a:r>
            <a:r>
              <a:rPr kumimoji="1" lang="ja-JP" altLang="en-US" sz="1600" b="1" dirty="0">
                <a:latin typeface="BIZ UDPゴシック" panose="020B0400000000000000" pitchFamily="50" charset="-128"/>
                <a:ea typeface="BIZ UDPゴシック" panose="020B0400000000000000" pitchFamily="50" charset="-128"/>
              </a:rPr>
              <a:t>タイムでも流れる番組によって</a:t>
            </a:r>
            <a:endParaRPr kumimoji="1" lang="en-US" altLang="ja-JP" sz="1600" b="1" dirty="0">
              <a:latin typeface="BIZ UDPゴシック" panose="020B0400000000000000" pitchFamily="50" charset="-128"/>
              <a:ea typeface="BIZ UDPゴシック" panose="020B0400000000000000" pitchFamily="50" charset="-128"/>
            </a:endParaRPr>
          </a:p>
          <a:p>
            <a:r>
              <a:rPr lang="ja-JP" altLang="en-US" sz="1600" b="1" dirty="0">
                <a:latin typeface="BIZ UDPゴシック" panose="020B0400000000000000" pitchFamily="50" charset="-128"/>
                <a:ea typeface="BIZ UDPゴシック" panose="020B0400000000000000" pitchFamily="50" charset="-128"/>
              </a:rPr>
              <a:t>視聴率が異なります。</a:t>
            </a:r>
            <a:endParaRPr lang="en-US" altLang="ja-JP" sz="1600" b="1" dirty="0">
              <a:latin typeface="BIZ UDPゴシック" panose="020B0400000000000000" pitchFamily="50" charset="-128"/>
              <a:ea typeface="BIZ UDPゴシック" panose="020B0400000000000000" pitchFamily="50" charset="-128"/>
            </a:endParaRPr>
          </a:p>
          <a:p>
            <a:endParaRPr lang="en-US" altLang="ja-JP" sz="1600" b="1" dirty="0">
              <a:latin typeface="BIZ UDPゴシック" panose="020B0400000000000000" pitchFamily="50" charset="-128"/>
              <a:ea typeface="BIZ UDPゴシック" panose="020B0400000000000000" pitchFamily="50" charset="-128"/>
            </a:endParaRPr>
          </a:p>
          <a:p>
            <a:r>
              <a:rPr kumimoji="1" lang="ja-JP" altLang="en-US" sz="1600" b="1" dirty="0">
                <a:solidFill>
                  <a:srgbClr val="C00000"/>
                </a:solidFill>
                <a:latin typeface="BIZ UDPゴシック" panose="020B0400000000000000" pitchFamily="50" charset="-128"/>
                <a:ea typeface="BIZ UDPゴシック" panose="020B0400000000000000" pitchFamily="50" charset="-128"/>
              </a:rPr>
              <a:t>＝ </a:t>
            </a:r>
            <a:r>
              <a:rPr kumimoji="1" lang="en-US" altLang="ja-JP" sz="1600" b="1" dirty="0">
                <a:solidFill>
                  <a:srgbClr val="C00000"/>
                </a:solidFill>
                <a:latin typeface="BIZ UDPゴシック" panose="020B0400000000000000" pitchFamily="50" charset="-128"/>
                <a:ea typeface="BIZ UDPゴシック" panose="020B0400000000000000" pitchFamily="50" charset="-128"/>
              </a:rPr>
              <a:t>CM</a:t>
            </a:r>
            <a:r>
              <a:rPr kumimoji="1" lang="ja-JP" altLang="en-US" sz="1600" b="1" dirty="0">
                <a:solidFill>
                  <a:srgbClr val="C00000"/>
                </a:solidFill>
                <a:latin typeface="BIZ UDPゴシック" panose="020B0400000000000000" pitchFamily="50" charset="-128"/>
                <a:ea typeface="BIZ UDPゴシック" panose="020B0400000000000000" pitchFamily="50" charset="-128"/>
              </a:rPr>
              <a:t>を観る人数に違いがでます。</a:t>
            </a:r>
            <a:endParaRPr kumimoji="1" lang="en-US" altLang="ja-JP" sz="1600" b="1" dirty="0">
              <a:solidFill>
                <a:srgbClr val="C00000"/>
              </a:solidFill>
              <a:latin typeface="BIZ UDPゴシック" panose="020B0400000000000000" pitchFamily="50" charset="-128"/>
              <a:ea typeface="BIZ UDPゴシック" panose="020B0400000000000000" pitchFamily="50" charset="-128"/>
            </a:endParaRPr>
          </a:p>
        </p:txBody>
      </p:sp>
      <p:sp>
        <p:nvSpPr>
          <p:cNvPr id="15" name="楕円 14">
            <a:extLst>
              <a:ext uri="{FF2B5EF4-FFF2-40B4-BE49-F238E27FC236}">
                <a16:creationId xmlns:a16="http://schemas.microsoft.com/office/drawing/2014/main" id="{52112126-4FD6-AEB9-5A95-AC3640CD0993}"/>
              </a:ext>
            </a:extLst>
          </p:cNvPr>
          <p:cNvSpPr/>
          <p:nvPr/>
        </p:nvSpPr>
        <p:spPr>
          <a:xfrm>
            <a:off x="7200435" y="2906555"/>
            <a:ext cx="533400" cy="533400"/>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E2C50860-FE25-4151-3DE6-E6787E8F94B6}"/>
              </a:ext>
            </a:extLst>
          </p:cNvPr>
          <p:cNvSpPr/>
          <p:nvPr/>
        </p:nvSpPr>
        <p:spPr>
          <a:xfrm>
            <a:off x="4822995" y="2906555"/>
            <a:ext cx="533400" cy="533400"/>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BB612B92-5CA5-F762-DF02-8E7242CB940E}"/>
              </a:ext>
            </a:extLst>
          </p:cNvPr>
          <p:cNvCxnSpPr>
            <a:cxnSpLocks/>
            <a:stCxn id="16" idx="3"/>
          </p:cNvCxnSpPr>
          <p:nvPr/>
        </p:nvCxnSpPr>
        <p:spPr>
          <a:xfrm flipH="1">
            <a:off x="4094480" y="3361840"/>
            <a:ext cx="806630" cy="1626967"/>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E47B317A-16D2-CF22-42FC-524363562953}"/>
              </a:ext>
            </a:extLst>
          </p:cNvPr>
          <p:cNvCxnSpPr>
            <a:cxnSpLocks/>
            <a:stCxn id="15" idx="3"/>
          </p:cNvCxnSpPr>
          <p:nvPr/>
        </p:nvCxnSpPr>
        <p:spPr>
          <a:xfrm flipH="1">
            <a:off x="4112260" y="3361840"/>
            <a:ext cx="3166290" cy="1600697"/>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80390B80-8CE1-1AB6-C77C-E7764C1BEB10}"/>
              </a:ext>
            </a:extLst>
          </p:cNvPr>
          <p:cNvSpPr txBox="1"/>
          <p:nvPr/>
        </p:nvSpPr>
        <p:spPr>
          <a:xfrm>
            <a:off x="129059" y="4810950"/>
            <a:ext cx="12062941" cy="1815882"/>
          </a:xfrm>
          <a:prstGeom prst="rect">
            <a:avLst/>
          </a:prstGeom>
          <a:noFill/>
        </p:spPr>
        <p:txBody>
          <a:bodyPr wrap="square" rtlCol="0">
            <a:spAutoFit/>
          </a:bodyPr>
          <a:lstStyle/>
          <a:p>
            <a:r>
              <a:rPr kumimoji="1" lang="ja-JP" altLang="en-US" sz="1600" b="1" dirty="0">
                <a:solidFill>
                  <a:schemeClr val="bg1"/>
                </a:solidFill>
                <a:latin typeface="BIZ UDPゴシック" panose="020B0400000000000000" pitchFamily="50" charset="-128"/>
                <a:ea typeface="BIZ UDPゴシック" panose="020B0400000000000000" pitchFamily="50" charset="-128"/>
              </a:rPr>
              <a:t>同じ</a:t>
            </a:r>
            <a:r>
              <a:rPr kumimoji="1" lang="en-US" altLang="ja-JP" sz="1600" b="1" dirty="0">
                <a:solidFill>
                  <a:schemeClr val="bg1"/>
                </a:solidFill>
                <a:latin typeface="BIZ UDPゴシック" panose="020B0400000000000000" pitchFamily="50" charset="-128"/>
                <a:ea typeface="BIZ UDPゴシック" panose="020B0400000000000000" pitchFamily="50" charset="-128"/>
              </a:rPr>
              <a:t>A</a:t>
            </a:r>
            <a:r>
              <a:rPr kumimoji="1" lang="ja-JP" altLang="en-US" sz="1600" b="1" dirty="0">
                <a:solidFill>
                  <a:schemeClr val="bg1"/>
                </a:solidFill>
                <a:latin typeface="BIZ UDPゴシック" panose="020B0400000000000000" pitchFamily="50" charset="-128"/>
                <a:ea typeface="BIZ UDPゴシック" panose="020B0400000000000000" pitchFamily="50" charset="-128"/>
              </a:rPr>
              <a:t>タイム</a:t>
            </a:r>
            <a:r>
              <a:rPr kumimoji="1" lang="en-US" altLang="ja-JP" sz="1600" b="1" dirty="0">
                <a:solidFill>
                  <a:schemeClr val="bg1"/>
                </a:solidFill>
                <a:latin typeface="BIZ UDPゴシック" panose="020B0400000000000000" pitchFamily="50" charset="-128"/>
                <a:ea typeface="BIZ UDPゴシック" panose="020B0400000000000000" pitchFamily="50" charset="-128"/>
              </a:rPr>
              <a:t>1</a:t>
            </a:r>
            <a:r>
              <a:rPr kumimoji="1" lang="ja-JP" altLang="en-US" sz="1600" b="1" dirty="0">
                <a:solidFill>
                  <a:schemeClr val="bg1"/>
                </a:solidFill>
                <a:latin typeface="BIZ UDPゴシック" panose="020B0400000000000000" pitchFamily="50" charset="-128"/>
                <a:ea typeface="BIZ UDPゴシック" panose="020B0400000000000000" pitchFamily="50" charset="-128"/>
              </a:rPr>
              <a:t>本でも、視聴率は変わります</a:t>
            </a:r>
            <a:endParaRPr kumimoji="1" lang="en-US" altLang="ja-JP" sz="1600" b="1" dirty="0">
              <a:solidFill>
                <a:schemeClr val="bg1"/>
              </a:solidFill>
              <a:latin typeface="BIZ UDPゴシック" panose="020B0400000000000000" pitchFamily="50" charset="-128"/>
              <a:ea typeface="BIZ UDPゴシック" panose="020B0400000000000000" pitchFamily="50" charset="-128"/>
            </a:endParaRPr>
          </a:p>
          <a:p>
            <a:endParaRPr kumimoji="1" lang="en-US" altLang="ja-JP" sz="1600" b="1" dirty="0">
              <a:latin typeface="BIZ UDPゴシック" panose="020B0400000000000000" pitchFamily="50" charset="-128"/>
              <a:ea typeface="BIZ UDPゴシック" panose="020B0400000000000000" pitchFamily="50" charset="-128"/>
            </a:endParaRPr>
          </a:p>
          <a:p>
            <a:r>
              <a:rPr lang="ja-JP" altLang="en-US" sz="1600" b="1" dirty="0">
                <a:latin typeface="BIZ UDPゴシック" panose="020B0400000000000000" pitchFamily="50" charset="-128"/>
                <a:ea typeface="BIZ UDPゴシック" panose="020B0400000000000000" pitchFamily="50" charset="-128"/>
              </a:rPr>
              <a:t>・視聴率</a:t>
            </a:r>
            <a:r>
              <a:rPr lang="en-US" altLang="ja-JP" sz="1600" b="1" dirty="0">
                <a:latin typeface="BIZ UDPゴシック" panose="020B0400000000000000" pitchFamily="50" charset="-128"/>
                <a:ea typeface="BIZ UDPゴシック" panose="020B0400000000000000" pitchFamily="50" charset="-128"/>
              </a:rPr>
              <a:t>10.2</a:t>
            </a:r>
            <a:r>
              <a:rPr lang="ja-JP" altLang="en-US" sz="1600" b="1" dirty="0">
                <a:latin typeface="BIZ UDPゴシック" panose="020B0400000000000000" pitchFamily="50" charset="-128"/>
                <a:ea typeface="BIZ UDPゴシック" panose="020B0400000000000000" pitchFamily="50" charset="-128"/>
              </a:rPr>
              <a:t>％の場合＝ 沖縄県民　約　</a:t>
            </a:r>
            <a:r>
              <a:rPr lang="en-US" altLang="ja-JP" sz="1600" b="1" dirty="0">
                <a:latin typeface="BIZ UDPゴシック" panose="020B0400000000000000" pitchFamily="50" charset="-128"/>
                <a:ea typeface="BIZ UDPゴシック" panose="020B0400000000000000" pitchFamily="50" charset="-128"/>
              </a:rPr>
              <a:t>142,800</a:t>
            </a:r>
            <a:r>
              <a:rPr lang="ja-JP" altLang="en-US" sz="1600" b="1" dirty="0">
                <a:latin typeface="BIZ UDPゴシック" panose="020B0400000000000000" pitchFamily="50" charset="-128"/>
                <a:ea typeface="BIZ UDPゴシック" panose="020B0400000000000000" pitchFamily="50" charset="-128"/>
              </a:rPr>
              <a:t>人が視聴</a:t>
            </a:r>
            <a:endParaRPr lang="en-US" altLang="ja-JP" sz="1600" b="1" dirty="0">
              <a:latin typeface="BIZ UDPゴシック" panose="020B0400000000000000" pitchFamily="50" charset="-128"/>
              <a:ea typeface="BIZ UDPゴシック" panose="020B0400000000000000" pitchFamily="50" charset="-128"/>
            </a:endParaRPr>
          </a:p>
          <a:p>
            <a:r>
              <a:rPr lang="ja-JP" altLang="en-US" sz="1600" b="1" dirty="0">
                <a:latin typeface="BIZ UDPゴシック" panose="020B0400000000000000" pitchFamily="50" charset="-128"/>
                <a:ea typeface="BIZ UDPゴシック" panose="020B0400000000000000" pitchFamily="50" charset="-128"/>
              </a:rPr>
              <a:t>・視聴率</a:t>
            </a:r>
            <a:r>
              <a:rPr lang="en-US" altLang="ja-JP" sz="1600" b="1" dirty="0">
                <a:latin typeface="BIZ UDPゴシック" panose="020B0400000000000000" pitchFamily="50" charset="-128"/>
                <a:ea typeface="BIZ UDPゴシック" panose="020B0400000000000000" pitchFamily="50" charset="-128"/>
              </a:rPr>
              <a:t>4.6</a:t>
            </a:r>
            <a:r>
              <a:rPr lang="ja-JP" altLang="en-US" sz="1600" b="1" dirty="0">
                <a:latin typeface="BIZ UDPゴシック" panose="020B0400000000000000" pitchFamily="50" charset="-128"/>
                <a:ea typeface="BIZ UDPゴシック" panose="020B0400000000000000" pitchFamily="50" charset="-128"/>
              </a:rPr>
              <a:t>％の場合＝ 沖縄県民　約　</a:t>
            </a:r>
            <a:r>
              <a:rPr lang="en-US" altLang="ja-JP" sz="1600" b="1" dirty="0">
                <a:latin typeface="BIZ UDPゴシック" panose="020B0400000000000000" pitchFamily="50" charset="-128"/>
                <a:ea typeface="BIZ UDPゴシック" panose="020B0400000000000000" pitchFamily="50" charset="-128"/>
              </a:rPr>
              <a:t>64</a:t>
            </a:r>
            <a:r>
              <a:rPr lang="ja-JP" altLang="en-US" sz="1600" b="1" dirty="0">
                <a:latin typeface="BIZ UDPゴシック" panose="020B0400000000000000" pitchFamily="50" charset="-128"/>
                <a:ea typeface="BIZ UDPゴシック" panose="020B0400000000000000" pitchFamily="50" charset="-128"/>
              </a:rPr>
              <a:t>，</a:t>
            </a:r>
            <a:r>
              <a:rPr lang="en-US" altLang="ja-JP" sz="1600" b="1" dirty="0">
                <a:latin typeface="BIZ UDPゴシック" panose="020B0400000000000000" pitchFamily="50" charset="-128"/>
                <a:ea typeface="BIZ UDPゴシック" panose="020B0400000000000000" pitchFamily="50" charset="-128"/>
              </a:rPr>
              <a:t>400</a:t>
            </a:r>
            <a:r>
              <a:rPr lang="ja-JP" altLang="en-US" sz="1600" b="1" dirty="0">
                <a:latin typeface="BIZ UDPゴシック" panose="020B0400000000000000" pitchFamily="50" charset="-128"/>
                <a:ea typeface="BIZ UDPゴシック" panose="020B0400000000000000" pitchFamily="50" charset="-128"/>
              </a:rPr>
              <a:t>人が視聴　　　　　　その差　</a:t>
            </a:r>
            <a:r>
              <a:rPr lang="en-US" altLang="ja-JP" sz="1600" b="1" dirty="0">
                <a:solidFill>
                  <a:srgbClr val="C00000"/>
                </a:solidFill>
                <a:latin typeface="BIZ UDPゴシック" panose="020B0400000000000000" pitchFamily="50" charset="-128"/>
                <a:ea typeface="BIZ UDPゴシック" panose="020B0400000000000000" pitchFamily="50" charset="-128"/>
              </a:rPr>
              <a:t>78,400</a:t>
            </a:r>
            <a:r>
              <a:rPr lang="ja-JP" altLang="en-US" sz="1600" b="1" dirty="0">
                <a:solidFill>
                  <a:srgbClr val="C00000"/>
                </a:solidFill>
                <a:latin typeface="BIZ UDPゴシック" panose="020B0400000000000000" pitchFamily="50" charset="-128"/>
                <a:ea typeface="BIZ UDPゴシック" panose="020B0400000000000000" pitchFamily="50" charset="-128"/>
              </a:rPr>
              <a:t>人　</a:t>
            </a:r>
            <a:r>
              <a:rPr lang="ja-JP" altLang="en-US" sz="1600" b="1" dirty="0">
                <a:latin typeface="BIZ UDPゴシック" panose="020B0400000000000000" pitchFamily="50" charset="-128"/>
                <a:ea typeface="BIZ UDPゴシック" panose="020B0400000000000000" pitchFamily="50" charset="-128"/>
              </a:rPr>
              <a:t>もの視聴差が</a:t>
            </a:r>
            <a:r>
              <a:rPr lang="en-US" altLang="ja-JP" sz="1600" b="1" dirty="0">
                <a:latin typeface="BIZ UDPゴシック" panose="020B0400000000000000" pitchFamily="50" charset="-128"/>
                <a:ea typeface="BIZ UDPゴシック" panose="020B0400000000000000" pitchFamily="50" charset="-128"/>
              </a:rPr>
              <a:t>1</a:t>
            </a:r>
            <a:r>
              <a:rPr lang="ja-JP" altLang="en-US" sz="1600" b="1" dirty="0">
                <a:latin typeface="BIZ UDPゴシック" panose="020B0400000000000000" pitchFamily="50" charset="-128"/>
                <a:ea typeface="BIZ UDPゴシック" panose="020B0400000000000000" pitchFamily="50" charset="-128"/>
              </a:rPr>
              <a:t>本で生じることになります。</a:t>
            </a:r>
            <a:endParaRPr lang="en-US" altLang="ja-JP" sz="1600" b="1" dirty="0">
              <a:latin typeface="BIZ UDPゴシック" panose="020B0400000000000000" pitchFamily="50" charset="-128"/>
              <a:ea typeface="BIZ UDPゴシック" panose="020B0400000000000000" pitchFamily="50" charset="-128"/>
            </a:endParaRPr>
          </a:p>
          <a:p>
            <a:endParaRPr lang="en-US" altLang="ja-JP" sz="1600" b="1" dirty="0">
              <a:latin typeface="BIZ UDPゴシック" panose="020B0400000000000000" pitchFamily="50" charset="-128"/>
              <a:ea typeface="BIZ UDPゴシック" panose="020B0400000000000000" pitchFamily="50" charset="-128"/>
            </a:endParaRPr>
          </a:p>
          <a:p>
            <a:pPr algn="ctr"/>
            <a:r>
              <a:rPr lang="en-US" altLang="ja-JP" sz="1600" b="1" dirty="0">
                <a:highlight>
                  <a:srgbClr val="FFFF00"/>
                </a:highlight>
                <a:latin typeface="BIZ UDPゴシック" panose="020B0400000000000000" pitchFamily="50" charset="-128"/>
                <a:ea typeface="BIZ UDPゴシック" panose="020B0400000000000000" pitchFamily="50" charset="-128"/>
              </a:rPr>
              <a:t>CM</a:t>
            </a:r>
            <a:r>
              <a:rPr lang="ja-JP" altLang="en-US" sz="1600" b="1" dirty="0">
                <a:highlight>
                  <a:srgbClr val="FFFF00"/>
                </a:highlight>
                <a:latin typeface="BIZ UDPゴシック" panose="020B0400000000000000" pitchFamily="50" charset="-128"/>
                <a:ea typeface="BIZ UDPゴシック" panose="020B0400000000000000" pitchFamily="50" charset="-128"/>
              </a:rPr>
              <a:t>到達人数が予測しやすく「投下した予算に対し、どの位の人にリーチを行えているか」を</a:t>
            </a:r>
            <a:endParaRPr lang="en-US" altLang="ja-JP" sz="1600" b="1" dirty="0">
              <a:highlight>
                <a:srgbClr val="FFFF00"/>
              </a:highlight>
              <a:latin typeface="BIZ UDPゴシック" panose="020B0400000000000000" pitchFamily="50" charset="-128"/>
              <a:ea typeface="BIZ UDPゴシック" panose="020B0400000000000000" pitchFamily="50" charset="-128"/>
            </a:endParaRPr>
          </a:p>
          <a:p>
            <a:pPr algn="ctr"/>
            <a:r>
              <a:rPr lang="ja-JP" altLang="en-US" sz="1600" b="1" dirty="0">
                <a:highlight>
                  <a:srgbClr val="FFFF00"/>
                </a:highlight>
                <a:latin typeface="BIZ UDPゴシック" panose="020B0400000000000000" pitchFamily="50" charset="-128"/>
                <a:ea typeface="BIZ UDPゴシック" panose="020B0400000000000000" pitchFamily="50" charset="-128"/>
              </a:rPr>
              <a:t>安定的に測ることが出来るのがパーコスト取得の大きなメリットです。</a:t>
            </a:r>
            <a:endParaRPr lang="en-US" altLang="ja-JP" sz="1600" b="1" dirty="0">
              <a:highlight>
                <a:srgbClr val="FFFF00"/>
              </a:highlight>
              <a:latin typeface="BIZ UDPゴシック" panose="020B0400000000000000" pitchFamily="50" charset="-128"/>
              <a:ea typeface="BIZ UDPゴシック" panose="020B0400000000000000" pitchFamily="50" charset="-128"/>
            </a:endParaRPr>
          </a:p>
        </p:txBody>
      </p:sp>
      <p:sp>
        <p:nvSpPr>
          <p:cNvPr id="33" name="正方形/長方形 32">
            <a:extLst>
              <a:ext uri="{FF2B5EF4-FFF2-40B4-BE49-F238E27FC236}">
                <a16:creationId xmlns:a16="http://schemas.microsoft.com/office/drawing/2014/main" id="{1410D788-918D-021D-3FFE-C683A89E775D}"/>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a:extLst>
              <a:ext uri="{FF2B5EF4-FFF2-40B4-BE49-F238E27FC236}">
                <a16:creationId xmlns:a16="http://schemas.microsoft.com/office/drawing/2014/main" id="{352B3C52-850D-C8A0-143E-413034044FA5}"/>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スライド番号プレースホルダー 10">
            <a:extLst>
              <a:ext uri="{FF2B5EF4-FFF2-40B4-BE49-F238E27FC236}">
                <a16:creationId xmlns:a16="http://schemas.microsoft.com/office/drawing/2014/main" id="{33660239-8DD7-416F-15C9-A7AFA0D3D0DA}"/>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5</a:t>
            </a:fld>
            <a:endParaRPr lang="ja-JP" altLang="en-US"/>
          </a:p>
        </p:txBody>
      </p:sp>
    </p:spTree>
    <p:extLst>
      <p:ext uri="{BB962C8B-B14F-4D97-AF65-F5344CB8AC3E}">
        <p14:creationId xmlns:p14="http://schemas.microsoft.com/office/powerpoint/2010/main" val="1844465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4156907"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＞＞パーコストでの</a:t>
            </a:r>
            <a:r>
              <a:rPr kumimoji="1" lang="en-US" altLang="ja-JP" dirty="0">
                <a:latin typeface="BIZ UDPゴシック" panose="020B0400000000000000" pitchFamily="50" charset="-128"/>
                <a:ea typeface="BIZ UDPゴシック" panose="020B0400000000000000" pitchFamily="50" charset="-128"/>
              </a:rPr>
              <a:t>CM</a:t>
            </a:r>
            <a:r>
              <a:rPr kumimoji="1" lang="ja-JP" altLang="en-US" dirty="0">
                <a:latin typeface="BIZ UDPゴシック" panose="020B0400000000000000" pitchFamily="50" charset="-128"/>
                <a:ea typeface="BIZ UDPゴシック" panose="020B0400000000000000" pitchFamily="50" charset="-128"/>
              </a:rPr>
              <a:t>枠取得について</a:t>
            </a:r>
          </a:p>
        </p:txBody>
      </p:sp>
      <p:sp>
        <p:nvSpPr>
          <p:cNvPr id="3" name="テキスト ボックス 2">
            <a:extLst>
              <a:ext uri="{FF2B5EF4-FFF2-40B4-BE49-F238E27FC236}">
                <a16:creationId xmlns:a16="http://schemas.microsoft.com/office/drawing/2014/main" id="{A635D3F6-D9E0-838C-3953-705B0D9A71B2}"/>
              </a:ext>
            </a:extLst>
          </p:cNvPr>
          <p:cNvSpPr txBox="1"/>
          <p:nvPr/>
        </p:nvSpPr>
        <p:spPr>
          <a:xfrm>
            <a:off x="92295" y="873421"/>
            <a:ext cx="11957744" cy="1200329"/>
          </a:xfrm>
          <a:prstGeom prst="rect">
            <a:avLst/>
          </a:prstGeom>
          <a:noFill/>
        </p:spPr>
        <p:txBody>
          <a:bodyPr wrap="square" rtlCol="0">
            <a:spAutoFit/>
          </a:bodyPr>
          <a:lstStyle/>
          <a:p>
            <a:r>
              <a:rPr kumimoji="1" lang="ja-JP" altLang="en-US" u="sng" dirty="0">
                <a:latin typeface="BIZ UDPゴシック" panose="020B0400000000000000" pitchFamily="50" charset="-128"/>
                <a:ea typeface="BIZ UDPゴシック" panose="020B0400000000000000" pitchFamily="50" charset="-128"/>
              </a:rPr>
              <a:t>■ パーコスト取得での運用イメージ</a:t>
            </a:r>
            <a:endParaRPr kumimoji="1" lang="en-US" altLang="ja-JP" u="sng" dirty="0">
              <a:latin typeface="BIZ UDPゴシック" panose="020B0400000000000000" pitchFamily="50" charset="-128"/>
              <a:ea typeface="BIZ UDPゴシック" panose="020B0400000000000000" pitchFamily="50" charset="-128"/>
            </a:endParaRPr>
          </a:p>
          <a:p>
            <a:endParaRPr kumimoji="1"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・月間どれくらいの視聴数を獲得できるかを予算と併せて視覚化する事で、</a:t>
            </a:r>
            <a:endParaRPr kumimoji="1"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問い合わせ件数とのすり合わせを行い効果検証を行う事が可能。</a:t>
            </a:r>
            <a:endParaRPr kumimoji="1" lang="en-US" altLang="ja-JP" dirty="0">
              <a:latin typeface="BIZ UDPゴシック" panose="020B0400000000000000" pitchFamily="50" charset="-128"/>
              <a:ea typeface="BIZ UDPゴシック" panose="020B0400000000000000" pitchFamily="50" charset="-128"/>
            </a:endParaRPr>
          </a:p>
        </p:txBody>
      </p:sp>
      <p:pic>
        <p:nvPicPr>
          <p:cNvPr id="2" name="図 1">
            <a:extLst>
              <a:ext uri="{FF2B5EF4-FFF2-40B4-BE49-F238E27FC236}">
                <a16:creationId xmlns:a16="http://schemas.microsoft.com/office/drawing/2014/main" id="{1566E6A7-86F4-A409-2E80-1ABD75AD84A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32509" y="2391484"/>
            <a:ext cx="7158055" cy="2458666"/>
          </a:xfrm>
          <a:prstGeom prst="rect">
            <a:avLst/>
          </a:prstGeom>
        </p:spPr>
      </p:pic>
      <p:pic>
        <p:nvPicPr>
          <p:cNvPr id="1026" name="Picture 2">
            <a:extLst>
              <a:ext uri="{FF2B5EF4-FFF2-40B4-BE49-F238E27FC236}">
                <a16:creationId xmlns:a16="http://schemas.microsoft.com/office/drawing/2014/main" id="{A5DAE5B2-D35A-146A-400F-6EEF19DACD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1760" y="2278581"/>
            <a:ext cx="4127731" cy="2736273"/>
          </a:xfrm>
          <a:prstGeom prst="rect">
            <a:avLst/>
          </a:prstGeom>
          <a:noFill/>
          <a:extLst>
            <a:ext uri="{909E8E84-426E-40DD-AFC4-6F175D3DCCD1}">
              <a14:hiddenFill xmlns:a14="http://schemas.microsoft.com/office/drawing/2010/main">
                <a:solidFill>
                  <a:srgbClr val="FFFFFF"/>
                </a:solidFill>
              </a14:hiddenFill>
            </a:ext>
          </a:extLst>
        </p:spPr>
      </p:pic>
      <p:sp>
        <p:nvSpPr>
          <p:cNvPr id="6" name="正方形/長方形 5">
            <a:extLst>
              <a:ext uri="{FF2B5EF4-FFF2-40B4-BE49-F238E27FC236}">
                <a16:creationId xmlns:a16="http://schemas.microsoft.com/office/drawing/2014/main" id="{AEA2377C-F67A-32E1-8799-6DF47D1BD5B7}"/>
              </a:ext>
            </a:extLst>
          </p:cNvPr>
          <p:cNvSpPr/>
          <p:nvPr/>
        </p:nvSpPr>
        <p:spPr>
          <a:xfrm>
            <a:off x="9471660" y="3149600"/>
            <a:ext cx="160020" cy="163576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D9D00BF0-010B-8F17-2638-850D4378C204}"/>
              </a:ext>
            </a:extLst>
          </p:cNvPr>
          <p:cNvSpPr txBox="1"/>
          <p:nvPr/>
        </p:nvSpPr>
        <p:spPr>
          <a:xfrm>
            <a:off x="92295" y="5399803"/>
            <a:ext cx="11957744" cy="1169551"/>
          </a:xfrm>
          <a:prstGeom prst="rect">
            <a:avLst/>
          </a:prstGeom>
          <a:noFill/>
        </p:spPr>
        <p:txBody>
          <a:bodyPr wrap="square" rtlCol="0">
            <a:spAutoFit/>
          </a:bodyPr>
          <a:lstStyle/>
          <a:p>
            <a:r>
              <a:rPr kumimoji="1" lang="ja-JP" altLang="en-US" sz="1400" dirty="0">
                <a:latin typeface="BIZ UDPゴシック" panose="020B0400000000000000" pitchFamily="50" charset="-128"/>
                <a:ea typeface="BIZ UDPゴシック" panose="020B0400000000000000" pitchFamily="50" charset="-128"/>
              </a:rPr>
              <a:t>通常</a:t>
            </a:r>
            <a:r>
              <a:rPr kumimoji="1" lang="en-US" altLang="ja-JP" sz="1400" dirty="0">
                <a:latin typeface="BIZ UDPゴシック" panose="020B0400000000000000" pitchFamily="50" charset="-128"/>
                <a:ea typeface="BIZ UDPゴシック" panose="020B0400000000000000" pitchFamily="50" charset="-128"/>
              </a:rPr>
              <a:t>1</a:t>
            </a:r>
            <a:r>
              <a:rPr kumimoji="1" lang="ja-JP" altLang="en-US" sz="1400" dirty="0">
                <a:latin typeface="BIZ UDPゴシック" panose="020B0400000000000000" pitchFamily="50" charset="-128"/>
                <a:ea typeface="BIZ UDPゴシック" panose="020B0400000000000000" pitchFamily="50" charset="-128"/>
              </a:rPr>
              <a:t>人あたり認知獲得をする際に必要なフリークエンシー（接触回数）は</a:t>
            </a:r>
            <a:endParaRPr kumimoji="1"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３～４回程度とされています。</a:t>
            </a:r>
            <a:endParaRPr lang="en-US" altLang="ja-JP" sz="1400" dirty="0">
              <a:latin typeface="BIZ UDPゴシック" panose="020B0400000000000000" pitchFamily="50" charset="-128"/>
              <a:ea typeface="BIZ UDPゴシック" panose="020B0400000000000000" pitchFamily="50" charset="-128"/>
            </a:endParaRPr>
          </a:p>
          <a:p>
            <a:endParaRPr lang="en-US" altLang="ja-JP" sz="1400" dirty="0">
              <a:latin typeface="BIZ UDPゴシック" panose="020B0400000000000000" pitchFamily="50" charset="-128"/>
              <a:ea typeface="BIZ UDPゴシック" panose="020B0400000000000000" pitchFamily="50" charset="-128"/>
            </a:endParaRPr>
          </a:p>
          <a:p>
            <a:r>
              <a:rPr kumimoji="1" lang="ja-JP" altLang="en-US" sz="1400" dirty="0">
                <a:latin typeface="BIZ UDPゴシック" panose="020B0400000000000000" pitchFamily="50" charset="-128"/>
                <a:ea typeface="BIZ UDPゴシック" panose="020B0400000000000000" pitchFamily="50" charset="-128"/>
              </a:rPr>
              <a:t>例として視聴到達が</a:t>
            </a:r>
            <a:r>
              <a:rPr kumimoji="1" lang="en-US" altLang="ja-JP" sz="1400" dirty="0">
                <a:latin typeface="BIZ UDPゴシック" panose="020B0400000000000000" pitchFamily="50" charset="-128"/>
                <a:ea typeface="BIZ UDPゴシック" panose="020B0400000000000000" pitchFamily="50" charset="-128"/>
              </a:rPr>
              <a:t>10</a:t>
            </a:r>
            <a:r>
              <a:rPr lang="ja-JP" altLang="en-US" sz="1400" dirty="0">
                <a:latin typeface="BIZ UDPゴシック" panose="020B0400000000000000" pitchFamily="50" charset="-128"/>
                <a:ea typeface="BIZ UDPゴシック" panose="020B0400000000000000" pitchFamily="50" charset="-128"/>
              </a:rPr>
              <a:t>回を超えたあたりから他局でのオンエアをかけて違う層へのアプローチを行うなど、</a:t>
            </a:r>
            <a:endParaRPr lang="en-US" altLang="ja-JP" sz="1400" dirty="0">
              <a:latin typeface="BIZ UDPゴシック" panose="020B0400000000000000" pitchFamily="50" charset="-128"/>
              <a:ea typeface="BIZ UDPゴシック" panose="020B0400000000000000" pitchFamily="50" charset="-128"/>
            </a:endParaRPr>
          </a:p>
          <a:p>
            <a:r>
              <a:rPr kumimoji="1" lang="ja-JP" altLang="en-US" sz="1400" dirty="0">
                <a:latin typeface="BIZ UDPゴシック" panose="020B0400000000000000" pitchFamily="50" charset="-128"/>
                <a:ea typeface="BIZ UDPゴシック" panose="020B0400000000000000" pitchFamily="50" charset="-128"/>
              </a:rPr>
              <a:t>視聴到達数を踏まえながら全体のオンエアプランを設計する事が可能です。</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59A6DDBC-223C-9EDF-44E3-B0FCA375FADC}"/>
              </a:ext>
            </a:extLst>
          </p:cNvPr>
          <p:cNvSpPr txBox="1"/>
          <p:nvPr/>
        </p:nvSpPr>
        <p:spPr>
          <a:xfrm>
            <a:off x="9471660" y="4958376"/>
            <a:ext cx="2224185" cy="229494"/>
          </a:xfrm>
          <a:prstGeom prst="rect">
            <a:avLst/>
          </a:prstGeom>
          <a:noFill/>
        </p:spPr>
        <p:txBody>
          <a:bodyPr wrap="square" rtlCol="0">
            <a:spAutoFit/>
          </a:bodyPr>
          <a:lstStyle/>
          <a:p>
            <a:r>
              <a:rPr kumimoji="1" lang="en-US" altLang="ja-JP" sz="900" dirty="0">
                <a:solidFill>
                  <a:srgbClr val="C00000"/>
                </a:solidFill>
                <a:latin typeface="BIZ UDPゴシック" panose="020B0400000000000000" pitchFamily="50" charset="-128"/>
                <a:ea typeface="BIZ UDPゴシック" panose="020B0400000000000000" pitchFamily="50" charset="-128"/>
              </a:rPr>
              <a:t>CM</a:t>
            </a:r>
            <a:r>
              <a:rPr kumimoji="1" lang="ja-JP" altLang="en-US" sz="900" dirty="0">
                <a:solidFill>
                  <a:srgbClr val="C00000"/>
                </a:solidFill>
                <a:latin typeface="BIZ UDPゴシック" panose="020B0400000000000000" pitchFamily="50" charset="-128"/>
                <a:ea typeface="BIZ UDPゴシック" panose="020B0400000000000000" pitchFamily="50" charset="-128"/>
              </a:rPr>
              <a:t>接触回数に伴う到達認知のイメージ</a:t>
            </a:r>
            <a:endParaRPr kumimoji="1" lang="en-US" altLang="ja-JP" sz="900" dirty="0">
              <a:solidFill>
                <a:srgbClr val="C00000"/>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81293D20-5B06-DA68-A175-8F32F431BCCE}"/>
              </a:ext>
            </a:extLst>
          </p:cNvPr>
          <p:cNvSpPr txBox="1"/>
          <p:nvPr/>
        </p:nvSpPr>
        <p:spPr>
          <a:xfrm>
            <a:off x="5265433" y="4958376"/>
            <a:ext cx="2224185" cy="229494"/>
          </a:xfrm>
          <a:prstGeom prst="rect">
            <a:avLst/>
          </a:prstGeom>
          <a:noFill/>
        </p:spPr>
        <p:txBody>
          <a:bodyPr wrap="square" rtlCol="0">
            <a:spAutoFit/>
          </a:bodyPr>
          <a:lstStyle/>
          <a:p>
            <a:pPr algn="r"/>
            <a:r>
              <a:rPr kumimoji="1" lang="ja-JP" altLang="en-US" sz="900" dirty="0">
                <a:solidFill>
                  <a:srgbClr val="C00000"/>
                </a:solidFill>
                <a:latin typeface="BIZ UDPゴシック" panose="020B0400000000000000" pitchFamily="50" charset="-128"/>
                <a:ea typeface="BIZ UDPゴシック" panose="020B0400000000000000" pitchFamily="50" charset="-128"/>
              </a:rPr>
              <a:t>予算</a:t>
            </a:r>
            <a:r>
              <a:rPr kumimoji="1" lang="en-US" altLang="ja-JP" sz="900" dirty="0">
                <a:solidFill>
                  <a:srgbClr val="C00000"/>
                </a:solidFill>
                <a:latin typeface="BIZ UDPゴシック" panose="020B0400000000000000" pitchFamily="50" charset="-128"/>
                <a:ea typeface="BIZ UDPゴシック" panose="020B0400000000000000" pitchFamily="50" charset="-128"/>
              </a:rPr>
              <a:t>×</a:t>
            </a:r>
            <a:r>
              <a:rPr kumimoji="1" lang="ja-JP" altLang="en-US" sz="900" dirty="0">
                <a:solidFill>
                  <a:srgbClr val="C00000"/>
                </a:solidFill>
                <a:latin typeface="BIZ UDPゴシック" panose="020B0400000000000000" pitchFamily="50" charset="-128"/>
                <a:ea typeface="BIZ UDPゴシック" panose="020B0400000000000000" pitchFamily="50" charset="-128"/>
              </a:rPr>
              <a:t>視聴率　管理の例</a:t>
            </a:r>
            <a:endParaRPr kumimoji="1" lang="en-US" altLang="ja-JP" sz="900" dirty="0">
              <a:solidFill>
                <a:srgbClr val="C00000"/>
              </a:solidFill>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4533BDFE-74DD-B275-5A5E-4A0AD326170A}"/>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02C46C3B-46E2-0813-FC14-FAF8A50F3C96}"/>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スライド番号プレースホルダー 10">
            <a:extLst>
              <a:ext uri="{FF2B5EF4-FFF2-40B4-BE49-F238E27FC236}">
                <a16:creationId xmlns:a16="http://schemas.microsoft.com/office/drawing/2014/main" id="{139022E9-4919-DE14-63D8-CAFE43EAC833}"/>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6</a:t>
            </a:fld>
            <a:endParaRPr lang="ja-JP" altLang="en-US"/>
          </a:p>
        </p:txBody>
      </p:sp>
    </p:spTree>
    <p:extLst>
      <p:ext uri="{BB962C8B-B14F-4D97-AF65-F5344CB8AC3E}">
        <p14:creationId xmlns:p14="http://schemas.microsoft.com/office/powerpoint/2010/main" val="1529604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BF212BF8-92E6-7E33-C47D-55BA23C3AC6E}"/>
              </a:ext>
            </a:extLst>
          </p:cNvPr>
          <p:cNvSpPr/>
          <p:nvPr/>
        </p:nvSpPr>
        <p:spPr>
          <a:xfrm>
            <a:off x="6988316" y="2090649"/>
            <a:ext cx="3258589" cy="2676699"/>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E7117253-D7A1-B8C8-63D4-D2EC80FBE24C}"/>
              </a:ext>
            </a:extLst>
          </p:cNvPr>
          <p:cNvSpPr txBox="1"/>
          <p:nvPr/>
        </p:nvSpPr>
        <p:spPr>
          <a:xfrm>
            <a:off x="7909724" y="2469307"/>
            <a:ext cx="1415772" cy="584775"/>
          </a:xfrm>
          <a:prstGeom prst="rect">
            <a:avLst/>
          </a:prstGeom>
          <a:noFill/>
        </p:spPr>
        <p:txBody>
          <a:bodyPr wrap="none" rtlCol="0">
            <a:spAutoFit/>
          </a:bodyPr>
          <a:lstStyle/>
          <a:p>
            <a:pPr algn="ctr"/>
            <a:r>
              <a:rPr kumimoji="1" lang="ja-JP" altLang="en-US" sz="3200" b="1" dirty="0">
                <a:latin typeface="BIZ UDPゴシック" panose="020B0400000000000000" pitchFamily="50" charset="-128"/>
                <a:ea typeface="BIZ UDPゴシック" panose="020B0400000000000000" pitchFamily="50" charset="-128"/>
              </a:rPr>
              <a:t>掛け率</a:t>
            </a:r>
            <a:endParaRPr kumimoji="1" lang="en-US" altLang="ja-JP" sz="3200" b="1" dirty="0">
              <a:latin typeface="BIZ UDPゴシック" panose="020B0400000000000000" pitchFamily="50" charset="-128"/>
              <a:ea typeface="BIZ UDPゴシック" panose="020B0400000000000000" pitchFamily="50" charset="-128"/>
            </a:endParaRPr>
          </a:p>
        </p:txBody>
      </p:sp>
      <p:sp>
        <p:nvSpPr>
          <p:cNvPr id="4" name="テキスト ボックス 3">
            <a:extLst>
              <a:ext uri="{FF2B5EF4-FFF2-40B4-BE49-F238E27FC236}">
                <a16:creationId xmlns:a16="http://schemas.microsoft.com/office/drawing/2014/main" id="{BB6513FE-2290-872F-B750-95D76731F9BA}"/>
              </a:ext>
            </a:extLst>
          </p:cNvPr>
          <p:cNvSpPr txBox="1"/>
          <p:nvPr/>
        </p:nvSpPr>
        <p:spPr>
          <a:xfrm>
            <a:off x="7627598" y="3428998"/>
            <a:ext cx="1980029" cy="707886"/>
          </a:xfrm>
          <a:prstGeom prst="rect">
            <a:avLst/>
          </a:prstGeom>
          <a:noFill/>
        </p:spPr>
        <p:txBody>
          <a:bodyPr wrap="none" rtlCol="0">
            <a:spAutoFit/>
          </a:bodyPr>
          <a:lstStyle/>
          <a:p>
            <a:pPr algn="ctr"/>
            <a:r>
              <a:rPr kumimoji="1" lang="ja-JP" altLang="en-US" sz="2000" b="1" dirty="0">
                <a:latin typeface="BIZ UDPゴシック" panose="020B0400000000000000" pitchFamily="50" charset="-128"/>
                <a:ea typeface="BIZ UDPゴシック" panose="020B0400000000000000" pitchFamily="50" charset="-128"/>
              </a:rPr>
              <a:t>放送枠</a:t>
            </a:r>
            <a:r>
              <a:rPr kumimoji="1" lang="en-US" altLang="ja-JP" sz="2000" b="1" dirty="0">
                <a:latin typeface="BIZ UDPゴシック" panose="020B0400000000000000" pitchFamily="50" charset="-128"/>
                <a:ea typeface="BIZ UDPゴシック" panose="020B0400000000000000" pitchFamily="50" charset="-128"/>
              </a:rPr>
              <a:t>×</a:t>
            </a:r>
            <a:r>
              <a:rPr kumimoji="1" lang="ja-JP" altLang="en-US" sz="2000" b="1" dirty="0">
                <a:latin typeface="BIZ UDPゴシック" panose="020B0400000000000000" pitchFamily="50" charset="-128"/>
                <a:ea typeface="BIZ UDPゴシック" panose="020B0400000000000000" pitchFamily="50" charset="-128"/>
              </a:rPr>
              <a:t>本数で</a:t>
            </a:r>
            <a:endParaRPr kumimoji="1" lang="en-US" altLang="ja-JP" sz="2000" b="1" dirty="0">
              <a:latin typeface="BIZ UDPゴシック" panose="020B0400000000000000" pitchFamily="50" charset="-128"/>
              <a:ea typeface="BIZ UDPゴシック" panose="020B0400000000000000" pitchFamily="50" charset="-128"/>
            </a:endParaRPr>
          </a:p>
          <a:p>
            <a:pPr algn="ctr"/>
            <a:r>
              <a:rPr lang="en-US" altLang="ja-JP" sz="2000" b="1" dirty="0">
                <a:latin typeface="BIZ UDPゴシック" panose="020B0400000000000000" pitchFamily="50" charset="-128"/>
                <a:ea typeface="BIZ UDPゴシック" panose="020B0400000000000000" pitchFamily="50" charset="-128"/>
              </a:rPr>
              <a:t>CM</a:t>
            </a:r>
            <a:r>
              <a:rPr lang="ja-JP" altLang="en-US" sz="2000" b="1" dirty="0">
                <a:latin typeface="BIZ UDPゴシック" panose="020B0400000000000000" pitchFamily="50" charset="-128"/>
                <a:ea typeface="BIZ UDPゴシック" panose="020B0400000000000000" pitchFamily="50" charset="-128"/>
              </a:rPr>
              <a:t>枠を取得</a:t>
            </a:r>
            <a:endParaRPr kumimoji="1" lang="en-US" altLang="ja-JP" sz="2000" b="1" dirty="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180F116C-188D-9910-818D-4AFDEA7504D9}"/>
              </a:ext>
            </a:extLst>
          </p:cNvPr>
          <p:cNvSpPr/>
          <p:nvPr/>
        </p:nvSpPr>
        <p:spPr>
          <a:xfrm>
            <a:off x="6749934" y="1870994"/>
            <a:ext cx="3731815" cy="3195612"/>
          </a:xfrm>
          <a:prstGeom prst="rect">
            <a:avLst/>
          </a:prstGeom>
          <a:noFill/>
          <a:ln w="571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9FD839CC-3514-9DF2-A257-973183877EFA}"/>
              </a:ext>
            </a:extLst>
          </p:cNvPr>
          <p:cNvSpPr txBox="1"/>
          <p:nvPr/>
        </p:nvSpPr>
        <p:spPr>
          <a:xfrm>
            <a:off x="8566868" y="4897914"/>
            <a:ext cx="2880917" cy="369332"/>
          </a:xfrm>
          <a:prstGeom prst="rect">
            <a:avLst/>
          </a:prstGeom>
          <a:solidFill>
            <a:srgbClr val="C00000"/>
          </a:solidFill>
        </p:spPr>
        <p:txBody>
          <a:bodyPr wrap="none" rtlCol="0">
            <a:spAutoFit/>
          </a:bodyPr>
          <a:lstStyle/>
          <a:p>
            <a:r>
              <a:rPr kumimoji="1" lang="ja-JP" altLang="en-US" b="1" dirty="0">
                <a:solidFill>
                  <a:schemeClr val="bg1"/>
                </a:solidFill>
                <a:latin typeface="BIZ UDPゴシック" panose="020B0400000000000000" pitchFamily="50" charset="-128"/>
                <a:ea typeface="BIZ UDPゴシック" panose="020B0400000000000000" pitchFamily="50" charset="-128"/>
              </a:rPr>
              <a:t>今現在の御社オンエア手法</a:t>
            </a:r>
            <a:endParaRPr kumimoji="1" lang="en-US" altLang="ja-JP" b="1" dirty="0">
              <a:solidFill>
                <a:schemeClr val="bg1"/>
              </a:solidFill>
              <a:latin typeface="BIZ UDPゴシック" panose="020B0400000000000000" pitchFamily="50" charset="-128"/>
              <a:ea typeface="BIZ UDPゴシック" panose="020B0400000000000000" pitchFamily="50" charset="-128"/>
            </a:endParaRPr>
          </a:p>
        </p:txBody>
      </p:sp>
      <p:sp>
        <p:nvSpPr>
          <p:cNvPr id="7" name="四角形: 角を丸くする 6">
            <a:extLst>
              <a:ext uri="{FF2B5EF4-FFF2-40B4-BE49-F238E27FC236}">
                <a16:creationId xmlns:a16="http://schemas.microsoft.com/office/drawing/2014/main" id="{C88B0106-38AB-9CC6-B417-F0FFBC6E4615}"/>
              </a:ext>
            </a:extLst>
          </p:cNvPr>
          <p:cNvSpPr/>
          <p:nvPr/>
        </p:nvSpPr>
        <p:spPr>
          <a:xfrm>
            <a:off x="2183479" y="2090650"/>
            <a:ext cx="3258589" cy="2676699"/>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D8875E9E-1B06-59E1-8517-03A9E8EBC2FA}"/>
              </a:ext>
            </a:extLst>
          </p:cNvPr>
          <p:cNvSpPr txBox="1"/>
          <p:nvPr/>
        </p:nvSpPr>
        <p:spPr>
          <a:xfrm>
            <a:off x="2777873" y="2469308"/>
            <a:ext cx="2069797" cy="584775"/>
          </a:xfrm>
          <a:prstGeom prst="rect">
            <a:avLst/>
          </a:prstGeom>
          <a:noFill/>
        </p:spPr>
        <p:txBody>
          <a:bodyPr wrap="none" rtlCol="0">
            <a:spAutoFit/>
          </a:bodyPr>
          <a:lstStyle/>
          <a:p>
            <a:pPr algn="ctr"/>
            <a:r>
              <a:rPr kumimoji="1" lang="ja-JP" altLang="en-US" sz="3200" b="1" dirty="0">
                <a:latin typeface="BIZ UDPゴシック" panose="020B0400000000000000" pitchFamily="50" charset="-128"/>
                <a:ea typeface="BIZ UDPゴシック" panose="020B0400000000000000" pitchFamily="50" charset="-128"/>
              </a:rPr>
              <a:t>パーコスト</a:t>
            </a:r>
            <a:endParaRPr kumimoji="1" lang="en-US" altLang="ja-JP" sz="3200" b="1"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DF98E7EA-A920-1986-D349-11A753D9028B}"/>
              </a:ext>
            </a:extLst>
          </p:cNvPr>
          <p:cNvSpPr txBox="1"/>
          <p:nvPr/>
        </p:nvSpPr>
        <p:spPr>
          <a:xfrm>
            <a:off x="2451668" y="3428999"/>
            <a:ext cx="2722219" cy="707886"/>
          </a:xfrm>
          <a:prstGeom prst="rect">
            <a:avLst/>
          </a:prstGeom>
          <a:noFill/>
        </p:spPr>
        <p:txBody>
          <a:bodyPr wrap="none" rtlCol="0">
            <a:spAutoFit/>
          </a:bodyPr>
          <a:lstStyle/>
          <a:p>
            <a:pPr algn="ctr"/>
            <a:r>
              <a:rPr kumimoji="1" lang="ja-JP" altLang="en-US" sz="2000" b="1" dirty="0">
                <a:latin typeface="BIZ UDPゴシック" panose="020B0400000000000000" pitchFamily="50" charset="-128"/>
                <a:ea typeface="BIZ UDPゴシック" panose="020B0400000000000000" pitchFamily="50" charset="-128"/>
              </a:rPr>
              <a:t>「視聴率」という指標で</a:t>
            </a:r>
            <a:endParaRPr kumimoji="1" lang="en-US" altLang="ja-JP" sz="2000" b="1" dirty="0">
              <a:latin typeface="BIZ UDPゴシック" panose="020B0400000000000000" pitchFamily="50" charset="-128"/>
              <a:ea typeface="BIZ UDPゴシック" panose="020B0400000000000000" pitchFamily="50" charset="-128"/>
            </a:endParaRPr>
          </a:p>
          <a:p>
            <a:pPr algn="ctr"/>
            <a:r>
              <a:rPr lang="en-US" altLang="ja-JP" sz="2000" b="1" dirty="0">
                <a:latin typeface="BIZ UDPゴシック" panose="020B0400000000000000" pitchFamily="50" charset="-128"/>
                <a:ea typeface="BIZ UDPゴシック" panose="020B0400000000000000" pitchFamily="50" charset="-128"/>
              </a:rPr>
              <a:t>CM</a:t>
            </a:r>
            <a:r>
              <a:rPr lang="ja-JP" altLang="en-US" sz="2000" b="1" dirty="0">
                <a:latin typeface="BIZ UDPゴシック" panose="020B0400000000000000" pitchFamily="50" charset="-128"/>
                <a:ea typeface="BIZ UDPゴシック" panose="020B0400000000000000" pitchFamily="50" charset="-128"/>
              </a:rPr>
              <a:t>枠を取得</a:t>
            </a:r>
            <a:endParaRPr kumimoji="1" lang="en-US" altLang="ja-JP" sz="2000" b="1" dirty="0">
              <a:latin typeface="BIZ UDPゴシック" panose="020B0400000000000000" pitchFamily="50" charset="-128"/>
              <a:ea typeface="BIZ UDPゴシック" panose="020B0400000000000000" pitchFamily="50" charset="-128"/>
            </a:endParaRPr>
          </a:p>
        </p:txBody>
      </p:sp>
      <p:sp>
        <p:nvSpPr>
          <p:cNvPr id="16" name="正方形/長方形 15">
            <a:extLst>
              <a:ext uri="{FF2B5EF4-FFF2-40B4-BE49-F238E27FC236}">
                <a16:creationId xmlns:a16="http://schemas.microsoft.com/office/drawing/2014/main" id="{8B4C7F06-0F86-751C-83D7-EC42E65E4D8E}"/>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0380323B-DC0F-7DFD-E041-DA337D9E14F7}"/>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スライド番号プレースホルダー 10">
            <a:extLst>
              <a:ext uri="{FF2B5EF4-FFF2-40B4-BE49-F238E27FC236}">
                <a16:creationId xmlns:a16="http://schemas.microsoft.com/office/drawing/2014/main" id="{458DEB8D-538B-CEC5-B893-49DDB9D252D2}"/>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7</a:t>
            </a:fld>
            <a:endParaRPr lang="ja-JP" altLang="en-US"/>
          </a:p>
        </p:txBody>
      </p:sp>
    </p:spTree>
    <p:extLst>
      <p:ext uri="{BB962C8B-B14F-4D97-AF65-F5344CB8AC3E}">
        <p14:creationId xmlns:p14="http://schemas.microsoft.com/office/powerpoint/2010/main" val="1953548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3794629"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＞＞掛け率での</a:t>
            </a:r>
            <a:r>
              <a:rPr kumimoji="1" lang="en-US" altLang="ja-JP" dirty="0">
                <a:latin typeface="BIZ UDPゴシック" panose="020B0400000000000000" pitchFamily="50" charset="-128"/>
                <a:ea typeface="BIZ UDPゴシック" panose="020B0400000000000000" pitchFamily="50" charset="-128"/>
              </a:rPr>
              <a:t>CM</a:t>
            </a:r>
            <a:r>
              <a:rPr kumimoji="1" lang="ja-JP" altLang="en-US" dirty="0">
                <a:latin typeface="BIZ UDPゴシック" panose="020B0400000000000000" pitchFamily="50" charset="-128"/>
                <a:ea typeface="BIZ UDPゴシック" panose="020B0400000000000000" pitchFamily="50" charset="-128"/>
              </a:rPr>
              <a:t>枠取得について</a:t>
            </a:r>
          </a:p>
        </p:txBody>
      </p:sp>
      <p:sp>
        <p:nvSpPr>
          <p:cNvPr id="3" name="テキスト ボックス 2">
            <a:extLst>
              <a:ext uri="{FF2B5EF4-FFF2-40B4-BE49-F238E27FC236}">
                <a16:creationId xmlns:a16="http://schemas.microsoft.com/office/drawing/2014/main" id="{A635D3F6-D9E0-838C-3953-705B0D9A71B2}"/>
              </a:ext>
            </a:extLst>
          </p:cNvPr>
          <p:cNvSpPr txBox="1"/>
          <p:nvPr/>
        </p:nvSpPr>
        <p:spPr>
          <a:xfrm>
            <a:off x="92294" y="873421"/>
            <a:ext cx="12046888" cy="2031325"/>
          </a:xfrm>
          <a:prstGeom prst="rect">
            <a:avLst/>
          </a:prstGeom>
          <a:noFill/>
        </p:spPr>
        <p:txBody>
          <a:bodyPr wrap="none" rtlCol="0">
            <a:spAutoFit/>
          </a:bodyPr>
          <a:lstStyle/>
          <a:p>
            <a:r>
              <a:rPr kumimoji="1" lang="ja-JP" altLang="en-US" u="sng" dirty="0">
                <a:latin typeface="BIZ UDPゴシック" panose="020B0400000000000000" pitchFamily="50" charset="-128"/>
                <a:ea typeface="BIZ UDPゴシック" panose="020B0400000000000000" pitchFamily="50" charset="-128"/>
              </a:rPr>
              <a:t>■ 掛率での取得について</a:t>
            </a:r>
            <a:endParaRPr kumimoji="1" lang="en-US" altLang="ja-JP" dirty="0">
              <a:latin typeface="BIZ UDPゴシック" panose="020B0400000000000000" pitchFamily="50" charset="-128"/>
              <a:ea typeface="BIZ UDPゴシック" panose="020B0400000000000000" pitchFamily="50" charset="-128"/>
            </a:endParaRPr>
          </a:p>
          <a:p>
            <a:endParaRPr kumimoji="1"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・本数で</a:t>
            </a:r>
            <a:r>
              <a:rPr kumimoji="1" lang="en-US" altLang="ja-JP" dirty="0">
                <a:latin typeface="BIZ UDPゴシック" panose="020B0400000000000000" pitchFamily="50" charset="-128"/>
                <a:ea typeface="BIZ UDPゴシック" panose="020B0400000000000000" pitchFamily="50" charset="-128"/>
              </a:rPr>
              <a:t>CM</a:t>
            </a:r>
            <a:r>
              <a:rPr kumimoji="1" lang="ja-JP" altLang="en-US" dirty="0">
                <a:latin typeface="BIZ UDPゴシック" panose="020B0400000000000000" pitchFamily="50" charset="-128"/>
                <a:ea typeface="BIZ UDPゴシック" panose="020B0400000000000000" pitchFamily="50" charset="-128"/>
              </a:rPr>
              <a:t>枠を取得していく手法です。</a:t>
            </a:r>
            <a:endParaRPr kumimoji="1" lang="en-US" altLang="ja-JP" dirty="0">
              <a:latin typeface="BIZ UDPゴシック" panose="020B0400000000000000" pitchFamily="50" charset="-128"/>
              <a:ea typeface="BIZ UDPゴシック" panose="020B0400000000000000" pitchFamily="50" charset="-128"/>
            </a:endParaRPr>
          </a:p>
          <a:p>
            <a:r>
              <a:rPr lang="en-US" altLang="ja-JP" dirty="0">
                <a:latin typeface="BIZ UDPゴシック" panose="020B0400000000000000" pitchFamily="50" charset="-128"/>
                <a:ea typeface="BIZ UDPゴシック" panose="020B0400000000000000" pitchFamily="50" charset="-128"/>
              </a:rPr>
              <a:t>A</a:t>
            </a:r>
            <a:r>
              <a:rPr lang="ja-JP" altLang="en-US" dirty="0">
                <a:latin typeface="BIZ UDPゴシック" panose="020B0400000000000000" pitchFamily="50" charset="-128"/>
                <a:ea typeface="BIZ UDPゴシック" panose="020B0400000000000000" pitchFamily="50" charset="-128"/>
              </a:rPr>
              <a:t>タイム</a:t>
            </a:r>
            <a:r>
              <a:rPr lang="en-US" altLang="ja-JP" dirty="0">
                <a:latin typeface="BIZ UDPゴシック" panose="020B0400000000000000" pitchFamily="50" charset="-128"/>
                <a:ea typeface="BIZ UDPゴシック" panose="020B0400000000000000" pitchFamily="50" charset="-128"/>
              </a:rPr>
              <a:t>×</a:t>
            </a:r>
            <a:r>
              <a:rPr lang="ja-JP" altLang="en-US" dirty="0">
                <a:latin typeface="BIZ UDPゴシック" panose="020B0400000000000000" pitchFamily="50" charset="-128"/>
                <a:ea typeface="BIZ UDPゴシック" panose="020B0400000000000000" pitchFamily="50" charset="-128"/>
              </a:rPr>
              <a:t>○本、</a:t>
            </a:r>
            <a:r>
              <a:rPr lang="en-US" altLang="ja-JP" dirty="0">
                <a:latin typeface="BIZ UDPゴシック" panose="020B0400000000000000" pitchFamily="50" charset="-128"/>
                <a:ea typeface="BIZ UDPゴシック" panose="020B0400000000000000" pitchFamily="50" charset="-128"/>
              </a:rPr>
              <a:t>B</a:t>
            </a:r>
            <a:r>
              <a:rPr lang="ja-JP" altLang="en-US" dirty="0">
                <a:latin typeface="BIZ UDPゴシック" panose="020B0400000000000000" pitchFamily="50" charset="-128"/>
                <a:ea typeface="BIZ UDPゴシック" panose="020B0400000000000000" pitchFamily="50" charset="-128"/>
              </a:rPr>
              <a:t>タイム</a:t>
            </a:r>
            <a:r>
              <a:rPr lang="en-US" altLang="ja-JP" dirty="0">
                <a:latin typeface="BIZ UDPゴシック" panose="020B0400000000000000" pitchFamily="50" charset="-128"/>
                <a:ea typeface="BIZ UDPゴシック" panose="020B0400000000000000" pitchFamily="50" charset="-128"/>
              </a:rPr>
              <a:t>×</a:t>
            </a:r>
            <a:r>
              <a:rPr lang="ja-JP" altLang="en-US" dirty="0">
                <a:latin typeface="BIZ UDPゴシック" panose="020B0400000000000000" pitchFamily="50" charset="-128"/>
                <a:ea typeface="BIZ UDPゴシック" panose="020B0400000000000000" pitchFamily="50" charset="-128"/>
              </a:rPr>
              <a:t>○本、特</a:t>
            </a:r>
            <a:r>
              <a:rPr lang="en-US" altLang="ja-JP" dirty="0">
                <a:latin typeface="BIZ UDPゴシック" panose="020B0400000000000000" pitchFamily="50" charset="-128"/>
                <a:ea typeface="BIZ UDPゴシック" panose="020B0400000000000000" pitchFamily="50" charset="-128"/>
              </a:rPr>
              <a:t>B</a:t>
            </a:r>
            <a:r>
              <a:rPr lang="ja-JP" altLang="en-US" dirty="0">
                <a:latin typeface="BIZ UDPゴシック" panose="020B0400000000000000" pitchFamily="50" charset="-128"/>
                <a:ea typeface="BIZ UDPゴシック" panose="020B0400000000000000" pitchFamily="50" charset="-128"/>
              </a:rPr>
              <a:t>（</a:t>
            </a:r>
            <a:r>
              <a:rPr lang="en-US" altLang="ja-JP" dirty="0">
                <a:latin typeface="BIZ UDPゴシック" panose="020B0400000000000000" pitchFamily="50" charset="-128"/>
                <a:ea typeface="BIZ UDPゴシック" panose="020B0400000000000000" pitchFamily="50" charset="-128"/>
              </a:rPr>
              <a:t>S</a:t>
            </a:r>
            <a:r>
              <a:rPr lang="ja-JP" altLang="en-US" dirty="0">
                <a:latin typeface="BIZ UDPゴシック" panose="020B0400000000000000" pitchFamily="50" charset="-128"/>
                <a:ea typeface="BIZ UDPゴシック" panose="020B0400000000000000" pitchFamily="50" charset="-128"/>
              </a:rPr>
              <a:t>タイム）</a:t>
            </a:r>
            <a:r>
              <a:rPr lang="en-US" altLang="ja-JP" dirty="0">
                <a:latin typeface="BIZ UDPゴシック" panose="020B0400000000000000" pitchFamily="50" charset="-128"/>
                <a:ea typeface="BIZ UDPゴシック" panose="020B0400000000000000" pitchFamily="50" charset="-128"/>
              </a:rPr>
              <a:t>×</a:t>
            </a:r>
            <a:r>
              <a:rPr lang="ja-JP" altLang="en-US" dirty="0">
                <a:latin typeface="BIZ UDPゴシック" panose="020B0400000000000000" pitchFamily="50" charset="-128"/>
                <a:ea typeface="BIZ UDPゴシック" panose="020B0400000000000000" pitchFamily="50" charset="-128"/>
              </a:rPr>
              <a:t>○本　などと掛け率により取得本数が決まっている場合が多いです。</a:t>
            </a:r>
            <a:endParaRPr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デメリットとしては本数保障の為、到達視聴率についてはブレが出やすい事が課題です。</a:t>
            </a:r>
            <a:endParaRPr kumimoji="1" lang="en-US" altLang="ja-JP" dirty="0">
              <a:latin typeface="BIZ UDPゴシック" panose="020B0400000000000000" pitchFamily="50" charset="-128"/>
              <a:ea typeface="BIZ UDPゴシック" panose="020B0400000000000000" pitchFamily="50" charset="-128"/>
            </a:endParaRPr>
          </a:p>
          <a:p>
            <a:endParaRPr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棚卸の為、現在御社がメインでオンエアを実施している</a:t>
            </a:r>
            <a:r>
              <a:rPr lang="en-US" altLang="ja-JP" dirty="0">
                <a:latin typeface="BIZ UDPゴシック" panose="020B0400000000000000" pitchFamily="50" charset="-128"/>
                <a:ea typeface="BIZ UDPゴシック" panose="020B0400000000000000" pitchFamily="50" charset="-128"/>
              </a:rPr>
              <a:t>RBC</a:t>
            </a:r>
            <a:r>
              <a:rPr lang="ja-JP" altLang="en-US" dirty="0">
                <a:latin typeface="BIZ UDPゴシック" panose="020B0400000000000000" pitchFamily="50" charset="-128"/>
                <a:ea typeface="BIZ UDPゴシック" panose="020B0400000000000000" pitchFamily="50" charset="-128"/>
              </a:rPr>
              <a:t>の放映枠を視聴率調査をしてみました。</a:t>
            </a:r>
            <a:endParaRPr kumimoji="1" lang="en-US" altLang="ja-JP" dirty="0">
              <a:latin typeface="BIZ UDPゴシック" panose="020B0400000000000000" pitchFamily="50" charset="-128"/>
              <a:ea typeface="BIZ UDPゴシック" panose="020B0400000000000000" pitchFamily="50" charset="-128"/>
            </a:endParaRPr>
          </a:p>
        </p:txBody>
      </p:sp>
      <p:pic>
        <p:nvPicPr>
          <p:cNvPr id="12" name="図 11">
            <a:extLst>
              <a:ext uri="{FF2B5EF4-FFF2-40B4-BE49-F238E27FC236}">
                <a16:creationId xmlns:a16="http://schemas.microsoft.com/office/drawing/2014/main" id="{7EB348D6-37C8-89C7-1833-60EADCE44573}"/>
              </a:ext>
            </a:extLst>
          </p:cNvPr>
          <p:cNvPicPr>
            <a:picLocks noChangeAspect="1"/>
          </p:cNvPicPr>
          <p:nvPr/>
        </p:nvPicPr>
        <p:blipFill>
          <a:blip r:embed="rId2"/>
          <a:stretch>
            <a:fillRect/>
          </a:stretch>
        </p:blipFill>
        <p:spPr>
          <a:xfrm>
            <a:off x="0" y="3211096"/>
            <a:ext cx="8110014" cy="1849420"/>
          </a:xfrm>
          <a:prstGeom prst="rect">
            <a:avLst/>
          </a:prstGeom>
        </p:spPr>
      </p:pic>
      <p:pic>
        <p:nvPicPr>
          <p:cNvPr id="17" name="図 16">
            <a:extLst>
              <a:ext uri="{FF2B5EF4-FFF2-40B4-BE49-F238E27FC236}">
                <a16:creationId xmlns:a16="http://schemas.microsoft.com/office/drawing/2014/main" id="{EDDE1BB1-91F0-EA50-CEC3-15B3856C68CE}"/>
              </a:ext>
            </a:extLst>
          </p:cNvPr>
          <p:cNvPicPr>
            <a:picLocks noChangeAspect="1"/>
          </p:cNvPicPr>
          <p:nvPr/>
        </p:nvPicPr>
        <p:blipFill>
          <a:blip r:embed="rId3"/>
          <a:stretch>
            <a:fillRect/>
          </a:stretch>
        </p:blipFill>
        <p:spPr>
          <a:xfrm>
            <a:off x="8289174" y="3109577"/>
            <a:ext cx="3810532" cy="3381847"/>
          </a:xfrm>
          <a:prstGeom prst="rect">
            <a:avLst/>
          </a:prstGeom>
        </p:spPr>
      </p:pic>
      <p:sp>
        <p:nvSpPr>
          <p:cNvPr id="18" name="楕円 17">
            <a:extLst>
              <a:ext uri="{FF2B5EF4-FFF2-40B4-BE49-F238E27FC236}">
                <a16:creationId xmlns:a16="http://schemas.microsoft.com/office/drawing/2014/main" id="{90B384F6-5A32-CADC-92C9-A9A3F4E43758}"/>
              </a:ext>
            </a:extLst>
          </p:cNvPr>
          <p:cNvSpPr/>
          <p:nvPr/>
        </p:nvSpPr>
        <p:spPr>
          <a:xfrm>
            <a:off x="8737600" y="3429000"/>
            <a:ext cx="599440" cy="618338"/>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370B442D-0148-B3D2-4098-3129ADCEB83D}"/>
              </a:ext>
            </a:extLst>
          </p:cNvPr>
          <p:cNvSpPr/>
          <p:nvPr/>
        </p:nvSpPr>
        <p:spPr>
          <a:xfrm>
            <a:off x="9894720" y="6077917"/>
            <a:ext cx="599440" cy="618338"/>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360DBDD1-0CC9-8F18-0C74-4D0FB873D037}"/>
              </a:ext>
            </a:extLst>
          </p:cNvPr>
          <p:cNvSpPr/>
          <p:nvPr/>
        </p:nvSpPr>
        <p:spPr>
          <a:xfrm>
            <a:off x="11020073" y="5635853"/>
            <a:ext cx="599440" cy="618338"/>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AE1F9C8E-4424-EA87-CAEB-B454245B7080}"/>
              </a:ext>
            </a:extLst>
          </p:cNvPr>
          <p:cNvSpPr/>
          <p:nvPr/>
        </p:nvSpPr>
        <p:spPr>
          <a:xfrm>
            <a:off x="8334894" y="4537051"/>
            <a:ext cx="599440" cy="618338"/>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668BD95A-A9F7-4286-6AE1-DC211E544BB8}"/>
              </a:ext>
            </a:extLst>
          </p:cNvPr>
          <p:cNvSpPr/>
          <p:nvPr/>
        </p:nvSpPr>
        <p:spPr>
          <a:xfrm>
            <a:off x="5293360" y="3109577"/>
            <a:ext cx="1158240" cy="204581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1CD57316-F24F-5F85-0D99-0AB921A49013}"/>
              </a:ext>
            </a:extLst>
          </p:cNvPr>
          <p:cNvSpPr/>
          <p:nvPr/>
        </p:nvSpPr>
        <p:spPr>
          <a:xfrm>
            <a:off x="6977174" y="3109577"/>
            <a:ext cx="1158240" cy="204581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7072473C-5BD4-B69A-D262-986D48536594}"/>
              </a:ext>
            </a:extLst>
          </p:cNvPr>
          <p:cNvSpPr txBox="1"/>
          <p:nvPr/>
        </p:nvSpPr>
        <p:spPr>
          <a:xfrm>
            <a:off x="92294" y="5443909"/>
            <a:ext cx="7893508" cy="1200329"/>
          </a:xfrm>
          <a:prstGeom prst="rect">
            <a:avLst/>
          </a:prstGeom>
          <a:noFill/>
        </p:spPr>
        <p:txBody>
          <a:bodyPr wrap="none" rtlCol="0">
            <a:spAutoFit/>
          </a:bodyPr>
          <a:lstStyle/>
          <a:p>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結論</a:t>
            </a:r>
            <a:r>
              <a:rPr kumimoji="1" lang="en-US" altLang="ja-JP" dirty="0">
                <a:latin typeface="BIZ UDPゴシック" panose="020B0400000000000000" pitchFamily="50" charset="-128"/>
                <a:ea typeface="BIZ UDPゴシック" panose="020B0400000000000000" pitchFamily="50" charset="-128"/>
              </a:rPr>
              <a:t>】</a:t>
            </a:r>
          </a:p>
          <a:p>
            <a:endParaRPr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御社ターゲットへ効果的にアプローチが可能な番組を中心に選定されており、</a:t>
            </a:r>
            <a:endParaRPr kumimoji="1"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放送手法としては効果的と感じました。</a:t>
            </a:r>
            <a:endParaRPr kumimoji="1" lang="en-US" altLang="ja-JP" dirty="0">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05640313-6675-23CA-C428-17A945D9966D}"/>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BF7EB002-6217-DC1C-F1E6-AB77312E4084}"/>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スライド番号プレースホルダー 10">
            <a:extLst>
              <a:ext uri="{FF2B5EF4-FFF2-40B4-BE49-F238E27FC236}">
                <a16:creationId xmlns:a16="http://schemas.microsoft.com/office/drawing/2014/main" id="{A5B294B5-2A0F-E301-3E16-0E5852AF6E1F}"/>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8</a:t>
            </a:fld>
            <a:endParaRPr lang="ja-JP" altLang="en-US"/>
          </a:p>
        </p:txBody>
      </p:sp>
    </p:spTree>
    <p:extLst>
      <p:ext uri="{BB962C8B-B14F-4D97-AF65-F5344CB8AC3E}">
        <p14:creationId xmlns:p14="http://schemas.microsoft.com/office/powerpoint/2010/main" val="3634202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3794629"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＞＞掛け率での</a:t>
            </a:r>
            <a:r>
              <a:rPr kumimoji="1" lang="en-US" altLang="ja-JP" dirty="0">
                <a:latin typeface="BIZ UDPゴシック" panose="020B0400000000000000" pitchFamily="50" charset="-128"/>
                <a:ea typeface="BIZ UDPゴシック" panose="020B0400000000000000" pitchFamily="50" charset="-128"/>
              </a:rPr>
              <a:t>CM</a:t>
            </a:r>
            <a:r>
              <a:rPr kumimoji="1" lang="ja-JP" altLang="en-US" dirty="0">
                <a:latin typeface="BIZ UDPゴシック" panose="020B0400000000000000" pitchFamily="50" charset="-128"/>
                <a:ea typeface="BIZ UDPゴシック" panose="020B0400000000000000" pitchFamily="50" charset="-128"/>
              </a:rPr>
              <a:t>枠取得について</a:t>
            </a:r>
          </a:p>
        </p:txBody>
      </p:sp>
      <p:sp>
        <p:nvSpPr>
          <p:cNvPr id="3" name="テキスト ボックス 2">
            <a:extLst>
              <a:ext uri="{FF2B5EF4-FFF2-40B4-BE49-F238E27FC236}">
                <a16:creationId xmlns:a16="http://schemas.microsoft.com/office/drawing/2014/main" id="{A635D3F6-D9E0-838C-3953-705B0D9A71B2}"/>
              </a:ext>
            </a:extLst>
          </p:cNvPr>
          <p:cNvSpPr txBox="1"/>
          <p:nvPr/>
        </p:nvSpPr>
        <p:spPr>
          <a:xfrm>
            <a:off x="92294" y="873421"/>
            <a:ext cx="9979014" cy="646331"/>
          </a:xfrm>
          <a:prstGeom prst="rect">
            <a:avLst/>
          </a:prstGeom>
          <a:noFill/>
        </p:spPr>
        <p:txBody>
          <a:bodyPr wrap="none" rtlCol="0">
            <a:spAutoFit/>
          </a:bodyPr>
          <a:lstStyle/>
          <a:p>
            <a:r>
              <a:rPr lang="ja-JP" altLang="en-US" dirty="0">
                <a:latin typeface="BIZ UDPゴシック" panose="020B0400000000000000" pitchFamily="50" charset="-128"/>
                <a:ea typeface="BIZ UDPゴシック" panose="020B0400000000000000" pitchFamily="50" charset="-128"/>
              </a:rPr>
              <a:t>同じ手法で、他局の番組枠についても調査を実施。</a:t>
            </a:r>
            <a:endParaRPr lang="en-US" altLang="ja-JP" dirty="0">
              <a:latin typeface="BIZ UDPゴシック" panose="020B0400000000000000" pitchFamily="50" charset="-128"/>
              <a:ea typeface="BIZ UDPゴシック" panose="020B0400000000000000" pitchFamily="50" charset="-128"/>
            </a:endParaRPr>
          </a:p>
          <a:p>
            <a:r>
              <a:rPr kumimoji="1" lang="en-US" altLang="ja-JP" dirty="0">
                <a:latin typeface="BIZ UDPゴシック" panose="020B0400000000000000" pitchFamily="50" charset="-128"/>
                <a:ea typeface="BIZ UDPゴシック" panose="020B0400000000000000" pitchFamily="50" charset="-128"/>
              </a:rPr>
              <a:t>QAB</a:t>
            </a:r>
            <a:r>
              <a:rPr lang="ja-JP" altLang="en-US" dirty="0">
                <a:latin typeface="BIZ UDPゴシック" panose="020B0400000000000000" pitchFamily="50" charset="-128"/>
                <a:ea typeface="BIZ UDPゴシック" panose="020B0400000000000000" pitchFamily="50" charset="-128"/>
              </a:rPr>
              <a:t>の番組が</a:t>
            </a:r>
            <a:r>
              <a:rPr lang="en-US" altLang="ja-JP" dirty="0">
                <a:latin typeface="BIZ UDPゴシック" panose="020B0400000000000000" pitchFamily="50" charset="-128"/>
                <a:ea typeface="BIZ UDPゴシック" panose="020B0400000000000000" pitchFamily="50" charset="-128"/>
              </a:rPr>
              <a:t>RBC</a:t>
            </a:r>
            <a:r>
              <a:rPr lang="ja-JP" altLang="en-US" dirty="0">
                <a:latin typeface="BIZ UDPゴシック" panose="020B0400000000000000" pitchFamily="50" charset="-128"/>
                <a:ea typeface="BIZ UDPゴシック" panose="020B0400000000000000" pitchFamily="50" charset="-128"/>
              </a:rPr>
              <a:t>のものに比べ、ターゲットに対し高い視聴データが獲得できると分かりました。</a:t>
            </a:r>
            <a:endParaRPr kumimoji="1" lang="en-US" altLang="ja-JP" dirty="0">
              <a:latin typeface="BIZ UDPゴシック" panose="020B0400000000000000" pitchFamily="50" charset="-128"/>
              <a:ea typeface="BIZ UDPゴシック" panose="020B0400000000000000" pitchFamily="50" charset="-128"/>
            </a:endParaRPr>
          </a:p>
        </p:txBody>
      </p:sp>
      <p:pic>
        <p:nvPicPr>
          <p:cNvPr id="2" name="図 1">
            <a:extLst>
              <a:ext uri="{FF2B5EF4-FFF2-40B4-BE49-F238E27FC236}">
                <a16:creationId xmlns:a16="http://schemas.microsoft.com/office/drawing/2014/main" id="{C6D15DA6-8EA1-D687-1DA6-D3890F3B7B19}"/>
              </a:ext>
            </a:extLst>
          </p:cNvPr>
          <p:cNvPicPr>
            <a:picLocks noChangeAspect="1"/>
          </p:cNvPicPr>
          <p:nvPr/>
        </p:nvPicPr>
        <p:blipFill>
          <a:blip r:embed="rId3"/>
          <a:stretch>
            <a:fillRect/>
          </a:stretch>
        </p:blipFill>
        <p:spPr>
          <a:xfrm>
            <a:off x="0" y="1891293"/>
            <a:ext cx="12192000" cy="2538087"/>
          </a:xfrm>
          <a:prstGeom prst="rect">
            <a:avLst/>
          </a:prstGeom>
        </p:spPr>
      </p:pic>
      <p:sp>
        <p:nvSpPr>
          <p:cNvPr id="22" name="正方形/長方形 21">
            <a:extLst>
              <a:ext uri="{FF2B5EF4-FFF2-40B4-BE49-F238E27FC236}">
                <a16:creationId xmlns:a16="http://schemas.microsoft.com/office/drawing/2014/main" id="{668BD95A-A9F7-4286-6AE1-DC211E544BB8}"/>
              </a:ext>
            </a:extLst>
          </p:cNvPr>
          <p:cNvSpPr/>
          <p:nvPr/>
        </p:nvSpPr>
        <p:spPr>
          <a:xfrm>
            <a:off x="7122160" y="1724584"/>
            <a:ext cx="2189480" cy="287246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C96D794E-9F2A-F3B9-0321-7923608E7722}"/>
              </a:ext>
            </a:extLst>
          </p:cNvPr>
          <p:cNvSpPr/>
          <p:nvPr/>
        </p:nvSpPr>
        <p:spPr>
          <a:xfrm>
            <a:off x="10208712" y="1724584"/>
            <a:ext cx="1983288" cy="287246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2641C2A-3262-EF7B-BDE5-CE4E8191A51D}"/>
              </a:ext>
            </a:extLst>
          </p:cNvPr>
          <p:cNvSpPr txBox="1"/>
          <p:nvPr/>
        </p:nvSpPr>
        <p:spPr>
          <a:xfrm>
            <a:off x="92294" y="4599584"/>
            <a:ext cx="6593472" cy="1815882"/>
          </a:xfrm>
          <a:prstGeom prst="rect">
            <a:avLst/>
          </a:prstGeom>
          <a:noFill/>
        </p:spPr>
        <p:txBody>
          <a:bodyPr wrap="none" rtlCol="0">
            <a:spAutoFit/>
          </a:bodyPr>
          <a:lstStyle/>
          <a:p>
            <a:r>
              <a:rPr lang="ja-JP" altLang="en-US" sz="1400" dirty="0">
                <a:latin typeface="BIZ UDPゴシック" panose="020B0400000000000000" pitchFamily="50" charset="-128"/>
                <a:ea typeface="BIZ UDPゴシック" panose="020B0400000000000000" pitchFamily="50" charset="-128"/>
              </a:rPr>
              <a:t>現在の</a:t>
            </a:r>
            <a:r>
              <a:rPr lang="en-US" altLang="ja-JP" sz="1400" dirty="0">
                <a:latin typeface="BIZ UDPゴシック" panose="020B0400000000000000" pitchFamily="50" charset="-128"/>
                <a:ea typeface="BIZ UDPゴシック" panose="020B0400000000000000" pitchFamily="50" charset="-128"/>
              </a:rPr>
              <a:t>RBC</a:t>
            </a:r>
            <a:r>
              <a:rPr lang="ja-JP" altLang="en-US" sz="1400" dirty="0">
                <a:latin typeface="BIZ UDPゴシック" panose="020B0400000000000000" pitchFamily="50" charset="-128"/>
                <a:ea typeface="BIZ UDPゴシック" panose="020B0400000000000000" pitchFamily="50" charset="-128"/>
              </a:rPr>
              <a:t>オンエアとの同条件（月額</a:t>
            </a:r>
            <a:r>
              <a:rPr lang="en-US" altLang="ja-JP" sz="1400" dirty="0">
                <a:latin typeface="BIZ UDPゴシック" panose="020B0400000000000000" pitchFamily="50" charset="-128"/>
                <a:ea typeface="BIZ UDPゴシック" panose="020B0400000000000000" pitchFamily="50" charset="-128"/>
              </a:rPr>
              <a:t>80</a:t>
            </a:r>
            <a:r>
              <a:rPr lang="ja-JP" altLang="en-US" sz="1400" dirty="0">
                <a:latin typeface="BIZ UDPゴシック" panose="020B0400000000000000" pitchFamily="50" charset="-128"/>
                <a:ea typeface="BIZ UDPゴシック" panose="020B0400000000000000" pitchFamily="50" charset="-128"/>
              </a:rPr>
              <a:t>万</a:t>
            </a:r>
            <a:r>
              <a:rPr lang="en-US" altLang="ja-JP" sz="1400" dirty="0">
                <a:latin typeface="BIZ UDPゴシック" panose="020B0400000000000000" pitchFamily="50" charset="-128"/>
                <a:ea typeface="BIZ UDPゴシック" panose="020B0400000000000000" pitchFamily="50" charset="-128"/>
              </a:rPr>
              <a:t>/1</a:t>
            </a:r>
            <a:r>
              <a:rPr lang="ja-JP" altLang="en-US" sz="1400" dirty="0">
                <a:latin typeface="BIZ UDPゴシック" panose="020B0400000000000000" pitchFamily="50" charset="-128"/>
                <a:ea typeface="BIZ UDPゴシック" panose="020B0400000000000000" pitchFamily="50" charset="-128"/>
              </a:rPr>
              <a:t>局仕様）で放送の場合、</a:t>
            </a:r>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上記の番組から「</a:t>
            </a:r>
            <a:r>
              <a:rPr lang="en-US" altLang="ja-JP" sz="1400" dirty="0">
                <a:latin typeface="BIZ UDPゴシック" panose="020B0400000000000000" pitchFamily="50" charset="-128"/>
                <a:ea typeface="BIZ UDPゴシック" panose="020B0400000000000000" pitchFamily="50" charset="-128"/>
              </a:rPr>
              <a:t>A</a:t>
            </a:r>
            <a:r>
              <a:rPr lang="ja-JP" altLang="en-US" sz="1400" dirty="0">
                <a:latin typeface="BIZ UDPゴシック" panose="020B0400000000000000" pitchFamily="50" charset="-128"/>
                <a:ea typeface="BIZ UDPゴシック" panose="020B0400000000000000" pitchFamily="50" charset="-128"/>
              </a:rPr>
              <a:t>タイムのオンエア」を</a:t>
            </a:r>
            <a:r>
              <a:rPr lang="ja-JP" altLang="en-US" sz="1400" dirty="0">
                <a:solidFill>
                  <a:srgbClr val="C00000"/>
                </a:solidFill>
                <a:latin typeface="BIZ UDPゴシック" panose="020B0400000000000000" pitchFamily="50" charset="-128"/>
                <a:ea typeface="BIZ UDPゴシック" panose="020B0400000000000000" pitchFamily="50" charset="-128"/>
              </a:rPr>
              <a:t>月で</a:t>
            </a:r>
            <a:r>
              <a:rPr lang="en-US" altLang="ja-JP" sz="1400" dirty="0">
                <a:solidFill>
                  <a:srgbClr val="C00000"/>
                </a:solidFill>
                <a:latin typeface="BIZ UDPゴシック" panose="020B0400000000000000" pitchFamily="50" charset="-128"/>
                <a:ea typeface="BIZ UDPゴシック" panose="020B0400000000000000" pitchFamily="50" charset="-128"/>
              </a:rPr>
              <a:t>4</a:t>
            </a:r>
            <a:r>
              <a:rPr lang="ja-JP" altLang="en-US" sz="1400" dirty="0">
                <a:solidFill>
                  <a:srgbClr val="C00000"/>
                </a:solidFill>
                <a:latin typeface="BIZ UDPゴシック" panose="020B0400000000000000" pitchFamily="50" charset="-128"/>
                <a:ea typeface="BIZ UDPゴシック" panose="020B0400000000000000" pitchFamily="50" charset="-128"/>
              </a:rPr>
              <a:t>本</a:t>
            </a:r>
            <a:r>
              <a:rPr lang="ja-JP" altLang="en-US" sz="1400" dirty="0">
                <a:latin typeface="BIZ UDPゴシック" panose="020B0400000000000000" pitchFamily="50" charset="-128"/>
                <a:ea typeface="BIZ UDPゴシック" panose="020B0400000000000000" pitchFamily="50" charset="-128"/>
              </a:rPr>
              <a:t>確約</a:t>
            </a:r>
            <a:endParaRPr lang="en-US" altLang="ja-JP" sz="1400" dirty="0">
              <a:latin typeface="BIZ UDPゴシック" panose="020B0400000000000000" pitchFamily="50" charset="-128"/>
              <a:ea typeface="BIZ UDPゴシック" panose="020B0400000000000000" pitchFamily="50" charset="-128"/>
            </a:endParaRPr>
          </a:p>
          <a:p>
            <a:pPr fontAlgn="base"/>
            <a:r>
              <a:rPr lang="ja-JP" altLang="en-US" sz="1400" dirty="0">
                <a:latin typeface="BIZ UDPゴシック" panose="020B0400000000000000" pitchFamily="50" charset="-128"/>
                <a:ea typeface="BIZ UDPゴシック" panose="020B0400000000000000" pitchFamily="50" charset="-128"/>
              </a:rPr>
              <a:t>　①平日：報道ステーション</a:t>
            </a:r>
            <a:r>
              <a:rPr lang="en-US" altLang="ja-JP" sz="1400" dirty="0">
                <a:latin typeface="BIZ UDPゴシック" panose="020B0400000000000000" pitchFamily="50" charset="-128"/>
                <a:ea typeface="BIZ UDPゴシック" panose="020B0400000000000000" pitchFamily="50" charset="-128"/>
              </a:rPr>
              <a:t>×2</a:t>
            </a:r>
            <a:r>
              <a:rPr lang="ja-JP" altLang="en-US" sz="1400" dirty="0">
                <a:latin typeface="BIZ UDPゴシック" panose="020B0400000000000000" pitchFamily="50" charset="-128"/>
                <a:ea typeface="BIZ UDPゴシック" panose="020B0400000000000000" pitchFamily="50" charset="-128"/>
              </a:rPr>
              <a:t>回／　</a:t>
            </a:r>
            <a:r>
              <a:rPr lang="ja-JP" altLang="en-US" sz="1400" dirty="0">
                <a:solidFill>
                  <a:srgbClr val="C00000"/>
                </a:solidFill>
                <a:latin typeface="BIZ UDPゴシック" panose="020B0400000000000000" pitchFamily="50" charset="-128"/>
                <a:ea typeface="BIZ UDPゴシック" panose="020B0400000000000000" pitchFamily="50" charset="-128"/>
              </a:rPr>
              <a:t>月で</a:t>
            </a:r>
            <a:r>
              <a:rPr lang="en-US" altLang="ja-JP" sz="1400" dirty="0">
                <a:solidFill>
                  <a:srgbClr val="C00000"/>
                </a:solidFill>
                <a:latin typeface="BIZ UDPゴシック" panose="020B0400000000000000" pitchFamily="50" charset="-128"/>
                <a:ea typeface="BIZ UDPゴシック" panose="020B0400000000000000" pitchFamily="50" charset="-128"/>
              </a:rPr>
              <a:t>2</a:t>
            </a:r>
            <a:r>
              <a:rPr lang="ja-JP" altLang="en-US" sz="1400" dirty="0">
                <a:solidFill>
                  <a:srgbClr val="C00000"/>
                </a:solidFill>
                <a:latin typeface="BIZ UDPゴシック" panose="020B0400000000000000" pitchFamily="50" charset="-128"/>
                <a:ea typeface="BIZ UDPゴシック" panose="020B0400000000000000" pitchFamily="50" charset="-128"/>
              </a:rPr>
              <a:t>本</a:t>
            </a:r>
            <a:r>
              <a:rPr lang="ja-JP" altLang="en-US" sz="1400" dirty="0">
                <a:latin typeface="BIZ UDPゴシック" panose="020B0400000000000000" pitchFamily="50" charset="-128"/>
                <a:ea typeface="BIZ UDPゴシック" panose="020B0400000000000000" pitchFamily="50" charset="-128"/>
              </a:rPr>
              <a:t>は確約</a:t>
            </a:r>
          </a:p>
          <a:p>
            <a:pPr fontAlgn="base"/>
            <a:r>
              <a:rPr lang="ja-JP" altLang="en-US" sz="1400" dirty="0">
                <a:latin typeface="BIZ UDPゴシック" panose="020B0400000000000000" pitchFamily="50" charset="-128"/>
                <a:ea typeface="BIZ UDPゴシック" panose="020B0400000000000000" pitchFamily="50" charset="-128"/>
              </a:rPr>
              <a:t>　②土曜日：池上彰のニュース</a:t>
            </a:r>
            <a:r>
              <a:rPr lang="en-US" altLang="ja-JP" sz="1400" dirty="0">
                <a:latin typeface="BIZ UDPゴシック" panose="020B0400000000000000" pitchFamily="50" charset="-128"/>
                <a:ea typeface="BIZ UDPゴシック" panose="020B0400000000000000" pitchFamily="50" charset="-128"/>
              </a:rPr>
              <a:t>or</a:t>
            </a:r>
            <a:r>
              <a:rPr lang="ja-JP" altLang="en-US" sz="1400" dirty="0">
                <a:latin typeface="BIZ UDPゴシック" panose="020B0400000000000000" pitchFamily="50" charset="-128"/>
                <a:ea typeface="BIZ UDPゴシック" panose="020B0400000000000000" pitchFamily="50" charset="-128"/>
              </a:rPr>
              <a:t>サタデーステーション　</a:t>
            </a:r>
            <a:r>
              <a:rPr lang="ja-JP" altLang="en-US" sz="1400" dirty="0">
                <a:solidFill>
                  <a:srgbClr val="C00000"/>
                </a:solidFill>
                <a:latin typeface="BIZ UDPゴシック" panose="020B0400000000000000" pitchFamily="50" charset="-128"/>
                <a:ea typeface="BIZ UDPゴシック" panose="020B0400000000000000" pitchFamily="50" charset="-128"/>
              </a:rPr>
              <a:t>月で１本どちら</a:t>
            </a:r>
            <a:r>
              <a:rPr lang="ja-JP" altLang="en-US" sz="1400" dirty="0">
                <a:latin typeface="BIZ UDPゴシック" panose="020B0400000000000000" pitchFamily="50" charset="-128"/>
                <a:ea typeface="BIZ UDPゴシック" panose="020B0400000000000000" pitchFamily="50" charset="-128"/>
              </a:rPr>
              <a:t>かを確約</a:t>
            </a:r>
          </a:p>
          <a:p>
            <a:pPr fontAlgn="base"/>
            <a:r>
              <a:rPr lang="ja-JP" altLang="en-US" sz="1400" dirty="0">
                <a:latin typeface="BIZ UDPゴシック" panose="020B0400000000000000" pitchFamily="50" charset="-128"/>
                <a:ea typeface="BIZ UDPゴシック" panose="020B0400000000000000" pitchFamily="50" charset="-128"/>
              </a:rPr>
              <a:t>　③日曜日：ポツンと一軒家</a:t>
            </a:r>
            <a:r>
              <a:rPr lang="en-US" altLang="ja-JP" sz="1400" dirty="0">
                <a:latin typeface="BIZ UDPゴシック" panose="020B0400000000000000" pitchFamily="50" charset="-128"/>
                <a:ea typeface="BIZ UDPゴシック" panose="020B0400000000000000" pitchFamily="50" charset="-128"/>
              </a:rPr>
              <a:t>or</a:t>
            </a:r>
            <a:r>
              <a:rPr lang="ja-JP" altLang="en-US" sz="1400" dirty="0">
                <a:latin typeface="BIZ UDPゴシック" panose="020B0400000000000000" pitchFamily="50" charset="-128"/>
                <a:ea typeface="BIZ UDPゴシック" panose="020B0400000000000000" pitchFamily="50" charset="-128"/>
              </a:rPr>
              <a:t>ナニコレ珍百景</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　　</a:t>
            </a:r>
            <a:r>
              <a:rPr lang="ja-JP" altLang="en-US" sz="1400" dirty="0">
                <a:solidFill>
                  <a:srgbClr val="C00000"/>
                </a:solidFill>
                <a:latin typeface="BIZ UDPゴシック" panose="020B0400000000000000" pitchFamily="50" charset="-128"/>
                <a:ea typeface="BIZ UDPゴシック" panose="020B0400000000000000" pitchFamily="50" charset="-128"/>
              </a:rPr>
              <a:t>月で１本</a:t>
            </a:r>
            <a:r>
              <a:rPr lang="ja-JP" altLang="en-US" sz="1400" dirty="0">
                <a:latin typeface="BIZ UDPゴシック" panose="020B0400000000000000" pitchFamily="50" charset="-128"/>
                <a:ea typeface="BIZ UDPゴシック" panose="020B0400000000000000" pitchFamily="50" charset="-128"/>
              </a:rPr>
              <a:t>どちらかを確約</a:t>
            </a:r>
          </a:p>
          <a:p>
            <a:pPr fontAlgn="base"/>
            <a:r>
              <a:rPr lang="en-US" altLang="ja-JP" sz="1400" dirty="0">
                <a:latin typeface="BIZ UDPゴシック" panose="020B0400000000000000" pitchFamily="50" charset="-128"/>
                <a:ea typeface="BIZ UDPゴシック" panose="020B0400000000000000" pitchFamily="50" charset="-128"/>
              </a:rPr>
              <a:t>SB</a:t>
            </a:r>
            <a:r>
              <a:rPr lang="ja-JP" altLang="en-US" sz="1400" dirty="0">
                <a:latin typeface="BIZ UDPゴシック" panose="020B0400000000000000" pitchFamily="50" charset="-128"/>
                <a:ea typeface="BIZ UDPゴシック" panose="020B0400000000000000" pitchFamily="50" charset="-128"/>
              </a:rPr>
              <a:t>帯：①平日：モーニングショー</a:t>
            </a:r>
            <a:r>
              <a:rPr lang="en-US" altLang="ja-JP" sz="1400" dirty="0">
                <a:latin typeface="BIZ UDPゴシック" panose="020B0400000000000000" pitchFamily="50" charset="-128"/>
                <a:ea typeface="BIZ UDPゴシック" panose="020B0400000000000000" pitchFamily="50" charset="-128"/>
              </a:rPr>
              <a:t>×</a:t>
            </a:r>
            <a:r>
              <a:rPr lang="ja-JP" altLang="en-US" sz="1400" dirty="0">
                <a:solidFill>
                  <a:srgbClr val="C00000"/>
                </a:solidFill>
                <a:latin typeface="BIZ UDPゴシック" panose="020B0400000000000000" pitchFamily="50" charset="-128"/>
                <a:ea typeface="BIZ UDPゴシック" panose="020B0400000000000000" pitchFamily="50" charset="-128"/>
              </a:rPr>
              <a:t>月で</a:t>
            </a:r>
            <a:r>
              <a:rPr lang="en-US" altLang="ja-JP" sz="1400" dirty="0">
                <a:solidFill>
                  <a:srgbClr val="C00000"/>
                </a:solidFill>
                <a:latin typeface="BIZ UDPゴシック" panose="020B0400000000000000" pitchFamily="50" charset="-128"/>
                <a:ea typeface="BIZ UDPゴシック" panose="020B0400000000000000" pitchFamily="50" charset="-128"/>
              </a:rPr>
              <a:t>2</a:t>
            </a:r>
            <a:r>
              <a:rPr lang="ja-JP" altLang="en-US" sz="1400" dirty="0">
                <a:solidFill>
                  <a:srgbClr val="C00000"/>
                </a:solidFill>
                <a:latin typeface="BIZ UDPゴシック" panose="020B0400000000000000" pitchFamily="50" charset="-128"/>
                <a:ea typeface="BIZ UDPゴシック" panose="020B0400000000000000" pitchFamily="50" charset="-128"/>
              </a:rPr>
              <a:t>回</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大下容子ワイドスクランブル</a:t>
            </a:r>
            <a:r>
              <a:rPr lang="en-US" altLang="ja-JP" sz="1400" dirty="0">
                <a:latin typeface="BIZ UDPゴシック" panose="020B0400000000000000" pitchFamily="50" charset="-128"/>
                <a:ea typeface="BIZ UDPゴシック" panose="020B0400000000000000" pitchFamily="50" charset="-128"/>
              </a:rPr>
              <a:t>×</a:t>
            </a:r>
            <a:r>
              <a:rPr lang="ja-JP" altLang="en-US" sz="1400" dirty="0">
                <a:solidFill>
                  <a:srgbClr val="C00000"/>
                </a:solidFill>
                <a:latin typeface="BIZ UDPゴシック" panose="020B0400000000000000" pitchFamily="50" charset="-128"/>
                <a:ea typeface="BIZ UDPゴシック" panose="020B0400000000000000" pitchFamily="50" charset="-128"/>
              </a:rPr>
              <a:t>月で２回</a:t>
            </a:r>
          </a:p>
          <a:p>
            <a:pPr fontAlgn="base"/>
            <a:r>
              <a:rPr lang="en-US" altLang="ja-JP" sz="1400" dirty="0">
                <a:latin typeface="BIZ UDPゴシック" panose="020B0400000000000000" pitchFamily="50" charset="-128"/>
                <a:ea typeface="BIZ UDPゴシック" panose="020B0400000000000000" pitchFamily="50" charset="-128"/>
              </a:rPr>
              <a:t>B</a:t>
            </a:r>
            <a:r>
              <a:rPr lang="ja-JP" altLang="en-US" sz="1400" dirty="0">
                <a:latin typeface="BIZ UDPゴシック" panose="020B0400000000000000" pitchFamily="50" charset="-128"/>
                <a:ea typeface="BIZ UDPゴシック" panose="020B0400000000000000" pitchFamily="50" charset="-128"/>
              </a:rPr>
              <a:t>タイム：グッドモーニング</a:t>
            </a:r>
            <a:r>
              <a:rPr lang="en-US" altLang="ja-JP" sz="1400" dirty="0">
                <a:latin typeface="BIZ UDPゴシック" panose="020B0400000000000000" pitchFamily="50" charset="-128"/>
                <a:ea typeface="BIZ UDPゴシック" panose="020B0400000000000000" pitchFamily="50" charset="-128"/>
              </a:rPr>
              <a:t>×</a:t>
            </a:r>
            <a:r>
              <a:rPr lang="ja-JP" altLang="en-US" sz="1400" dirty="0">
                <a:solidFill>
                  <a:srgbClr val="C00000"/>
                </a:solidFill>
                <a:latin typeface="BIZ UDPゴシック" panose="020B0400000000000000" pitchFamily="50" charset="-128"/>
                <a:ea typeface="BIZ UDPゴシック" panose="020B0400000000000000" pitchFamily="50" charset="-128"/>
              </a:rPr>
              <a:t>月で５回</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午後セレクション</a:t>
            </a:r>
            <a:r>
              <a:rPr lang="en-US" altLang="ja-JP" sz="1400" dirty="0">
                <a:latin typeface="BIZ UDPゴシック" panose="020B0400000000000000" pitchFamily="50" charset="-128"/>
                <a:ea typeface="BIZ UDPゴシック" panose="020B0400000000000000" pitchFamily="50" charset="-128"/>
              </a:rPr>
              <a:t>×</a:t>
            </a:r>
            <a:r>
              <a:rPr lang="ja-JP" altLang="en-US" sz="1400" dirty="0">
                <a:solidFill>
                  <a:srgbClr val="C00000"/>
                </a:solidFill>
                <a:latin typeface="BIZ UDPゴシック" panose="020B0400000000000000" pitchFamily="50" charset="-128"/>
                <a:ea typeface="BIZ UDPゴシック" panose="020B0400000000000000" pitchFamily="50" charset="-128"/>
              </a:rPr>
              <a:t>月で</a:t>
            </a:r>
            <a:r>
              <a:rPr lang="en-US" altLang="ja-JP" sz="1400" dirty="0">
                <a:solidFill>
                  <a:srgbClr val="C00000"/>
                </a:solidFill>
                <a:latin typeface="BIZ UDPゴシック" panose="020B0400000000000000" pitchFamily="50" charset="-128"/>
                <a:ea typeface="BIZ UDPゴシック" panose="020B0400000000000000" pitchFamily="50" charset="-128"/>
              </a:rPr>
              <a:t>2</a:t>
            </a:r>
            <a:r>
              <a:rPr lang="ja-JP" altLang="en-US" sz="1400" dirty="0">
                <a:solidFill>
                  <a:srgbClr val="C00000"/>
                </a:solidFill>
                <a:latin typeface="BIZ UDPゴシック" panose="020B0400000000000000" pitchFamily="50" charset="-128"/>
                <a:ea typeface="BIZ UDPゴシック" panose="020B0400000000000000" pitchFamily="50" charset="-128"/>
              </a:rPr>
              <a:t>回</a:t>
            </a:r>
          </a:p>
          <a:p>
            <a:endParaRPr kumimoji="1" lang="en-US" altLang="ja-JP" sz="1400" dirty="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517ADE1F-1CD8-83F7-7B62-30DDF75C3EB6}"/>
              </a:ext>
            </a:extLst>
          </p:cNvPr>
          <p:cNvSpPr txBox="1"/>
          <p:nvPr/>
        </p:nvSpPr>
        <p:spPr>
          <a:xfrm>
            <a:off x="92294" y="6282933"/>
            <a:ext cx="6724918" cy="307777"/>
          </a:xfrm>
          <a:prstGeom prst="rect">
            <a:avLst/>
          </a:prstGeom>
          <a:noFill/>
        </p:spPr>
        <p:txBody>
          <a:bodyPr wrap="none" rtlCol="0">
            <a:spAutoFit/>
          </a:bodyPr>
          <a:lstStyle/>
          <a:p>
            <a:r>
              <a:rPr lang="ja-JP" altLang="en-US" sz="1400" dirty="0">
                <a:highlight>
                  <a:srgbClr val="FFFF00"/>
                </a:highlight>
                <a:latin typeface="BIZ UDPゴシック" panose="020B0400000000000000" pitchFamily="50" charset="-128"/>
                <a:ea typeface="BIZ UDPゴシック" panose="020B0400000000000000" pitchFamily="50" charset="-128"/>
              </a:rPr>
              <a:t>総合計：</a:t>
            </a:r>
            <a:r>
              <a:rPr lang="en-US" altLang="ja-JP" sz="1400" dirty="0">
                <a:highlight>
                  <a:srgbClr val="FFFF00"/>
                </a:highlight>
                <a:latin typeface="BIZ UDPゴシック" panose="020B0400000000000000" pitchFamily="50" charset="-128"/>
                <a:ea typeface="BIZ UDPゴシック" panose="020B0400000000000000" pitchFamily="50" charset="-128"/>
              </a:rPr>
              <a:t>A</a:t>
            </a:r>
            <a:r>
              <a:rPr lang="ja-JP" altLang="en-US" sz="1400" dirty="0">
                <a:highlight>
                  <a:srgbClr val="FFFF00"/>
                </a:highlight>
                <a:latin typeface="BIZ UDPゴシック" panose="020B0400000000000000" pitchFamily="50" charset="-128"/>
                <a:ea typeface="BIZ UDPゴシック" panose="020B0400000000000000" pitchFamily="50" charset="-128"/>
              </a:rPr>
              <a:t>タイム</a:t>
            </a:r>
            <a:r>
              <a:rPr lang="en-US" altLang="ja-JP" sz="1400" dirty="0">
                <a:highlight>
                  <a:srgbClr val="FFFF00"/>
                </a:highlight>
                <a:latin typeface="BIZ UDPゴシック" panose="020B0400000000000000" pitchFamily="50" charset="-128"/>
                <a:ea typeface="BIZ UDPゴシック" panose="020B0400000000000000" pitchFamily="50" charset="-128"/>
              </a:rPr>
              <a:t>8</a:t>
            </a:r>
            <a:r>
              <a:rPr lang="ja-JP" altLang="en-US" sz="1400" dirty="0">
                <a:highlight>
                  <a:srgbClr val="FFFF00"/>
                </a:highlight>
                <a:latin typeface="BIZ UDPゴシック" panose="020B0400000000000000" pitchFamily="50" charset="-128"/>
                <a:ea typeface="BIZ UDPゴシック" panose="020B0400000000000000" pitchFamily="50" charset="-128"/>
              </a:rPr>
              <a:t>本、</a:t>
            </a:r>
            <a:r>
              <a:rPr lang="en-US" altLang="ja-JP" sz="1400" dirty="0">
                <a:highlight>
                  <a:srgbClr val="FFFF00"/>
                </a:highlight>
                <a:latin typeface="BIZ UDPゴシック" panose="020B0400000000000000" pitchFamily="50" charset="-128"/>
                <a:ea typeface="BIZ UDPゴシック" panose="020B0400000000000000" pitchFamily="50" charset="-128"/>
              </a:rPr>
              <a:t>SB</a:t>
            </a:r>
            <a:r>
              <a:rPr lang="ja-JP" altLang="en-US" sz="1400" dirty="0">
                <a:highlight>
                  <a:srgbClr val="FFFF00"/>
                </a:highlight>
                <a:latin typeface="BIZ UDPゴシック" panose="020B0400000000000000" pitchFamily="50" charset="-128"/>
                <a:ea typeface="BIZ UDPゴシック" panose="020B0400000000000000" pitchFamily="50" charset="-128"/>
              </a:rPr>
              <a:t>タイム</a:t>
            </a:r>
            <a:r>
              <a:rPr lang="en-US" altLang="ja-JP" sz="1400" dirty="0">
                <a:highlight>
                  <a:srgbClr val="FFFF00"/>
                </a:highlight>
                <a:latin typeface="BIZ UDPゴシック" panose="020B0400000000000000" pitchFamily="50" charset="-128"/>
                <a:ea typeface="BIZ UDPゴシック" panose="020B0400000000000000" pitchFamily="50" charset="-128"/>
              </a:rPr>
              <a:t>16</a:t>
            </a:r>
            <a:r>
              <a:rPr lang="ja-JP" altLang="en-US" sz="1400" dirty="0">
                <a:highlight>
                  <a:srgbClr val="FFFF00"/>
                </a:highlight>
                <a:latin typeface="BIZ UDPゴシック" panose="020B0400000000000000" pitchFamily="50" charset="-128"/>
                <a:ea typeface="BIZ UDPゴシック" panose="020B0400000000000000" pitchFamily="50" charset="-128"/>
              </a:rPr>
              <a:t>本、</a:t>
            </a:r>
            <a:r>
              <a:rPr lang="en-US" altLang="ja-JP" sz="1400" dirty="0">
                <a:highlight>
                  <a:srgbClr val="FFFF00"/>
                </a:highlight>
                <a:latin typeface="BIZ UDPゴシック" panose="020B0400000000000000" pitchFamily="50" charset="-128"/>
                <a:ea typeface="BIZ UDPゴシック" panose="020B0400000000000000" pitchFamily="50" charset="-128"/>
              </a:rPr>
              <a:t>40</a:t>
            </a:r>
            <a:r>
              <a:rPr lang="ja-JP" altLang="en-US" sz="1400" dirty="0">
                <a:highlight>
                  <a:srgbClr val="FFFF00"/>
                </a:highlight>
                <a:latin typeface="BIZ UDPゴシック" panose="020B0400000000000000" pitchFamily="50" charset="-128"/>
                <a:ea typeface="BIZ UDPゴシック" panose="020B0400000000000000" pitchFamily="50" charset="-128"/>
              </a:rPr>
              <a:t>本　総合計：</a:t>
            </a:r>
            <a:r>
              <a:rPr lang="en-US" altLang="ja-JP" sz="1400" dirty="0">
                <a:highlight>
                  <a:srgbClr val="FFFF00"/>
                </a:highlight>
                <a:latin typeface="BIZ UDPゴシック" panose="020B0400000000000000" pitchFamily="50" charset="-128"/>
                <a:ea typeface="BIZ UDPゴシック" panose="020B0400000000000000" pitchFamily="50" charset="-128"/>
              </a:rPr>
              <a:t>64</a:t>
            </a:r>
            <a:r>
              <a:rPr lang="ja-JP" altLang="en-US" sz="1400" dirty="0">
                <a:highlight>
                  <a:srgbClr val="FFFF00"/>
                </a:highlight>
                <a:latin typeface="BIZ UDPゴシック" panose="020B0400000000000000" pitchFamily="50" charset="-128"/>
                <a:ea typeface="BIZ UDPゴシック" panose="020B0400000000000000" pitchFamily="50" charset="-128"/>
              </a:rPr>
              <a:t>本（予算：月</a:t>
            </a:r>
            <a:r>
              <a:rPr lang="en-US" altLang="ja-JP" sz="1400" dirty="0">
                <a:highlight>
                  <a:srgbClr val="FFFF00"/>
                </a:highlight>
                <a:latin typeface="BIZ UDPゴシック" panose="020B0400000000000000" pitchFamily="50" charset="-128"/>
                <a:ea typeface="BIZ UDPゴシック" panose="020B0400000000000000" pitchFamily="50" charset="-128"/>
              </a:rPr>
              <a:t>/80</a:t>
            </a:r>
            <a:r>
              <a:rPr lang="ja-JP" altLang="en-US" sz="1400" dirty="0">
                <a:highlight>
                  <a:srgbClr val="FFFF00"/>
                </a:highlight>
                <a:latin typeface="BIZ UDPゴシック" panose="020B0400000000000000" pitchFamily="50" charset="-128"/>
                <a:ea typeface="BIZ UDPゴシック" panose="020B0400000000000000" pitchFamily="50" charset="-128"/>
              </a:rPr>
              <a:t>万の場合）</a:t>
            </a:r>
            <a:endParaRPr kumimoji="1" lang="en-US" altLang="ja-JP" sz="1400" dirty="0">
              <a:highlight>
                <a:srgbClr val="FFFF00"/>
              </a:highlight>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17C4AE79-0C5D-6BC4-D370-D9D13834D2F6}"/>
              </a:ext>
            </a:extLst>
          </p:cNvPr>
          <p:cNvSpPr txBox="1"/>
          <p:nvPr/>
        </p:nvSpPr>
        <p:spPr>
          <a:xfrm>
            <a:off x="7259320" y="5507525"/>
            <a:ext cx="4682692" cy="646331"/>
          </a:xfrm>
          <a:prstGeom prst="rect">
            <a:avLst/>
          </a:prstGeom>
          <a:noFill/>
        </p:spPr>
        <p:txBody>
          <a:bodyPr wrap="none" rtlCol="0">
            <a:spAutoFit/>
          </a:bodyPr>
          <a:lstStyle/>
          <a:p>
            <a:pPr algn="ctr"/>
            <a:r>
              <a:rPr kumimoji="1" lang="ja-JP" altLang="en-US" dirty="0">
                <a:solidFill>
                  <a:srgbClr val="C00000"/>
                </a:solidFill>
                <a:latin typeface="BIZ UDPゴシック" panose="020B0400000000000000" pitchFamily="50" charset="-128"/>
                <a:ea typeface="BIZ UDPゴシック" panose="020B0400000000000000" pitchFamily="50" charset="-128"/>
              </a:rPr>
              <a:t>高視聴率番組に効果的に</a:t>
            </a:r>
            <a:r>
              <a:rPr kumimoji="1" lang="en-US" altLang="ja-JP" dirty="0">
                <a:solidFill>
                  <a:srgbClr val="C00000"/>
                </a:solidFill>
                <a:latin typeface="BIZ UDPゴシック" panose="020B0400000000000000" pitchFamily="50" charset="-128"/>
                <a:ea typeface="BIZ UDPゴシック" panose="020B0400000000000000" pitchFamily="50" charset="-128"/>
              </a:rPr>
              <a:t>CM</a:t>
            </a:r>
            <a:r>
              <a:rPr kumimoji="1" lang="ja-JP" altLang="en-US" dirty="0">
                <a:solidFill>
                  <a:srgbClr val="C00000"/>
                </a:solidFill>
                <a:latin typeface="BIZ UDPゴシック" panose="020B0400000000000000" pitchFamily="50" charset="-128"/>
                <a:ea typeface="BIZ UDPゴシック" panose="020B0400000000000000" pitchFamily="50" charset="-128"/>
              </a:rPr>
              <a:t>を差し込みつつ</a:t>
            </a:r>
            <a:endParaRPr kumimoji="1" lang="en-US" altLang="ja-JP" dirty="0">
              <a:solidFill>
                <a:srgbClr val="C00000"/>
              </a:solidFill>
              <a:latin typeface="BIZ UDPゴシック" panose="020B0400000000000000" pitchFamily="50" charset="-128"/>
              <a:ea typeface="BIZ UDPゴシック" panose="020B0400000000000000" pitchFamily="50" charset="-128"/>
            </a:endParaRPr>
          </a:p>
          <a:p>
            <a:pPr algn="ctr"/>
            <a:r>
              <a:rPr lang="ja-JP" altLang="en-US" dirty="0">
                <a:solidFill>
                  <a:srgbClr val="C00000"/>
                </a:solidFill>
                <a:latin typeface="BIZ UDPゴシック" panose="020B0400000000000000" pitchFamily="50" charset="-128"/>
                <a:ea typeface="BIZ UDPゴシック" panose="020B0400000000000000" pitchFamily="50" charset="-128"/>
              </a:rPr>
              <a:t>ターゲットの</a:t>
            </a:r>
            <a:r>
              <a:rPr lang="en-US" altLang="ja-JP" dirty="0">
                <a:solidFill>
                  <a:srgbClr val="C00000"/>
                </a:solidFill>
                <a:latin typeface="BIZ UDPゴシック" panose="020B0400000000000000" pitchFamily="50" charset="-128"/>
                <a:ea typeface="BIZ UDPゴシック" panose="020B0400000000000000" pitchFamily="50" charset="-128"/>
              </a:rPr>
              <a:t>CM</a:t>
            </a:r>
            <a:r>
              <a:rPr lang="ja-JP" altLang="en-US" dirty="0">
                <a:solidFill>
                  <a:srgbClr val="C00000"/>
                </a:solidFill>
                <a:latin typeface="BIZ UDPゴシック" panose="020B0400000000000000" pitchFamily="50" charset="-128"/>
                <a:ea typeface="BIZ UDPゴシック" panose="020B0400000000000000" pitchFamily="50" charset="-128"/>
              </a:rPr>
              <a:t>視聴を稼ぐ方法を検討</a:t>
            </a:r>
            <a:endParaRPr kumimoji="1" lang="ja-JP" altLang="en-US" dirty="0">
              <a:solidFill>
                <a:srgbClr val="C00000"/>
              </a:solidFill>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A456B482-5DAC-8E5A-B17B-7C6DC4FC3BE5}"/>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7EB66B0-C03F-6E8B-A9CB-49BD3F33746B}"/>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スライド番号プレースホルダー 10">
            <a:extLst>
              <a:ext uri="{FF2B5EF4-FFF2-40B4-BE49-F238E27FC236}">
                <a16:creationId xmlns:a16="http://schemas.microsoft.com/office/drawing/2014/main" id="{F09CEBAE-502B-3FA0-3928-607F1D5E8588}"/>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9</a:t>
            </a:fld>
            <a:endParaRPr lang="ja-JP" altLang="en-US"/>
          </a:p>
        </p:txBody>
      </p:sp>
    </p:spTree>
    <p:extLst>
      <p:ext uri="{BB962C8B-B14F-4D97-AF65-F5344CB8AC3E}">
        <p14:creationId xmlns:p14="http://schemas.microsoft.com/office/powerpoint/2010/main" val="1828270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3794629"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＞＞掛け率での</a:t>
            </a:r>
            <a:r>
              <a:rPr kumimoji="1" lang="en-US" altLang="ja-JP" dirty="0">
                <a:latin typeface="BIZ UDPゴシック" panose="020B0400000000000000" pitchFamily="50" charset="-128"/>
                <a:ea typeface="BIZ UDPゴシック" panose="020B0400000000000000" pitchFamily="50" charset="-128"/>
              </a:rPr>
              <a:t>CM</a:t>
            </a:r>
            <a:r>
              <a:rPr kumimoji="1" lang="ja-JP" altLang="en-US" dirty="0">
                <a:latin typeface="BIZ UDPゴシック" panose="020B0400000000000000" pitchFamily="50" charset="-128"/>
                <a:ea typeface="BIZ UDPゴシック" panose="020B0400000000000000" pitchFamily="50" charset="-128"/>
              </a:rPr>
              <a:t>枠取得について</a:t>
            </a:r>
          </a:p>
        </p:txBody>
      </p:sp>
      <p:pic>
        <p:nvPicPr>
          <p:cNvPr id="10" name="図 9">
            <a:extLst>
              <a:ext uri="{FF2B5EF4-FFF2-40B4-BE49-F238E27FC236}">
                <a16:creationId xmlns:a16="http://schemas.microsoft.com/office/drawing/2014/main" id="{56152D01-4DAA-A111-5B1F-4840EEE6CA98}"/>
              </a:ext>
            </a:extLst>
          </p:cNvPr>
          <p:cNvPicPr>
            <a:picLocks noChangeAspect="1"/>
          </p:cNvPicPr>
          <p:nvPr/>
        </p:nvPicPr>
        <p:blipFill>
          <a:blip r:embed="rId3"/>
          <a:stretch>
            <a:fillRect/>
          </a:stretch>
        </p:blipFill>
        <p:spPr>
          <a:xfrm>
            <a:off x="4469075" y="1910542"/>
            <a:ext cx="3302025" cy="4739640"/>
          </a:xfrm>
          <a:prstGeom prst="rect">
            <a:avLst/>
          </a:prstGeom>
        </p:spPr>
      </p:pic>
      <p:pic>
        <p:nvPicPr>
          <p:cNvPr id="12" name="図 11">
            <a:extLst>
              <a:ext uri="{FF2B5EF4-FFF2-40B4-BE49-F238E27FC236}">
                <a16:creationId xmlns:a16="http://schemas.microsoft.com/office/drawing/2014/main" id="{D56517BE-D20C-3DAB-847D-96BC1FB70596}"/>
              </a:ext>
            </a:extLst>
          </p:cNvPr>
          <p:cNvPicPr>
            <a:picLocks noChangeAspect="1"/>
          </p:cNvPicPr>
          <p:nvPr/>
        </p:nvPicPr>
        <p:blipFill>
          <a:blip r:embed="rId4"/>
          <a:stretch>
            <a:fillRect/>
          </a:stretch>
        </p:blipFill>
        <p:spPr>
          <a:xfrm>
            <a:off x="8076511" y="1919342"/>
            <a:ext cx="3302025" cy="4730840"/>
          </a:xfrm>
          <a:prstGeom prst="rect">
            <a:avLst/>
          </a:prstGeom>
        </p:spPr>
      </p:pic>
      <p:pic>
        <p:nvPicPr>
          <p:cNvPr id="14" name="図 13">
            <a:extLst>
              <a:ext uri="{FF2B5EF4-FFF2-40B4-BE49-F238E27FC236}">
                <a16:creationId xmlns:a16="http://schemas.microsoft.com/office/drawing/2014/main" id="{540356EA-46EF-D753-0C0F-53C8701DA24D}"/>
              </a:ext>
            </a:extLst>
          </p:cNvPr>
          <p:cNvPicPr>
            <a:picLocks noChangeAspect="1"/>
          </p:cNvPicPr>
          <p:nvPr/>
        </p:nvPicPr>
        <p:blipFill>
          <a:blip r:embed="rId5"/>
          <a:stretch>
            <a:fillRect/>
          </a:stretch>
        </p:blipFill>
        <p:spPr>
          <a:xfrm>
            <a:off x="861639" y="1935406"/>
            <a:ext cx="3302025" cy="4714776"/>
          </a:xfrm>
          <a:prstGeom prst="rect">
            <a:avLst/>
          </a:prstGeom>
        </p:spPr>
      </p:pic>
      <p:sp>
        <p:nvSpPr>
          <p:cNvPr id="3" name="テキスト ボックス 2">
            <a:extLst>
              <a:ext uri="{FF2B5EF4-FFF2-40B4-BE49-F238E27FC236}">
                <a16:creationId xmlns:a16="http://schemas.microsoft.com/office/drawing/2014/main" id="{A635D3F6-D9E0-838C-3953-705B0D9A71B2}"/>
              </a:ext>
            </a:extLst>
          </p:cNvPr>
          <p:cNvSpPr txBox="1"/>
          <p:nvPr/>
        </p:nvSpPr>
        <p:spPr>
          <a:xfrm>
            <a:off x="2512651" y="1910542"/>
            <a:ext cx="721672" cy="369332"/>
          </a:xfrm>
          <a:prstGeom prst="rect">
            <a:avLst/>
          </a:prstGeom>
          <a:noFill/>
        </p:spPr>
        <p:txBody>
          <a:bodyPr wrap="none" rtlCol="0">
            <a:spAutoFit/>
          </a:bodyPr>
          <a:lstStyle/>
          <a:p>
            <a:r>
              <a:rPr lang="en-US" altLang="ja-JP" b="1" dirty="0">
                <a:latin typeface="BIZ UDPゴシック" panose="020B0400000000000000" pitchFamily="50" charset="-128"/>
                <a:ea typeface="BIZ UDPゴシック" panose="020B0400000000000000" pitchFamily="50" charset="-128"/>
              </a:rPr>
              <a:t>RBC</a:t>
            </a:r>
            <a:endParaRPr kumimoji="1" lang="en-US" altLang="ja-JP" b="1"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292A046A-D13B-12F5-1383-247C872F3117}"/>
              </a:ext>
            </a:extLst>
          </p:cNvPr>
          <p:cNvSpPr txBox="1"/>
          <p:nvPr/>
        </p:nvSpPr>
        <p:spPr>
          <a:xfrm>
            <a:off x="6094051" y="1910542"/>
            <a:ext cx="750526" cy="369332"/>
          </a:xfrm>
          <a:prstGeom prst="rect">
            <a:avLst/>
          </a:prstGeom>
          <a:noFill/>
        </p:spPr>
        <p:txBody>
          <a:bodyPr wrap="none" rtlCol="0">
            <a:spAutoFit/>
          </a:bodyPr>
          <a:lstStyle/>
          <a:p>
            <a:r>
              <a:rPr lang="en-US" altLang="ja-JP" b="1" dirty="0">
                <a:latin typeface="BIZ UDPゴシック" panose="020B0400000000000000" pitchFamily="50" charset="-128"/>
                <a:ea typeface="BIZ UDPゴシック" panose="020B0400000000000000" pitchFamily="50" charset="-128"/>
              </a:rPr>
              <a:t>QAB</a:t>
            </a:r>
            <a:endParaRPr kumimoji="1" lang="en-US" altLang="ja-JP" b="1" dirty="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6DD7BFD0-8E5C-D1E3-E0FA-4A3F64A46564}"/>
              </a:ext>
            </a:extLst>
          </p:cNvPr>
          <p:cNvSpPr txBox="1"/>
          <p:nvPr/>
        </p:nvSpPr>
        <p:spPr>
          <a:xfrm>
            <a:off x="9766891" y="1910542"/>
            <a:ext cx="724878" cy="369332"/>
          </a:xfrm>
          <a:prstGeom prst="rect">
            <a:avLst/>
          </a:prstGeom>
          <a:noFill/>
        </p:spPr>
        <p:txBody>
          <a:bodyPr wrap="none" rtlCol="0">
            <a:spAutoFit/>
          </a:bodyPr>
          <a:lstStyle/>
          <a:p>
            <a:r>
              <a:rPr lang="en-US" altLang="ja-JP" b="1" dirty="0">
                <a:latin typeface="BIZ UDPゴシック" panose="020B0400000000000000" pitchFamily="50" charset="-128"/>
                <a:ea typeface="BIZ UDPゴシック" panose="020B0400000000000000" pitchFamily="50" charset="-128"/>
              </a:rPr>
              <a:t>OTV</a:t>
            </a:r>
            <a:endParaRPr kumimoji="1" lang="en-US" altLang="ja-JP" b="1" dirty="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054DA49B-EF00-E1D9-AB16-D80DECA90E38}"/>
              </a:ext>
            </a:extLst>
          </p:cNvPr>
          <p:cNvSpPr txBox="1"/>
          <p:nvPr/>
        </p:nvSpPr>
        <p:spPr>
          <a:xfrm>
            <a:off x="332509" y="815469"/>
            <a:ext cx="7641836" cy="923330"/>
          </a:xfrm>
          <a:prstGeom prst="rect">
            <a:avLst/>
          </a:prstGeom>
          <a:noFill/>
        </p:spPr>
        <p:txBody>
          <a:bodyPr wrap="none" rtlCol="0">
            <a:spAutoFit/>
          </a:bodyPr>
          <a:lstStyle/>
          <a:p>
            <a:r>
              <a:rPr lang="ja-JP" altLang="en-US" dirty="0">
                <a:latin typeface="BIZ UDPゴシック" panose="020B0400000000000000" pitchFamily="50" charset="-128"/>
                <a:ea typeface="BIZ UDPゴシック" panose="020B0400000000000000" pitchFamily="50" charset="-128"/>
              </a:rPr>
              <a:t>各局の</a:t>
            </a:r>
            <a:r>
              <a:rPr lang="en-US" altLang="ja-JP" dirty="0">
                <a:latin typeface="BIZ UDPゴシック" panose="020B0400000000000000" pitchFamily="50" charset="-128"/>
                <a:ea typeface="BIZ UDPゴシック" panose="020B0400000000000000" pitchFamily="50" charset="-128"/>
              </a:rPr>
              <a:t>50</a:t>
            </a:r>
            <a:r>
              <a:rPr lang="ja-JP" altLang="en-US" dirty="0">
                <a:latin typeface="BIZ UDPゴシック" panose="020B0400000000000000" pitchFamily="50" charset="-128"/>
                <a:ea typeface="BIZ UDPゴシック" panose="020B0400000000000000" pitchFamily="50" charset="-128"/>
              </a:rPr>
              <a:t>代以上の視聴率が高い番組を見えるかした結果、</a:t>
            </a:r>
            <a:endParaRPr lang="en-US" altLang="ja-JP" dirty="0">
              <a:latin typeface="BIZ UDPゴシック" panose="020B0400000000000000" pitchFamily="50" charset="-128"/>
              <a:ea typeface="BIZ UDPゴシック" panose="020B0400000000000000" pitchFamily="50" charset="-128"/>
            </a:endParaRPr>
          </a:p>
          <a:p>
            <a:r>
              <a:rPr kumimoji="1" lang="ja-JP" altLang="en-US" dirty="0">
                <a:latin typeface="BIZ UDPゴシック" panose="020B0400000000000000" pitchFamily="50" charset="-128"/>
                <a:ea typeface="BIZ UDPゴシック" panose="020B0400000000000000" pitchFamily="50" charset="-128"/>
              </a:rPr>
              <a:t>全体平均</a:t>
            </a:r>
            <a:r>
              <a:rPr lang="ja-JP" altLang="en-US" dirty="0">
                <a:latin typeface="BIZ UDPゴシック" panose="020B0400000000000000" pitchFamily="50" charset="-128"/>
                <a:ea typeface="BIZ UDPゴシック" panose="020B0400000000000000" pitchFamily="50" charset="-128"/>
              </a:rPr>
              <a:t>として「</a:t>
            </a:r>
            <a:r>
              <a:rPr lang="en-US" altLang="ja-JP" dirty="0">
                <a:latin typeface="BIZ UDPゴシック" panose="020B0400000000000000" pitchFamily="50" charset="-128"/>
                <a:ea typeface="BIZ UDPゴシック" panose="020B0400000000000000" pitchFamily="50" charset="-128"/>
              </a:rPr>
              <a:t>QAB</a:t>
            </a:r>
            <a:r>
              <a:rPr lang="ja-JP" altLang="en-US" dirty="0">
                <a:latin typeface="BIZ UDPゴシック" panose="020B0400000000000000" pitchFamily="50" charset="-128"/>
                <a:ea typeface="BIZ UDPゴシック" panose="020B0400000000000000" pitchFamily="50" charset="-128"/>
              </a:rPr>
              <a:t>」が一番高い結果に。</a:t>
            </a:r>
            <a:endParaRPr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平均的なスポット放送でも高い水準でアプローチが可能と考えております。</a:t>
            </a:r>
            <a:endParaRPr lang="en-US" altLang="ja-JP" dirty="0">
              <a:latin typeface="BIZ UDPゴシック" panose="020B0400000000000000" pitchFamily="50" charset="-128"/>
              <a:ea typeface="BIZ UDPゴシック" panose="020B0400000000000000" pitchFamily="50" charset="-128"/>
            </a:endParaRPr>
          </a:p>
        </p:txBody>
      </p:sp>
      <p:sp>
        <p:nvSpPr>
          <p:cNvPr id="2" name="正方形/長方形 1">
            <a:extLst>
              <a:ext uri="{FF2B5EF4-FFF2-40B4-BE49-F238E27FC236}">
                <a16:creationId xmlns:a16="http://schemas.microsoft.com/office/drawing/2014/main" id="{0D471FE9-10C2-2B65-2C97-F2A64076BCBF}"/>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F0B669D7-FB7B-E322-F68C-1C95131483EE}"/>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10">
            <a:extLst>
              <a:ext uri="{FF2B5EF4-FFF2-40B4-BE49-F238E27FC236}">
                <a16:creationId xmlns:a16="http://schemas.microsoft.com/office/drawing/2014/main" id="{38C3971C-7B26-97DA-F1FE-E1A53D62F011}"/>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10</a:t>
            </a:fld>
            <a:endParaRPr lang="ja-JP" altLang="en-US"/>
          </a:p>
        </p:txBody>
      </p:sp>
    </p:spTree>
    <p:extLst>
      <p:ext uri="{BB962C8B-B14F-4D97-AF65-F5344CB8AC3E}">
        <p14:creationId xmlns:p14="http://schemas.microsoft.com/office/powerpoint/2010/main" val="692441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テキスト ボックス 17">
            <a:extLst>
              <a:ext uri="{FF2B5EF4-FFF2-40B4-BE49-F238E27FC236}">
                <a16:creationId xmlns:a16="http://schemas.microsoft.com/office/drawing/2014/main" id="{68E2352F-F260-E4C6-EC7F-99DC56AC9218}"/>
              </a:ext>
            </a:extLst>
          </p:cNvPr>
          <p:cNvSpPr txBox="1"/>
          <p:nvPr/>
        </p:nvSpPr>
        <p:spPr>
          <a:xfrm>
            <a:off x="3833206" y="3167390"/>
            <a:ext cx="4453462" cy="523220"/>
          </a:xfrm>
          <a:prstGeom prst="rect">
            <a:avLst/>
          </a:prstGeom>
          <a:noFill/>
        </p:spPr>
        <p:txBody>
          <a:bodyPr wrap="none" rtlCol="0">
            <a:spAutoFit/>
          </a:bodyPr>
          <a:lstStyle/>
          <a:p>
            <a:pPr algn="ctr"/>
            <a:r>
              <a:rPr lang="ja-JP" altLang="en-US" sz="2800" dirty="0">
                <a:latin typeface="BIZ UDPゴシック" panose="020B0400000000000000" pitchFamily="50" charset="-128"/>
                <a:ea typeface="BIZ UDPゴシック" panose="020B0400000000000000" pitchFamily="50" charset="-128"/>
              </a:rPr>
              <a:t>放送手法のご提案について</a:t>
            </a:r>
            <a:endParaRPr kumimoji="1" lang="ja-JP" altLang="en-US" sz="2800" dirty="0">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F7A8BC96-B4E9-F0E1-332B-94C02F91F657}"/>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29342473-6F7C-3E32-3716-C33D4032FEFB}"/>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スライド番号プレースホルダー 10">
            <a:extLst>
              <a:ext uri="{FF2B5EF4-FFF2-40B4-BE49-F238E27FC236}">
                <a16:creationId xmlns:a16="http://schemas.microsoft.com/office/drawing/2014/main" id="{B54DDDB7-DB71-56FD-94C0-039DF7690359}"/>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11</a:t>
            </a:fld>
            <a:endParaRPr lang="ja-JP" altLang="en-US"/>
          </a:p>
        </p:txBody>
      </p:sp>
    </p:spTree>
    <p:extLst>
      <p:ext uri="{BB962C8B-B14F-4D97-AF65-F5344CB8AC3E}">
        <p14:creationId xmlns:p14="http://schemas.microsoft.com/office/powerpoint/2010/main" val="2293946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矢印: 右 9">
            <a:extLst>
              <a:ext uri="{FF2B5EF4-FFF2-40B4-BE49-F238E27FC236}">
                <a16:creationId xmlns:a16="http://schemas.microsoft.com/office/drawing/2014/main" id="{81B07666-D7AD-BE90-B700-4769CF66D0A4}"/>
              </a:ext>
            </a:extLst>
          </p:cNvPr>
          <p:cNvSpPr/>
          <p:nvPr/>
        </p:nvSpPr>
        <p:spPr>
          <a:xfrm>
            <a:off x="5745011" y="4616499"/>
            <a:ext cx="1188720" cy="685800"/>
          </a:xfrm>
          <a:prstGeom prst="rightArrow">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矢印: 右 6">
            <a:extLst>
              <a:ext uri="{FF2B5EF4-FFF2-40B4-BE49-F238E27FC236}">
                <a16:creationId xmlns:a16="http://schemas.microsoft.com/office/drawing/2014/main" id="{08068F1A-CFB1-4395-19BB-52F576FDB544}"/>
              </a:ext>
            </a:extLst>
          </p:cNvPr>
          <p:cNvSpPr/>
          <p:nvPr/>
        </p:nvSpPr>
        <p:spPr>
          <a:xfrm>
            <a:off x="2560164" y="4616499"/>
            <a:ext cx="1188720" cy="685800"/>
          </a:xfrm>
          <a:prstGeom prst="rightArrow">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8E4D1C1C-B0D3-BB9A-4E91-D5FC08ADA1BC}"/>
              </a:ext>
            </a:extLst>
          </p:cNvPr>
          <p:cNvSpPr txBox="1"/>
          <p:nvPr/>
        </p:nvSpPr>
        <p:spPr>
          <a:xfrm>
            <a:off x="332509" y="299258"/>
            <a:ext cx="2486578"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＞＞放送手法のご提案</a:t>
            </a:r>
          </a:p>
        </p:txBody>
      </p:sp>
      <p:sp>
        <p:nvSpPr>
          <p:cNvPr id="3" name="テキスト ボックス 2">
            <a:extLst>
              <a:ext uri="{FF2B5EF4-FFF2-40B4-BE49-F238E27FC236}">
                <a16:creationId xmlns:a16="http://schemas.microsoft.com/office/drawing/2014/main" id="{67511613-A88E-94F3-452B-D5DCD4468AA3}"/>
              </a:ext>
            </a:extLst>
          </p:cNvPr>
          <p:cNvSpPr txBox="1"/>
          <p:nvPr/>
        </p:nvSpPr>
        <p:spPr>
          <a:xfrm>
            <a:off x="332509" y="815469"/>
            <a:ext cx="11402291" cy="1200329"/>
          </a:xfrm>
          <a:prstGeom prst="rect">
            <a:avLst/>
          </a:prstGeom>
          <a:noFill/>
        </p:spPr>
        <p:txBody>
          <a:bodyPr wrap="square" rtlCol="0">
            <a:spAutoFit/>
          </a:bodyPr>
          <a:lstStyle/>
          <a:p>
            <a:r>
              <a:rPr lang="ja-JP" altLang="en-US" dirty="0">
                <a:latin typeface="BIZ UDPゴシック" panose="020B0400000000000000" pitchFamily="50" charset="-128"/>
                <a:ea typeface="BIZ UDPゴシック" panose="020B0400000000000000" pitchFamily="50" charset="-128"/>
              </a:rPr>
              <a:t>本来ご提案をしたいオンエア方法は、「パーコスト取得」による安定的な視聴率獲得の方法となりますが、</a:t>
            </a:r>
            <a:endParaRPr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今回見直しをさせて頂き、現在のオンエア方法も対応として良いのではという結論に至っております。</a:t>
            </a:r>
            <a:endParaRPr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ただし、放送局の見直しとオーバーアプローチが考えれることから、ある程度放送局を分散した方が良いのではと考えております。</a:t>
            </a:r>
            <a:endParaRPr lang="en-US" altLang="ja-JP" dirty="0">
              <a:latin typeface="BIZ UDPゴシック" panose="020B0400000000000000" pitchFamily="50" charset="-128"/>
              <a:ea typeface="BIZ UDPゴシック" panose="020B0400000000000000" pitchFamily="50" charset="-128"/>
            </a:endParaRPr>
          </a:p>
        </p:txBody>
      </p:sp>
      <p:sp>
        <p:nvSpPr>
          <p:cNvPr id="4" name="テキスト ボックス 3">
            <a:extLst>
              <a:ext uri="{FF2B5EF4-FFF2-40B4-BE49-F238E27FC236}">
                <a16:creationId xmlns:a16="http://schemas.microsoft.com/office/drawing/2014/main" id="{66D8C3CB-23C0-9671-D56A-EA8E838059C0}"/>
              </a:ext>
            </a:extLst>
          </p:cNvPr>
          <p:cNvSpPr txBox="1"/>
          <p:nvPr/>
        </p:nvSpPr>
        <p:spPr>
          <a:xfrm>
            <a:off x="332509" y="2167711"/>
            <a:ext cx="11402291" cy="1754326"/>
          </a:xfrm>
          <a:prstGeom prst="rect">
            <a:avLst/>
          </a:prstGeom>
          <a:noFill/>
        </p:spPr>
        <p:txBody>
          <a:bodyPr wrap="square" rtlCol="0">
            <a:spAutoFit/>
          </a:bodyPr>
          <a:lstStyle/>
          <a:p>
            <a:r>
              <a:rPr lang="en-US" altLang="ja-JP" dirty="0">
                <a:latin typeface="BIZ UDPゴシック" panose="020B0400000000000000" pitchFamily="50" charset="-128"/>
                <a:ea typeface="BIZ UDPゴシック" panose="020B0400000000000000" pitchFamily="50" charset="-128"/>
              </a:rPr>
              <a:t>【CM</a:t>
            </a:r>
            <a:r>
              <a:rPr lang="ja-JP" altLang="en-US" dirty="0">
                <a:latin typeface="BIZ UDPゴシック" panose="020B0400000000000000" pitchFamily="50" charset="-128"/>
                <a:ea typeface="BIZ UDPゴシック" panose="020B0400000000000000" pitchFamily="50" charset="-128"/>
              </a:rPr>
              <a:t>枠の取得案</a:t>
            </a:r>
            <a:r>
              <a:rPr lang="en-US" altLang="ja-JP" dirty="0">
                <a:latin typeface="BIZ UDPゴシック" panose="020B0400000000000000" pitchFamily="50" charset="-128"/>
                <a:ea typeface="BIZ UDPゴシック" panose="020B0400000000000000" pitchFamily="50" charset="-128"/>
              </a:rPr>
              <a:t>】</a:t>
            </a:r>
          </a:p>
          <a:p>
            <a:endParaRPr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 </a:t>
            </a:r>
            <a:r>
              <a:rPr lang="en-US" altLang="ja-JP" dirty="0">
                <a:latin typeface="BIZ UDPゴシック" panose="020B0400000000000000" pitchFamily="50" charset="-128"/>
                <a:ea typeface="BIZ UDPゴシック" panose="020B0400000000000000" pitchFamily="50" charset="-128"/>
              </a:rPr>
              <a:t>CM</a:t>
            </a:r>
            <a:r>
              <a:rPr lang="ja-JP" altLang="en-US" dirty="0">
                <a:latin typeface="BIZ UDPゴシック" panose="020B0400000000000000" pitchFamily="50" charset="-128"/>
                <a:ea typeface="BIZ UDPゴシック" panose="020B0400000000000000" pitchFamily="50" charset="-128"/>
              </a:rPr>
              <a:t>取得方法：　掛け率での</a:t>
            </a:r>
            <a:r>
              <a:rPr lang="en-US" altLang="ja-JP" dirty="0">
                <a:latin typeface="BIZ UDPゴシック" panose="020B0400000000000000" pitchFamily="50" charset="-128"/>
                <a:ea typeface="BIZ UDPゴシック" panose="020B0400000000000000" pitchFamily="50" charset="-128"/>
              </a:rPr>
              <a:t>CM</a:t>
            </a:r>
            <a:r>
              <a:rPr lang="ja-JP" altLang="en-US" dirty="0">
                <a:latin typeface="BIZ UDPゴシック" panose="020B0400000000000000" pitchFamily="50" charset="-128"/>
                <a:ea typeface="BIZ UDPゴシック" panose="020B0400000000000000" pitchFamily="50" charset="-128"/>
              </a:rPr>
              <a:t>枠取得（現在の手法）</a:t>
            </a:r>
            <a:endParaRPr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 比較的ターゲット層の視聴率が高い</a:t>
            </a:r>
            <a:r>
              <a:rPr lang="en-US" altLang="ja-JP" dirty="0">
                <a:latin typeface="BIZ UDPゴシック" panose="020B0400000000000000" pitchFamily="50" charset="-128"/>
                <a:ea typeface="BIZ UDPゴシック" panose="020B0400000000000000" pitchFamily="50" charset="-128"/>
              </a:rPr>
              <a:t>QAB</a:t>
            </a:r>
            <a:r>
              <a:rPr lang="ja-JP" altLang="en-US" dirty="0">
                <a:latin typeface="BIZ UDPゴシック" panose="020B0400000000000000" pitchFamily="50" charset="-128"/>
                <a:ea typeface="BIZ UDPゴシック" panose="020B0400000000000000" pitchFamily="50" charset="-128"/>
              </a:rPr>
              <a:t>へのオンエアも検討</a:t>
            </a:r>
            <a:endParaRPr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 掛け率での取得の場合、獲得視聴率にぶれが生じる為、放送終了後「放送確認書」から事後視聴率を算出</a:t>
            </a:r>
            <a:endParaRPr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　以下の通り毎月のレポートを提出する事で、獲得視聴率を高く維持できる様に局と調整。</a:t>
            </a:r>
            <a:endParaRPr lang="en-US" altLang="ja-JP" dirty="0">
              <a:latin typeface="BIZ UDPゴシック" panose="020B0400000000000000" pitchFamily="50" charset="-128"/>
              <a:ea typeface="BIZ UDPゴシック" panose="020B0400000000000000" pitchFamily="50" charset="-128"/>
            </a:endParaRPr>
          </a:p>
        </p:txBody>
      </p:sp>
      <p:sp>
        <p:nvSpPr>
          <p:cNvPr id="5" name="四角形: 角を丸くする 4">
            <a:extLst>
              <a:ext uri="{FF2B5EF4-FFF2-40B4-BE49-F238E27FC236}">
                <a16:creationId xmlns:a16="http://schemas.microsoft.com/office/drawing/2014/main" id="{2EA17DF9-4F04-62D9-ECC4-56520C89D75D}"/>
              </a:ext>
            </a:extLst>
          </p:cNvPr>
          <p:cNvSpPr/>
          <p:nvPr/>
        </p:nvSpPr>
        <p:spPr>
          <a:xfrm>
            <a:off x="609600" y="4251960"/>
            <a:ext cx="2209487" cy="1424811"/>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EE862F13-8072-B8A5-00BE-D5868740BDA7}"/>
              </a:ext>
            </a:extLst>
          </p:cNvPr>
          <p:cNvSpPr txBox="1"/>
          <p:nvPr/>
        </p:nvSpPr>
        <p:spPr>
          <a:xfrm>
            <a:off x="624840" y="4297680"/>
            <a:ext cx="2194247" cy="1323439"/>
          </a:xfrm>
          <a:prstGeom prst="rect">
            <a:avLst/>
          </a:prstGeom>
          <a:noFill/>
        </p:spPr>
        <p:txBody>
          <a:bodyPr wrap="square" rtlCol="0">
            <a:spAutoFit/>
          </a:bodyPr>
          <a:lstStyle/>
          <a:p>
            <a:pPr algn="ctr"/>
            <a:r>
              <a:rPr lang="ja-JP" altLang="en-US" sz="1600" b="1" u="sng" dirty="0">
                <a:latin typeface="BIZ UDPゴシック" panose="020B0400000000000000" pitchFamily="50" charset="-128"/>
                <a:ea typeface="BIZ UDPゴシック" panose="020B0400000000000000" pitchFamily="50" charset="-128"/>
              </a:rPr>
              <a:t>掛け率で</a:t>
            </a:r>
            <a:r>
              <a:rPr lang="en-US" altLang="ja-JP" sz="1600" b="1" u="sng" dirty="0">
                <a:latin typeface="BIZ UDPゴシック" panose="020B0400000000000000" pitchFamily="50" charset="-128"/>
                <a:ea typeface="BIZ UDPゴシック" panose="020B0400000000000000" pitchFamily="50" charset="-128"/>
              </a:rPr>
              <a:t>CM</a:t>
            </a:r>
            <a:r>
              <a:rPr lang="ja-JP" altLang="en-US" sz="1600" b="1" u="sng" dirty="0">
                <a:latin typeface="BIZ UDPゴシック" panose="020B0400000000000000" pitchFamily="50" charset="-128"/>
                <a:ea typeface="BIZ UDPゴシック" panose="020B0400000000000000" pitchFamily="50" charset="-128"/>
              </a:rPr>
              <a:t>枠を取得</a:t>
            </a:r>
            <a:endParaRPr lang="en-US" altLang="ja-JP" sz="1600" b="1" u="sng" dirty="0">
              <a:latin typeface="BIZ UDPゴシック" panose="020B0400000000000000" pitchFamily="50" charset="-128"/>
              <a:ea typeface="BIZ UDPゴシック" panose="020B0400000000000000" pitchFamily="50" charset="-128"/>
            </a:endParaRPr>
          </a:p>
          <a:p>
            <a:endParaRPr lang="en-US" altLang="ja-JP" sz="1600" dirty="0">
              <a:latin typeface="BIZ UDPゴシック" panose="020B0400000000000000" pitchFamily="50" charset="-128"/>
              <a:ea typeface="BIZ UDPゴシック" panose="020B0400000000000000" pitchFamily="50" charset="-128"/>
            </a:endParaRPr>
          </a:p>
          <a:p>
            <a:pPr algn="ctr"/>
            <a:r>
              <a:rPr lang="ja-JP" altLang="en-US" sz="1600" dirty="0">
                <a:latin typeface="BIZ UDPゴシック" panose="020B0400000000000000" pitchFamily="50" charset="-128"/>
                <a:ea typeface="BIZ UDPゴシック" panose="020B0400000000000000" pitchFamily="50" charset="-128"/>
              </a:rPr>
              <a:t>ある程度高い</a:t>
            </a:r>
            <a:endParaRPr lang="en-US" altLang="ja-JP" sz="1600" dirty="0">
              <a:latin typeface="BIZ UDPゴシック" panose="020B0400000000000000" pitchFamily="50" charset="-128"/>
              <a:ea typeface="BIZ UDPゴシック" panose="020B0400000000000000" pitchFamily="50" charset="-128"/>
            </a:endParaRPr>
          </a:p>
          <a:p>
            <a:pPr algn="ctr"/>
            <a:r>
              <a:rPr lang="ja-JP" altLang="en-US" sz="1600" dirty="0">
                <a:latin typeface="BIZ UDPゴシック" panose="020B0400000000000000" pitchFamily="50" charset="-128"/>
                <a:ea typeface="BIZ UDPゴシック" panose="020B0400000000000000" pitchFamily="50" charset="-128"/>
              </a:rPr>
              <a:t>視聴番組を指定しつつ放送枠を獲得する</a:t>
            </a:r>
            <a:endParaRPr lang="en-US" altLang="ja-JP" sz="1600" dirty="0">
              <a:latin typeface="BIZ UDPゴシック" panose="020B0400000000000000" pitchFamily="50" charset="-128"/>
              <a:ea typeface="BIZ UDPゴシック" panose="020B0400000000000000" pitchFamily="50" charset="-128"/>
            </a:endParaRPr>
          </a:p>
        </p:txBody>
      </p:sp>
      <p:sp>
        <p:nvSpPr>
          <p:cNvPr id="8" name="四角形: 角を丸くする 7">
            <a:extLst>
              <a:ext uri="{FF2B5EF4-FFF2-40B4-BE49-F238E27FC236}">
                <a16:creationId xmlns:a16="http://schemas.microsoft.com/office/drawing/2014/main" id="{F7B247FC-BF3E-C69C-F10B-C0AAF5E47634}"/>
              </a:ext>
            </a:extLst>
          </p:cNvPr>
          <p:cNvSpPr/>
          <p:nvPr/>
        </p:nvSpPr>
        <p:spPr>
          <a:xfrm>
            <a:off x="3748884" y="4251960"/>
            <a:ext cx="2209487" cy="1424811"/>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1C64AD68-2C00-3EDE-7BD4-FA521577249D}"/>
              </a:ext>
            </a:extLst>
          </p:cNvPr>
          <p:cNvSpPr txBox="1"/>
          <p:nvPr/>
        </p:nvSpPr>
        <p:spPr>
          <a:xfrm>
            <a:off x="3764124" y="4297680"/>
            <a:ext cx="2194247" cy="1323439"/>
          </a:xfrm>
          <a:prstGeom prst="rect">
            <a:avLst/>
          </a:prstGeom>
          <a:noFill/>
        </p:spPr>
        <p:txBody>
          <a:bodyPr wrap="square" rtlCol="0">
            <a:spAutoFit/>
          </a:bodyPr>
          <a:lstStyle/>
          <a:p>
            <a:pPr algn="ctr"/>
            <a:r>
              <a:rPr lang="ja-JP" altLang="en-US" sz="1600" b="1" u="sng" dirty="0">
                <a:latin typeface="BIZ UDPゴシック" panose="020B0400000000000000" pitchFamily="50" charset="-128"/>
                <a:ea typeface="BIZ UDPゴシック" panose="020B0400000000000000" pitchFamily="50" charset="-128"/>
              </a:rPr>
              <a:t>放送後結果を棚卸</a:t>
            </a:r>
            <a:endParaRPr lang="en-US" altLang="ja-JP" sz="1600" b="1" u="sng" dirty="0">
              <a:latin typeface="BIZ UDPゴシック" panose="020B0400000000000000" pitchFamily="50" charset="-128"/>
              <a:ea typeface="BIZ UDPゴシック" panose="020B0400000000000000" pitchFamily="50" charset="-128"/>
            </a:endParaRPr>
          </a:p>
          <a:p>
            <a:endParaRPr lang="en-US" altLang="ja-JP" sz="1600" dirty="0">
              <a:latin typeface="BIZ UDPゴシック" panose="020B0400000000000000" pitchFamily="50" charset="-128"/>
              <a:ea typeface="BIZ UDPゴシック" panose="020B0400000000000000" pitchFamily="50" charset="-128"/>
            </a:endParaRPr>
          </a:p>
          <a:p>
            <a:pPr algn="ctr"/>
            <a:r>
              <a:rPr lang="ja-JP" altLang="en-US" sz="1600" dirty="0">
                <a:latin typeface="BIZ UDPゴシック" panose="020B0400000000000000" pitchFamily="50" charset="-128"/>
                <a:ea typeface="BIZ UDPゴシック" panose="020B0400000000000000" pitchFamily="50" charset="-128"/>
              </a:rPr>
              <a:t>放送終了後に</a:t>
            </a:r>
            <a:endParaRPr lang="en-US" altLang="ja-JP" sz="1600" dirty="0">
              <a:latin typeface="BIZ UDPゴシック" panose="020B0400000000000000" pitchFamily="50" charset="-128"/>
              <a:ea typeface="BIZ UDPゴシック" panose="020B0400000000000000" pitchFamily="50" charset="-128"/>
            </a:endParaRPr>
          </a:p>
          <a:p>
            <a:pPr algn="ctr"/>
            <a:r>
              <a:rPr lang="ja-JP" altLang="en-US" sz="1600" dirty="0">
                <a:latin typeface="BIZ UDPゴシック" panose="020B0400000000000000" pitchFamily="50" charset="-128"/>
                <a:ea typeface="BIZ UDPゴシック" panose="020B0400000000000000" pitchFamily="50" charset="-128"/>
              </a:rPr>
              <a:t>結果視聴率の</a:t>
            </a:r>
            <a:endParaRPr lang="en-US" altLang="ja-JP" sz="1600" dirty="0">
              <a:latin typeface="BIZ UDPゴシック" panose="020B0400000000000000" pitchFamily="50" charset="-128"/>
              <a:ea typeface="BIZ UDPゴシック" panose="020B0400000000000000" pitchFamily="50" charset="-128"/>
            </a:endParaRPr>
          </a:p>
          <a:p>
            <a:pPr algn="ctr"/>
            <a:r>
              <a:rPr lang="ja-JP" altLang="en-US" sz="1600" dirty="0">
                <a:latin typeface="BIZ UDPゴシック" panose="020B0400000000000000" pitchFamily="50" charset="-128"/>
                <a:ea typeface="BIZ UDPゴシック" panose="020B0400000000000000" pitchFamily="50" charset="-128"/>
              </a:rPr>
              <a:t>集計・報告を実施</a:t>
            </a:r>
            <a:endParaRPr lang="en-US" altLang="ja-JP" sz="1600" dirty="0">
              <a:latin typeface="BIZ UDPゴシック" panose="020B0400000000000000" pitchFamily="50" charset="-128"/>
              <a:ea typeface="BIZ UDPゴシック" panose="020B0400000000000000" pitchFamily="50" charset="-128"/>
            </a:endParaRPr>
          </a:p>
        </p:txBody>
      </p:sp>
      <p:sp>
        <p:nvSpPr>
          <p:cNvPr id="11" name="四角形: 角を丸くする 10">
            <a:extLst>
              <a:ext uri="{FF2B5EF4-FFF2-40B4-BE49-F238E27FC236}">
                <a16:creationId xmlns:a16="http://schemas.microsoft.com/office/drawing/2014/main" id="{60219DBB-B1B4-8777-C348-0C66BFBE46EF}"/>
              </a:ext>
            </a:extLst>
          </p:cNvPr>
          <p:cNvSpPr/>
          <p:nvPr/>
        </p:nvSpPr>
        <p:spPr>
          <a:xfrm>
            <a:off x="6933731" y="4251960"/>
            <a:ext cx="4892509" cy="142481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5758583-6C84-5637-581E-4C3D65E93B11}"/>
              </a:ext>
            </a:extLst>
          </p:cNvPr>
          <p:cNvSpPr txBox="1"/>
          <p:nvPr/>
        </p:nvSpPr>
        <p:spPr>
          <a:xfrm>
            <a:off x="7192811" y="4282440"/>
            <a:ext cx="4359109" cy="1323439"/>
          </a:xfrm>
          <a:prstGeom prst="rect">
            <a:avLst/>
          </a:prstGeom>
          <a:noFill/>
        </p:spPr>
        <p:txBody>
          <a:bodyPr wrap="square" rtlCol="0">
            <a:spAutoFit/>
          </a:bodyPr>
          <a:lstStyle/>
          <a:p>
            <a:pPr algn="ctr"/>
            <a:r>
              <a:rPr lang="en-US" altLang="ja-JP" sz="1600" b="1" u="sng" dirty="0">
                <a:latin typeface="BIZ UDPゴシック" panose="020B0400000000000000" pitchFamily="50" charset="-128"/>
                <a:ea typeface="BIZ UDPゴシック" panose="020B0400000000000000" pitchFamily="50" charset="-128"/>
              </a:rPr>
              <a:t>1</a:t>
            </a:r>
            <a:r>
              <a:rPr lang="ja-JP" altLang="en-US" sz="1600" b="1" u="sng" dirty="0">
                <a:latin typeface="BIZ UDPゴシック" panose="020B0400000000000000" pitchFamily="50" charset="-128"/>
                <a:ea typeface="BIZ UDPゴシック" panose="020B0400000000000000" pitchFamily="50" charset="-128"/>
              </a:rPr>
              <a:t>クールの放送結果を元に予算割を決定</a:t>
            </a:r>
            <a:endParaRPr lang="en-US" altLang="ja-JP" sz="1600" b="1" u="sng" dirty="0">
              <a:latin typeface="BIZ UDPゴシック" panose="020B0400000000000000" pitchFamily="50" charset="-128"/>
              <a:ea typeface="BIZ UDPゴシック" panose="020B0400000000000000" pitchFamily="50" charset="-128"/>
            </a:endParaRPr>
          </a:p>
          <a:p>
            <a:pPr algn="ctr"/>
            <a:endParaRPr lang="en-US" altLang="ja-JP" sz="1600" b="1" u="sng" dirty="0">
              <a:latin typeface="BIZ UDPゴシック" panose="020B0400000000000000" pitchFamily="50" charset="-128"/>
              <a:ea typeface="BIZ UDPゴシック" panose="020B0400000000000000" pitchFamily="50" charset="-128"/>
            </a:endParaRPr>
          </a:p>
          <a:p>
            <a:pPr algn="ctr"/>
            <a:r>
              <a:rPr lang="ja-JP" altLang="en-US" sz="1600" dirty="0">
                <a:latin typeface="BIZ UDPゴシック" panose="020B0400000000000000" pitchFamily="50" charset="-128"/>
                <a:ea typeface="BIZ UDPゴシック" panose="020B0400000000000000" pitchFamily="50" charset="-128"/>
              </a:rPr>
              <a:t>１位の局は</a:t>
            </a:r>
            <a:r>
              <a:rPr lang="en-US" altLang="ja-JP" sz="1600" dirty="0">
                <a:latin typeface="BIZ UDPゴシック" panose="020B0400000000000000" pitchFamily="50" charset="-128"/>
                <a:ea typeface="BIZ UDPゴシック" panose="020B0400000000000000" pitchFamily="50" charset="-128"/>
              </a:rPr>
              <a:t>50</a:t>
            </a:r>
            <a:r>
              <a:rPr lang="ja-JP" altLang="en-US" sz="1600" dirty="0">
                <a:latin typeface="BIZ UDPゴシック" panose="020B0400000000000000" pitchFamily="50" charset="-128"/>
                <a:ea typeface="BIZ UDPゴシック" panose="020B0400000000000000" pitchFamily="50" charset="-128"/>
              </a:rPr>
              <a:t>万</a:t>
            </a:r>
            <a:endParaRPr lang="en-US" altLang="ja-JP" sz="1600" dirty="0">
              <a:latin typeface="BIZ UDPゴシック" panose="020B0400000000000000" pitchFamily="50" charset="-128"/>
              <a:ea typeface="BIZ UDPゴシック" panose="020B0400000000000000" pitchFamily="50" charset="-128"/>
            </a:endParaRPr>
          </a:p>
          <a:p>
            <a:pPr algn="ctr"/>
            <a:r>
              <a:rPr lang="en-US" altLang="ja-JP" sz="1600" dirty="0">
                <a:latin typeface="BIZ UDPゴシック" panose="020B0400000000000000" pitchFamily="50" charset="-128"/>
                <a:ea typeface="BIZ UDPゴシック" panose="020B0400000000000000" pitchFamily="50" charset="-128"/>
              </a:rPr>
              <a:t>2</a:t>
            </a:r>
            <a:r>
              <a:rPr lang="ja-JP" altLang="en-US" sz="1600" dirty="0">
                <a:latin typeface="BIZ UDPゴシック" panose="020B0400000000000000" pitchFamily="50" charset="-128"/>
                <a:ea typeface="BIZ UDPゴシック" panose="020B0400000000000000" pitchFamily="50" charset="-128"/>
              </a:rPr>
              <a:t>位の局は</a:t>
            </a:r>
            <a:r>
              <a:rPr lang="en-US" altLang="ja-JP" sz="1600" dirty="0">
                <a:latin typeface="BIZ UDPゴシック" panose="020B0400000000000000" pitchFamily="50" charset="-128"/>
                <a:ea typeface="BIZ UDPゴシック" panose="020B0400000000000000" pitchFamily="50" charset="-128"/>
              </a:rPr>
              <a:t>30</a:t>
            </a:r>
            <a:r>
              <a:rPr lang="ja-JP" altLang="en-US" sz="1600" dirty="0">
                <a:latin typeface="BIZ UDPゴシック" panose="020B0400000000000000" pitchFamily="50" charset="-128"/>
                <a:ea typeface="BIZ UDPゴシック" panose="020B0400000000000000" pitchFamily="50" charset="-128"/>
              </a:rPr>
              <a:t>万</a:t>
            </a:r>
            <a:endParaRPr lang="en-US" altLang="ja-JP" sz="1600" dirty="0">
              <a:latin typeface="BIZ UDPゴシック" panose="020B0400000000000000" pitchFamily="50" charset="-128"/>
              <a:ea typeface="BIZ UDPゴシック" panose="020B0400000000000000" pitchFamily="50" charset="-128"/>
            </a:endParaRPr>
          </a:p>
          <a:p>
            <a:pPr algn="ctr"/>
            <a:r>
              <a:rPr lang="en-US" altLang="ja-JP" sz="1600" dirty="0">
                <a:latin typeface="BIZ UDPゴシック" panose="020B0400000000000000" pitchFamily="50" charset="-128"/>
                <a:ea typeface="BIZ UDPゴシック" panose="020B0400000000000000" pitchFamily="50" charset="-128"/>
              </a:rPr>
              <a:t>2</a:t>
            </a:r>
            <a:r>
              <a:rPr lang="ja-JP" altLang="en-US" sz="1600" dirty="0">
                <a:latin typeface="BIZ UDPゴシック" panose="020B0400000000000000" pitchFamily="50" charset="-128"/>
                <a:ea typeface="BIZ UDPゴシック" panose="020B0400000000000000" pitchFamily="50" charset="-128"/>
              </a:rPr>
              <a:t>位が</a:t>
            </a:r>
            <a:r>
              <a:rPr lang="en-US" altLang="ja-JP" sz="1600" dirty="0">
                <a:latin typeface="BIZ UDPゴシック" panose="020B0400000000000000" pitchFamily="50" charset="-128"/>
                <a:ea typeface="BIZ UDPゴシック" panose="020B0400000000000000" pitchFamily="50" charset="-128"/>
              </a:rPr>
              <a:t>2</a:t>
            </a:r>
            <a:r>
              <a:rPr lang="ja-JP" altLang="en-US" sz="1600" dirty="0">
                <a:latin typeface="BIZ UDPゴシック" panose="020B0400000000000000" pitchFamily="50" charset="-128"/>
                <a:ea typeface="BIZ UDPゴシック" panose="020B0400000000000000" pitchFamily="50" charset="-128"/>
              </a:rPr>
              <a:t>回続くと他局へ移動</a:t>
            </a:r>
            <a:endParaRPr lang="en-US" altLang="ja-JP" sz="1600"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D75C5CE5-5F3A-BACC-9776-342F42BD52C8}"/>
              </a:ext>
            </a:extLst>
          </p:cNvPr>
          <p:cNvSpPr txBox="1"/>
          <p:nvPr/>
        </p:nvSpPr>
        <p:spPr>
          <a:xfrm>
            <a:off x="7665485" y="4771980"/>
            <a:ext cx="929875" cy="344358"/>
          </a:xfrm>
          <a:prstGeom prst="rect">
            <a:avLst/>
          </a:prstGeom>
          <a:noFill/>
        </p:spPr>
        <p:txBody>
          <a:bodyPr wrap="square" rtlCol="0">
            <a:spAutoFit/>
          </a:bodyPr>
          <a:lstStyle/>
          <a:p>
            <a:pPr algn="ctr"/>
            <a:r>
              <a:rPr lang="ja-JP" altLang="en-US" sz="1600" b="1" dirty="0">
                <a:latin typeface="BIZ UDPゴシック" panose="020B0400000000000000" pitchFamily="50" charset="-128"/>
                <a:ea typeface="BIZ UDPゴシック" panose="020B0400000000000000" pitchFamily="50" charset="-128"/>
              </a:rPr>
              <a:t>（例）</a:t>
            </a:r>
            <a:endParaRPr lang="en-US" altLang="ja-JP" sz="1600"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21405841-29E8-EEBC-1DF8-F118771248B6}"/>
              </a:ext>
            </a:extLst>
          </p:cNvPr>
          <p:cNvSpPr txBox="1"/>
          <p:nvPr/>
        </p:nvSpPr>
        <p:spPr>
          <a:xfrm>
            <a:off x="332509" y="5970418"/>
            <a:ext cx="11402291" cy="646331"/>
          </a:xfrm>
          <a:prstGeom prst="rect">
            <a:avLst/>
          </a:prstGeom>
          <a:noFill/>
        </p:spPr>
        <p:txBody>
          <a:bodyPr wrap="square" rtlCol="0">
            <a:spAutoFit/>
          </a:bodyPr>
          <a:lstStyle/>
          <a:p>
            <a:r>
              <a:rPr lang="en-US" altLang="ja-JP" dirty="0">
                <a:latin typeface="BIZ UDPゴシック" panose="020B0400000000000000" pitchFamily="50" charset="-128"/>
                <a:ea typeface="BIZ UDPゴシック" panose="020B0400000000000000" pitchFamily="50" charset="-128"/>
              </a:rPr>
              <a:t>1</a:t>
            </a:r>
            <a:r>
              <a:rPr lang="ja-JP" altLang="en-US" dirty="0">
                <a:latin typeface="BIZ UDPゴシック" panose="020B0400000000000000" pitchFamily="50" charset="-128"/>
                <a:ea typeface="BIZ UDPゴシック" panose="020B0400000000000000" pitchFamily="50" charset="-128"/>
              </a:rPr>
              <a:t>局に放送が偏る事を避けつつも、放送結果を元に発注金額の変動を付けることで、</a:t>
            </a:r>
            <a:endParaRPr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各テレビ局ともバランスよく付き合い放送クオリティを上げていく仕組みを構築します。</a:t>
            </a:r>
            <a:endParaRPr lang="en-US" altLang="ja-JP" dirty="0">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0E41887F-8D02-9FB1-F853-70982D66B7AB}"/>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0CC9A71F-2BD2-1E1C-B971-84D595FCABF7}"/>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スライド番号プレースホルダー 10">
            <a:extLst>
              <a:ext uri="{FF2B5EF4-FFF2-40B4-BE49-F238E27FC236}">
                <a16:creationId xmlns:a16="http://schemas.microsoft.com/office/drawing/2014/main" id="{3B1DD013-D434-28D8-E93F-4279B38EC5A3}"/>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12</a:t>
            </a:fld>
            <a:endParaRPr lang="ja-JP" altLang="en-US"/>
          </a:p>
        </p:txBody>
      </p:sp>
    </p:spTree>
    <p:extLst>
      <p:ext uri="{BB962C8B-B14F-4D97-AF65-F5344CB8AC3E}">
        <p14:creationId xmlns:p14="http://schemas.microsoft.com/office/powerpoint/2010/main" val="1662738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E4D1C1C-B0D3-BB9A-4E91-D5FC08ADA1BC}"/>
              </a:ext>
            </a:extLst>
          </p:cNvPr>
          <p:cNvSpPr txBox="1"/>
          <p:nvPr/>
        </p:nvSpPr>
        <p:spPr>
          <a:xfrm>
            <a:off x="332509" y="299258"/>
            <a:ext cx="3159839"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＞＞その他放送手法のご提案</a:t>
            </a:r>
          </a:p>
        </p:txBody>
      </p:sp>
      <p:sp>
        <p:nvSpPr>
          <p:cNvPr id="3" name="テキスト ボックス 2">
            <a:extLst>
              <a:ext uri="{FF2B5EF4-FFF2-40B4-BE49-F238E27FC236}">
                <a16:creationId xmlns:a16="http://schemas.microsoft.com/office/drawing/2014/main" id="{67511613-A88E-94F3-452B-D5DCD4468AA3}"/>
              </a:ext>
            </a:extLst>
          </p:cNvPr>
          <p:cNvSpPr txBox="1"/>
          <p:nvPr/>
        </p:nvSpPr>
        <p:spPr>
          <a:xfrm>
            <a:off x="332509" y="815469"/>
            <a:ext cx="11402291" cy="369332"/>
          </a:xfrm>
          <a:prstGeom prst="rect">
            <a:avLst/>
          </a:prstGeom>
          <a:noFill/>
        </p:spPr>
        <p:txBody>
          <a:bodyPr wrap="square" rtlCol="0">
            <a:spAutoFit/>
          </a:bodyPr>
          <a:lstStyle/>
          <a:p>
            <a:r>
              <a:rPr lang="ja-JP" altLang="en-US" dirty="0">
                <a:latin typeface="BIZ UDPゴシック" panose="020B0400000000000000" pitchFamily="50" charset="-128"/>
                <a:ea typeface="BIZ UDPゴシック" panose="020B0400000000000000" pitchFamily="50" charset="-128"/>
              </a:rPr>
              <a:t>今回のご提案の他にも、年齢をターゲティングした</a:t>
            </a:r>
            <a:r>
              <a:rPr lang="en-US" altLang="ja-JP" dirty="0" err="1">
                <a:latin typeface="BIZ UDPゴシック" panose="020B0400000000000000" pitchFamily="50" charset="-128"/>
                <a:ea typeface="BIZ UDPゴシック" panose="020B0400000000000000" pitchFamily="50" charset="-128"/>
              </a:rPr>
              <a:t>TVer</a:t>
            </a:r>
            <a:r>
              <a:rPr lang="ja-JP" altLang="en-US" dirty="0">
                <a:latin typeface="BIZ UDPゴシック" panose="020B0400000000000000" pitchFamily="50" charset="-128"/>
                <a:ea typeface="BIZ UDPゴシック" panose="020B0400000000000000" pitchFamily="50" charset="-128"/>
              </a:rPr>
              <a:t>等の動画配信サービスへのオンエアもご提案いたします。</a:t>
            </a:r>
            <a:endParaRPr lang="en-US" altLang="ja-JP" dirty="0">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0E41887F-8D02-9FB1-F853-70982D66B7AB}"/>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0CC9A71F-2BD2-1E1C-B971-84D595FCABF7}"/>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a:extLst>
              <a:ext uri="{FF2B5EF4-FFF2-40B4-BE49-F238E27FC236}">
                <a16:creationId xmlns:a16="http://schemas.microsoft.com/office/drawing/2014/main" id="{F34C1AB7-DA1B-3932-3859-C67AC64577BD}"/>
              </a:ext>
            </a:extLst>
          </p:cNvPr>
          <p:cNvPicPr>
            <a:picLocks noChangeAspect="1"/>
          </p:cNvPicPr>
          <p:nvPr/>
        </p:nvPicPr>
        <p:blipFill>
          <a:blip r:embed="rId3"/>
          <a:stretch>
            <a:fillRect/>
          </a:stretch>
        </p:blipFill>
        <p:spPr>
          <a:xfrm>
            <a:off x="1425794" y="1861910"/>
            <a:ext cx="5846342" cy="2027150"/>
          </a:xfrm>
          <a:prstGeom prst="rect">
            <a:avLst/>
          </a:prstGeom>
        </p:spPr>
      </p:pic>
      <p:sp>
        <p:nvSpPr>
          <p:cNvPr id="18" name="楕円 17">
            <a:extLst>
              <a:ext uri="{FF2B5EF4-FFF2-40B4-BE49-F238E27FC236}">
                <a16:creationId xmlns:a16="http://schemas.microsoft.com/office/drawing/2014/main" id="{037E83F5-98DE-03E1-0B98-9CB8505145F3}"/>
              </a:ext>
            </a:extLst>
          </p:cNvPr>
          <p:cNvSpPr/>
          <p:nvPr/>
        </p:nvSpPr>
        <p:spPr>
          <a:xfrm>
            <a:off x="172274" y="1529779"/>
            <a:ext cx="1197851" cy="1152939"/>
          </a:xfrm>
          <a:prstGeom prst="ellipse">
            <a:avLst/>
          </a:prstGeom>
          <a:solidFill>
            <a:srgbClr val="CCEC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670D4A8C-D192-0C91-8CEF-928C691727EC}"/>
              </a:ext>
            </a:extLst>
          </p:cNvPr>
          <p:cNvSpPr txBox="1"/>
          <p:nvPr/>
        </p:nvSpPr>
        <p:spPr>
          <a:xfrm>
            <a:off x="227943" y="1752508"/>
            <a:ext cx="1042795" cy="707886"/>
          </a:xfrm>
          <a:prstGeom prst="rect">
            <a:avLst/>
          </a:prstGeom>
          <a:noFill/>
        </p:spPr>
        <p:txBody>
          <a:bodyPr wrap="square" rtlCol="0">
            <a:spAutoFit/>
          </a:bodyPr>
          <a:lstStyle/>
          <a:p>
            <a:pPr algn="ctr"/>
            <a:r>
              <a:rPr kumimoji="1" lang="ja-JP" altLang="en-US" sz="1200" dirty="0">
                <a:latin typeface="BIZ UDPゴシック" panose="020B0400000000000000" pitchFamily="50" charset="-128"/>
                <a:ea typeface="BIZ UDPゴシック" panose="020B0400000000000000" pitchFamily="50" charset="-128"/>
              </a:rPr>
              <a:t>沖縄県月間ユーザー数</a:t>
            </a:r>
            <a:endParaRPr kumimoji="1" lang="en-US" altLang="ja-JP" sz="1200" dirty="0">
              <a:latin typeface="BIZ UDPゴシック" panose="020B0400000000000000" pitchFamily="50" charset="-128"/>
              <a:ea typeface="BIZ UDPゴシック" panose="020B0400000000000000" pitchFamily="50" charset="-128"/>
            </a:endParaRPr>
          </a:p>
          <a:p>
            <a:pPr algn="ctr"/>
            <a:r>
              <a:rPr kumimoji="1" lang="ja-JP" altLang="en-US" sz="1200" dirty="0">
                <a:latin typeface="BIZ UDPゴシック" panose="020B0400000000000000" pitchFamily="50" charset="-128"/>
                <a:ea typeface="BIZ UDPゴシック" panose="020B0400000000000000" pitchFamily="50" charset="-128"/>
              </a:rPr>
              <a:t>約</a:t>
            </a:r>
            <a:r>
              <a:rPr kumimoji="1" lang="en-US" altLang="ja-JP" sz="1600" dirty="0">
                <a:latin typeface="BIZ UDPゴシック" panose="020B0400000000000000" pitchFamily="50" charset="-128"/>
                <a:ea typeface="BIZ UDPゴシック" panose="020B0400000000000000" pitchFamily="50" charset="-128"/>
              </a:rPr>
              <a:t>26</a:t>
            </a:r>
            <a:r>
              <a:rPr kumimoji="1" lang="ja-JP" altLang="en-US" sz="1200" dirty="0">
                <a:latin typeface="BIZ UDPゴシック" panose="020B0400000000000000" pitchFamily="50" charset="-128"/>
                <a:ea typeface="BIZ UDPゴシック" panose="020B0400000000000000" pitchFamily="50" charset="-128"/>
              </a:rPr>
              <a:t>万人</a:t>
            </a:r>
            <a:endParaRPr kumimoji="1" lang="ja-JP" altLang="en-US" sz="2000" dirty="0">
              <a:latin typeface="BIZ UDPゴシック" panose="020B0400000000000000" pitchFamily="50" charset="-128"/>
              <a:ea typeface="BIZ UDPゴシック" panose="020B0400000000000000" pitchFamily="50" charset="-128"/>
            </a:endParaRPr>
          </a:p>
        </p:txBody>
      </p:sp>
      <p:pic>
        <p:nvPicPr>
          <p:cNvPr id="20" name="図 19">
            <a:extLst>
              <a:ext uri="{FF2B5EF4-FFF2-40B4-BE49-F238E27FC236}">
                <a16:creationId xmlns:a16="http://schemas.microsoft.com/office/drawing/2014/main" id="{6D5DBB00-825A-3DCA-8275-9BF0DEDAE366}"/>
              </a:ext>
            </a:extLst>
          </p:cNvPr>
          <p:cNvPicPr>
            <a:picLocks noChangeAspect="1"/>
          </p:cNvPicPr>
          <p:nvPr/>
        </p:nvPicPr>
        <p:blipFill>
          <a:blip r:embed="rId4"/>
          <a:stretch>
            <a:fillRect/>
          </a:stretch>
        </p:blipFill>
        <p:spPr>
          <a:xfrm>
            <a:off x="7285765" y="1770273"/>
            <a:ext cx="4891429" cy="2405009"/>
          </a:xfrm>
          <a:prstGeom prst="rect">
            <a:avLst/>
          </a:prstGeom>
        </p:spPr>
      </p:pic>
      <p:sp>
        <p:nvSpPr>
          <p:cNvPr id="21" name="テキスト ボックス 20">
            <a:extLst>
              <a:ext uri="{FF2B5EF4-FFF2-40B4-BE49-F238E27FC236}">
                <a16:creationId xmlns:a16="http://schemas.microsoft.com/office/drawing/2014/main" id="{802FC172-367B-3563-226A-783FAF209151}"/>
              </a:ext>
            </a:extLst>
          </p:cNvPr>
          <p:cNvSpPr txBox="1"/>
          <p:nvPr/>
        </p:nvSpPr>
        <p:spPr>
          <a:xfrm>
            <a:off x="271549" y="4373402"/>
            <a:ext cx="11661371" cy="1754326"/>
          </a:xfrm>
          <a:prstGeom prst="rect">
            <a:avLst/>
          </a:prstGeom>
          <a:noFill/>
        </p:spPr>
        <p:txBody>
          <a:bodyPr wrap="square" rtlCol="0">
            <a:spAutoFit/>
          </a:bodyPr>
          <a:lstStyle/>
          <a:p>
            <a:r>
              <a:rPr lang="ja-JP" altLang="en-US" dirty="0">
                <a:latin typeface="BIZ UDPゴシック" panose="020B0400000000000000" pitchFamily="50" charset="-128"/>
                <a:ea typeface="BIZ UDPゴシック" panose="020B0400000000000000" pitchFamily="50" charset="-128"/>
              </a:rPr>
              <a:t>放送予算も</a:t>
            </a:r>
            <a:r>
              <a:rPr lang="en-US" altLang="ja-JP" dirty="0">
                <a:latin typeface="BIZ UDPゴシック" panose="020B0400000000000000" pitchFamily="50" charset="-128"/>
                <a:ea typeface="BIZ UDPゴシック" panose="020B0400000000000000" pitchFamily="50" charset="-128"/>
              </a:rPr>
              <a:t>10</a:t>
            </a:r>
            <a:r>
              <a:rPr lang="ja-JP" altLang="en-US" dirty="0">
                <a:latin typeface="BIZ UDPゴシック" panose="020B0400000000000000" pitchFamily="50" charset="-128"/>
                <a:ea typeface="BIZ UDPゴシック" panose="020B0400000000000000" pitchFamily="50" charset="-128"/>
              </a:rPr>
              <a:t>万円（税別）から設定でき、</a:t>
            </a:r>
            <a:endParaRPr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性別、年代、エリアなど詳細なセグメントが可能です。</a:t>
            </a:r>
            <a:endParaRPr lang="en-US" altLang="ja-JP" dirty="0">
              <a:latin typeface="BIZ UDPゴシック" panose="020B0400000000000000" pitchFamily="50" charset="-128"/>
              <a:ea typeface="BIZ UDPゴシック" panose="020B0400000000000000" pitchFamily="50" charset="-128"/>
            </a:endParaRPr>
          </a:p>
          <a:p>
            <a:endParaRPr lang="en-US" altLang="ja-JP" dirty="0">
              <a:latin typeface="BIZ UDPゴシック" panose="020B0400000000000000" pitchFamily="50" charset="-128"/>
              <a:ea typeface="BIZ UDPゴシック" panose="020B0400000000000000" pitchFamily="50" charset="-128"/>
            </a:endParaRPr>
          </a:p>
          <a:p>
            <a:r>
              <a:rPr lang="en-US" altLang="ja-JP" dirty="0" err="1">
                <a:latin typeface="BIZ UDPゴシック" panose="020B0400000000000000" pitchFamily="50" charset="-128"/>
                <a:ea typeface="BIZ UDPゴシック" panose="020B0400000000000000" pitchFamily="50" charset="-128"/>
              </a:rPr>
              <a:t>Tver</a:t>
            </a:r>
            <a:r>
              <a:rPr lang="ja-JP" altLang="en-US" dirty="0">
                <a:latin typeface="BIZ UDPゴシック" panose="020B0400000000000000" pitchFamily="50" charset="-128"/>
                <a:ea typeface="BIZ UDPゴシック" panose="020B0400000000000000" pitchFamily="50" charset="-128"/>
              </a:rPr>
              <a:t>は通常の</a:t>
            </a:r>
            <a:r>
              <a:rPr lang="en-US" altLang="ja-JP" dirty="0">
                <a:latin typeface="BIZ UDPゴシック" panose="020B0400000000000000" pitchFamily="50" charset="-128"/>
                <a:ea typeface="BIZ UDPゴシック" panose="020B0400000000000000" pitchFamily="50" charset="-128"/>
              </a:rPr>
              <a:t>WEB</a:t>
            </a:r>
            <a:r>
              <a:rPr lang="ja-JP" altLang="en-US" dirty="0">
                <a:latin typeface="BIZ UDPゴシック" panose="020B0400000000000000" pitchFamily="50" charset="-128"/>
                <a:ea typeface="BIZ UDPゴシック" panose="020B0400000000000000" pitchFamily="50" charset="-128"/>
              </a:rPr>
              <a:t>動画メディア（</a:t>
            </a:r>
            <a:r>
              <a:rPr lang="en-US" altLang="ja-JP" dirty="0">
                <a:latin typeface="BIZ UDPゴシック" panose="020B0400000000000000" pitchFamily="50" charset="-128"/>
                <a:ea typeface="BIZ UDPゴシック" panose="020B0400000000000000" pitchFamily="50" charset="-128"/>
              </a:rPr>
              <a:t>YouTube</a:t>
            </a:r>
            <a:r>
              <a:rPr lang="ja-JP" altLang="en-US" dirty="0">
                <a:latin typeface="BIZ UDPゴシック" panose="020B0400000000000000" pitchFamily="50" charset="-128"/>
                <a:ea typeface="BIZ UDPゴシック" panose="020B0400000000000000" pitchFamily="50" charset="-128"/>
              </a:rPr>
              <a:t>広告など）と違い、民放で放送されるテレビ番組の間に流れる為、</a:t>
            </a:r>
            <a:endParaRPr lang="en-US" altLang="ja-JP"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視聴者の信頼度も高い媒体です。</a:t>
            </a:r>
            <a:endParaRPr lang="en-US" altLang="ja-JP" dirty="0">
              <a:latin typeface="BIZ UDPゴシック" panose="020B0400000000000000" pitchFamily="50" charset="-128"/>
              <a:ea typeface="BIZ UDPゴシック" panose="020B0400000000000000" pitchFamily="50" charset="-128"/>
            </a:endParaRPr>
          </a:p>
          <a:p>
            <a:r>
              <a:rPr lang="en-US" altLang="ja-JP" dirty="0">
                <a:latin typeface="BIZ UDPゴシック" panose="020B0400000000000000" pitchFamily="50" charset="-128"/>
                <a:ea typeface="BIZ UDPゴシック" panose="020B0400000000000000" pitchFamily="50" charset="-128"/>
              </a:rPr>
              <a:t>WEB</a:t>
            </a:r>
            <a:r>
              <a:rPr lang="ja-JP" altLang="en-US" dirty="0">
                <a:latin typeface="BIZ UDPゴシック" panose="020B0400000000000000" pitchFamily="50" charset="-128"/>
                <a:ea typeface="BIZ UDPゴシック" panose="020B0400000000000000" pitchFamily="50" charset="-128"/>
              </a:rPr>
              <a:t>動画と同様に、目的視聴がほとんどの為、認知の獲得がしやすく効果的なアプローチが可能です。</a:t>
            </a:r>
            <a:endParaRPr lang="en-US" altLang="ja-JP" dirty="0">
              <a:latin typeface="BIZ UDPゴシック" panose="020B0400000000000000" pitchFamily="50" charset="-128"/>
              <a:ea typeface="BIZ UDPゴシック" panose="020B0400000000000000" pitchFamily="50" charset="-128"/>
            </a:endParaRPr>
          </a:p>
        </p:txBody>
      </p:sp>
      <p:sp>
        <p:nvSpPr>
          <p:cNvPr id="22" name="スライド番号プレースホルダー 10">
            <a:extLst>
              <a:ext uri="{FF2B5EF4-FFF2-40B4-BE49-F238E27FC236}">
                <a16:creationId xmlns:a16="http://schemas.microsoft.com/office/drawing/2014/main" id="{A3B24685-9F01-D4D8-3ED1-C15EC687A810}"/>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13</a:t>
            </a:fld>
            <a:endParaRPr lang="ja-JP" altLang="en-US"/>
          </a:p>
        </p:txBody>
      </p:sp>
    </p:spTree>
    <p:extLst>
      <p:ext uri="{BB962C8B-B14F-4D97-AF65-F5344CB8AC3E}">
        <p14:creationId xmlns:p14="http://schemas.microsoft.com/office/powerpoint/2010/main" val="397836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E4D1C1C-B0D3-BB9A-4E91-D5FC08ADA1BC}"/>
              </a:ext>
            </a:extLst>
          </p:cNvPr>
          <p:cNvSpPr txBox="1"/>
          <p:nvPr/>
        </p:nvSpPr>
        <p:spPr>
          <a:xfrm>
            <a:off x="332509" y="299258"/>
            <a:ext cx="1332416"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＞＞最後に</a:t>
            </a:r>
          </a:p>
        </p:txBody>
      </p:sp>
      <p:sp>
        <p:nvSpPr>
          <p:cNvPr id="5" name="テキスト ボックス 4">
            <a:extLst>
              <a:ext uri="{FF2B5EF4-FFF2-40B4-BE49-F238E27FC236}">
                <a16:creationId xmlns:a16="http://schemas.microsoft.com/office/drawing/2014/main" id="{F65F3854-4390-3B70-09C6-75C32D5F7830}"/>
              </a:ext>
            </a:extLst>
          </p:cNvPr>
          <p:cNvSpPr txBox="1"/>
          <p:nvPr/>
        </p:nvSpPr>
        <p:spPr>
          <a:xfrm>
            <a:off x="197427" y="1166842"/>
            <a:ext cx="11797146" cy="4524315"/>
          </a:xfrm>
          <a:prstGeom prst="rect">
            <a:avLst/>
          </a:prstGeom>
          <a:noFill/>
        </p:spPr>
        <p:txBody>
          <a:bodyPr wrap="square" rtlCol="0">
            <a:spAutoFit/>
          </a:bodyPr>
          <a:lstStyle/>
          <a:p>
            <a:r>
              <a:rPr lang="ja-JP" altLang="en-US" sz="2400" dirty="0">
                <a:latin typeface="BIZ UDPゴシック" panose="020B0400000000000000" pitchFamily="50" charset="-128"/>
                <a:ea typeface="BIZ UDPゴシック" panose="020B0400000000000000" pitchFamily="50" charset="-128"/>
              </a:rPr>
              <a:t>今回ご提案させていただいた内容を軸に、</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最適となるような</a:t>
            </a:r>
            <a:r>
              <a:rPr lang="en-US" altLang="ja-JP" sz="2400" dirty="0">
                <a:latin typeface="BIZ UDPゴシック" panose="020B0400000000000000" pitchFamily="50" charset="-128"/>
                <a:ea typeface="BIZ UDPゴシック" panose="020B0400000000000000" pitchFamily="50" charset="-128"/>
              </a:rPr>
              <a:t>CM</a:t>
            </a:r>
            <a:r>
              <a:rPr lang="ja-JP" altLang="en-US" sz="2400" dirty="0">
                <a:latin typeface="BIZ UDPゴシック" panose="020B0400000000000000" pitchFamily="50" charset="-128"/>
                <a:ea typeface="BIZ UDPゴシック" panose="020B0400000000000000" pitchFamily="50" charset="-128"/>
              </a:rPr>
              <a:t>制作、メディアプランニングを弊社一丸となり</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全力で取り組ませていただきます。</a:t>
            </a:r>
            <a:endParaRPr lang="en-US" altLang="ja-JP" sz="2400" dirty="0">
              <a:latin typeface="BIZ UDPゴシック" panose="020B0400000000000000" pitchFamily="50" charset="-128"/>
              <a:ea typeface="BIZ UDPゴシック" panose="020B0400000000000000" pitchFamily="50" charset="-128"/>
            </a:endParaRPr>
          </a:p>
          <a:p>
            <a:endParaRPr lang="en-US" altLang="ja-JP" sz="2400" dirty="0">
              <a:latin typeface="BIZ UDPゴシック" panose="020B0400000000000000" pitchFamily="50" charset="-128"/>
              <a:ea typeface="BIZ UDPゴシック" panose="020B0400000000000000" pitchFamily="50" charset="-128"/>
            </a:endParaRPr>
          </a:p>
          <a:p>
            <a:r>
              <a:rPr lang="en-US" altLang="ja-JP" sz="2400" dirty="0">
                <a:latin typeface="BIZ UDPゴシック" panose="020B0400000000000000" pitchFamily="50" charset="-128"/>
                <a:ea typeface="BIZ UDPゴシック" panose="020B0400000000000000" pitchFamily="50" charset="-128"/>
              </a:rPr>
              <a:t>CM</a:t>
            </a:r>
            <a:r>
              <a:rPr lang="ja-JP" altLang="en-US" sz="2400" dirty="0">
                <a:latin typeface="BIZ UDPゴシック" panose="020B0400000000000000" pitchFamily="50" charset="-128"/>
                <a:ea typeface="BIZ UDPゴシック" panose="020B0400000000000000" pitchFamily="50" charset="-128"/>
              </a:rPr>
              <a:t>放送結果の「見える化」を行う事で</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ご出稿頂いた予算をさらに「意味のあるもの」にし、</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効果検証をはじめ御社に寄り添った形でのプランニング・運用を行ってまいります。</a:t>
            </a:r>
            <a:endParaRPr lang="en-US" altLang="ja-JP" sz="2400" dirty="0">
              <a:latin typeface="BIZ UDPゴシック" panose="020B0400000000000000" pitchFamily="50" charset="-128"/>
              <a:ea typeface="BIZ UDPゴシック" panose="020B0400000000000000" pitchFamily="50" charset="-128"/>
            </a:endParaRPr>
          </a:p>
          <a:p>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ぜひご検討を頂き、</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御社が目指す広報プランを一緒に構築するお手伝いを私共へ託してください。</a:t>
            </a:r>
            <a:endParaRPr lang="en-US" altLang="ja-JP" sz="2400" dirty="0">
              <a:latin typeface="BIZ UDPゴシック" panose="020B0400000000000000" pitchFamily="50" charset="-128"/>
              <a:ea typeface="BIZ UDPゴシック" panose="020B0400000000000000" pitchFamily="50" charset="-128"/>
            </a:endParaRPr>
          </a:p>
          <a:p>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本日はご提案の機会を頂き有難うございました。</a:t>
            </a:r>
            <a:endParaRPr lang="en-US" altLang="ja-JP" sz="2400" dirty="0">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FD97E6E5-D730-17D9-0FFA-FF887301E4AE}"/>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F4B2FFD1-D40F-91C9-2A94-BA52C8153ADD}"/>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10">
            <a:extLst>
              <a:ext uri="{FF2B5EF4-FFF2-40B4-BE49-F238E27FC236}">
                <a16:creationId xmlns:a16="http://schemas.microsoft.com/office/drawing/2014/main" id="{315D5EE4-BACA-3E9E-F28C-E56F94EE6E59}"/>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14</a:t>
            </a:fld>
            <a:endParaRPr lang="ja-JP" altLang="en-US"/>
          </a:p>
        </p:txBody>
      </p:sp>
    </p:spTree>
    <p:extLst>
      <p:ext uri="{BB962C8B-B14F-4D97-AF65-F5344CB8AC3E}">
        <p14:creationId xmlns:p14="http://schemas.microsoft.com/office/powerpoint/2010/main" val="4080326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E4D1C1C-B0D3-BB9A-4E91-D5FC08ADA1BC}"/>
              </a:ext>
            </a:extLst>
          </p:cNvPr>
          <p:cNvSpPr txBox="1"/>
          <p:nvPr/>
        </p:nvSpPr>
        <p:spPr>
          <a:xfrm>
            <a:off x="332509" y="299258"/>
            <a:ext cx="1569660"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＞＞参考資料</a:t>
            </a:r>
          </a:p>
        </p:txBody>
      </p:sp>
      <p:sp>
        <p:nvSpPr>
          <p:cNvPr id="5" name="テキスト ボックス 4">
            <a:extLst>
              <a:ext uri="{FF2B5EF4-FFF2-40B4-BE49-F238E27FC236}">
                <a16:creationId xmlns:a16="http://schemas.microsoft.com/office/drawing/2014/main" id="{F65F3854-4390-3B70-09C6-75C32D5F7830}"/>
              </a:ext>
            </a:extLst>
          </p:cNvPr>
          <p:cNvSpPr txBox="1"/>
          <p:nvPr/>
        </p:nvSpPr>
        <p:spPr>
          <a:xfrm>
            <a:off x="197427" y="894677"/>
            <a:ext cx="11797146" cy="461665"/>
          </a:xfrm>
          <a:prstGeom prst="rect">
            <a:avLst/>
          </a:prstGeom>
          <a:noFill/>
        </p:spPr>
        <p:txBody>
          <a:bodyPr wrap="square" rtlCol="0">
            <a:spAutoFit/>
          </a:bodyPr>
          <a:lstStyle/>
          <a:p>
            <a:r>
              <a:rPr lang="ja-JP" altLang="en-US" sz="2400" dirty="0">
                <a:latin typeface="BIZ UDPゴシック" panose="020B0400000000000000" pitchFamily="50" charset="-128"/>
                <a:ea typeface="BIZ UDPゴシック" panose="020B0400000000000000" pitchFamily="50" charset="-128"/>
              </a:rPr>
              <a:t>テレビ３局放送費用の御見積</a:t>
            </a:r>
            <a:endParaRPr lang="en-US" altLang="ja-JP" sz="2400" dirty="0">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FD97E6E5-D730-17D9-0FFA-FF887301E4AE}"/>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F4B2FFD1-D40F-91C9-2A94-BA52C8153ADD}"/>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10">
            <a:extLst>
              <a:ext uri="{FF2B5EF4-FFF2-40B4-BE49-F238E27FC236}">
                <a16:creationId xmlns:a16="http://schemas.microsoft.com/office/drawing/2014/main" id="{315D5EE4-BACA-3E9E-F28C-E56F94EE6E59}"/>
              </a:ext>
            </a:extLst>
          </p:cNvPr>
          <p:cNvSpPr txBox="1">
            <a:spLocks/>
          </p:cNvSpPr>
          <p:nvPr/>
        </p:nvSpPr>
        <p:spPr>
          <a:xfrm>
            <a:off x="9326880" y="6371613"/>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A968F70-849A-4002-AAE1-AF06B930E453}" type="slidenum">
              <a:rPr lang="ja-JP" altLang="en-US" smtClean="0"/>
              <a:pPr/>
              <a:t>15</a:t>
            </a:fld>
            <a:endParaRPr lang="ja-JP" altLang="en-US"/>
          </a:p>
        </p:txBody>
      </p:sp>
      <p:graphicFrame>
        <p:nvGraphicFramePr>
          <p:cNvPr id="3" name="表 2">
            <a:extLst>
              <a:ext uri="{FF2B5EF4-FFF2-40B4-BE49-F238E27FC236}">
                <a16:creationId xmlns:a16="http://schemas.microsoft.com/office/drawing/2014/main" id="{7492F28D-4F08-837E-E45F-876543FC2F20}"/>
              </a:ext>
            </a:extLst>
          </p:cNvPr>
          <p:cNvGraphicFramePr>
            <a:graphicFrameLocks noGrp="1"/>
          </p:cNvGraphicFramePr>
          <p:nvPr>
            <p:extLst>
              <p:ext uri="{D42A27DB-BD31-4B8C-83A1-F6EECF244321}">
                <p14:modId xmlns:p14="http://schemas.microsoft.com/office/powerpoint/2010/main" val="3332703773"/>
              </p:ext>
            </p:extLst>
          </p:nvPr>
        </p:nvGraphicFramePr>
        <p:xfrm>
          <a:off x="1676400" y="1637885"/>
          <a:ext cx="8839200" cy="4321750"/>
        </p:xfrm>
        <a:graphic>
          <a:graphicData uri="http://schemas.openxmlformats.org/drawingml/2006/table">
            <a:tbl>
              <a:tblPr/>
              <a:tblGrid>
                <a:gridCol w="2209800">
                  <a:extLst>
                    <a:ext uri="{9D8B030D-6E8A-4147-A177-3AD203B41FA5}">
                      <a16:colId xmlns:a16="http://schemas.microsoft.com/office/drawing/2014/main" val="2419620090"/>
                    </a:ext>
                  </a:extLst>
                </a:gridCol>
                <a:gridCol w="2209800">
                  <a:extLst>
                    <a:ext uri="{9D8B030D-6E8A-4147-A177-3AD203B41FA5}">
                      <a16:colId xmlns:a16="http://schemas.microsoft.com/office/drawing/2014/main" val="1792238426"/>
                    </a:ext>
                  </a:extLst>
                </a:gridCol>
                <a:gridCol w="2209800">
                  <a:extLst>
                    <a:ext uri="{9D8B030D-6E8A-4147-A177-3AD203B41FA5}">
                      <a16:colId xmlns:a16="http://schemas.microsoft.com/office/drawing/2014/main" val="2791918849"/>
                    </a:ext>
                  </a:extLst>
                </a:gridCol>
                <a:gridCol w="2209800">
                  <a:extLst>
                    <a:ext uri="{9D8B030D-6E8A-4147-A177-3AD203B41FA5}">
                      <a16:colId xmlns:a16="http://schemas.microsoft.com/office/drawing/2014/main" val="3661051937"/>
                    </a:ext>
                  </a:extLst>
                </a:gridCol>
              </a:tblGrid>
              <a:tr h="1027435">
                <a:tc>
                  <a:txBody>
                    <a:bodyPr/>
                    <a:lstStyle/>
                    <a:p>
                      <a:pPr algn="l" fontAlgn="auto">
                        <a:lnSpc>
                          <a:spcPts val="2175"/>
                        </a:lnSpc>
                        <a:buNone/>
                      </a:pPr>
                      <a:r>
                        <a:rPr lang="ja-JP" altLang="en-US" sz="1900" b="1" i="0">
                          <a:solidFill>
                            <a:srgbClr val="FFFFFF"/>
                          </a:solidFill>
                          <a:effectLst/>
                          <a:ea typeface="游ゴシック" panose="020B0400000000000000" pitchFamily="50" charset="-128"/>
                        </a:rPr>
                        <a:t>​</a:t>
                      </a:r>
                    </a:p>
                  </a:txBody>
                  <a:tcPr marL="97851" marR="97851" marT="48925" marB="4892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336" cap="flat" cmpd="sng" algn="ctr">
                      <a:solidFill>
                        <a:srgbClr val="FFFFFF"/>
                      </a:solidFill>
                      <a:prstDash val="solid"/>
                      <a:round/>
                      <a:headEnd type="none" w="med" len="med"/>
                      <a:tailEnd type="none" w="med" len="med"/>
                    </a:lnB>
                    <a:solidFill>
                      <a:srgbClr val="4472C4"/>
                    </a:solidFill>
                  </a:tcPr>
                </a:tc>
                <a:tc>
                  <a:txBody>
                    <a:bodyPr/>
                    <a:lstStyle/>
                    <a:p>
                      <a:pPr algn="ctr" fontAlgn="base">
                        <a:lnSpc>
                          <a:spcPts val="3375"/>
                        </a:lnSpc>
                        <a:buNone/>
                      </a:pPr>
                      <a:r>
                        <a:rPr lang="en-US" sz="3000" b="1" i="0">
                          <a:solidFill>
                            <a:srgbClr val="FFFFFF"/>
                          </a:solidFill>
                          <a:effectLst/>
                          <a:latin typeface="游ゴシック" panose="020B0400000000000000" pitchFamily="50" charset="-128"/>
                        </a:rPr>
                        <a:t>OTV</a:t>
                      </a:r>
                      <a:r>
                        <a:rPr lang="en-US" altLang="ja-JP" sz="3000" b="1" i="0">
                          <a:solidFill>
                            <a:srgbClr val="FFFFFF"/>
                          </a:solidFill>
                          <a:effectLst/>
                          <a:ea typeface="游ゴシック" panose="020B0400000000000000" pitchFamily="50" charset="-128"/>
                        </a:rPr>
                        <a:t>​</a:t>
                      </a:r>
                      <a:endParaRPr lang="en-US" altLang="ja-JP" sz="1900" b="1" i="0">
                        <a:solidFill>
                          <a:srgbClr val="FFFFFF"/>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336" cap="flat" cmpd="sng" algn="ctr">
                      <a:solidFill>
                        <a:srgbClr val="FFFFFF"/>
                      </a:solidFill>
                      <a:prstDash val="solid"/>
                      <a:round/>
                      <a:headEnd type="none" w="med" len="med"/>
                      <a:tailEnd type="none" w="med" len="med"/>
                    </a:lnB>
                    <a:solidFill>
                      <a:srgbClr val="4472C4"/>
                    </a:solidFill>
                  </a:tcPr>
                </a:tc>
                <a:tc>
                  <a:txBody>
                    <a:bodyPr/>
                    <a:lstStyle/>
                    <a:p>
                      <a:pPr algn="ctr" fontAlgn="base">
                        <a:lnSpc>
                          <a:spcPts val="3375"/>
                        </a:lnSpc>
                        <a:buNone/>
                      </a:pPr>
                      <a:r>
                        <a:rPr lang="en-US" sz="3000" b="1" i="0">
                          <a:solidFill>
                            <a:srgbClr val="FFFFFF"/>
                          </a:solidFill>
                          <a:effectLst/>
                          <a:latin typeface="游ゴシック" panose="020B0400000000000000" pitchFamily="50" charset="-128"/>
                        </a:rPr>
                        <a:t>QAB</a:t>
                      </a:r>
                      <a:r>
                        <a:rPr lang="en-US" altLang="ja-JP" sz="3000" b="1" i="0">
                          <a:solidFill>
                            <a:srgbClr val="FFFFFF"/>
                          </a:solidFill>
                          <a:effectLst/>
                          <a:ea typeface="游ゴシック" panose="020B0400000000000000" pitchFamily="50" charset="-128"/>
                        </a:rPr>
                        <a:t>​</a:t>
                      </a:r>
                      <a:endParaRPr lang="en-US" altLang="ja-JP" sz="1900" b="1" i="0">
                        <a:solidFill>
                          <a:srgbClr val="FFFFFF"/>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336" cap="flat" cmpd="sng" algn="ctr">
                      <a:solidFill>
                        <a:srgbClr val="FFFFFF"/>
                      </a:solidFill>
                      <a:prstDash val="solid"/>
                      <a:round/>
                      <a:headEnd type="none" w="med" len="med"/>
                      <a:tailEnd type="none" w="med" len="med"/>
                    </a:lnB>
                    <a:solidFill>
                      <a:srgbClr val="4472C4"/>
                    </a:solidFill>
                  </a:tcPr>
                </a:tc>
                <a:tc>
                  <a:txBody>
                    <a:bodyPr/>
                    <a:lstStyle/>
                    <a:p>
                      <a:pPr algn="ctr" fontAlgn="base">
                        <a:lnSpc>
                          <a:spcPts val="3375"/>
                        </a:lnSpc>
                        <a:buNone/>
                      </a:pPr>
                      <a:r>
                        <a:rPr lang="en-US" sz="3000" b="1" i="0">
                          <a:solidFill>
                            <a:srgbClr val="FFFFFF"/>
                          </a:solidFill>
                          <a:effectLst/>
                          <a:latin typeface="游ゴシック" panose="020B0400000000000000" pitchFamily="50" charset="-128"/>
                        </a:rPr>
                        <a:t>RBC</a:t>
                      </a:r>
                      <a:r>
                        <a:rPr lang="en-US" altLang="ja-JP" sz="3000" b="1" i="0">
                          <a:solidFill>
                            <a:srgbClr val="FFFFFF"/>
                          </a:solidFill>
                          <a:effectLst/>
                          <a:ea typeface="游ゴシック" panose="020B0400000000000000" pitchFamily="50" charset="-128"/>
                        </a:rPr>
                        <a:t>​</a:t>
                      </a:r>
                      <a:endParaRPr lang="en-US" altLang="ja-JP" sz="1900" b="1" i="0">
                        <a:solidFill>
                          <a:srgbClr val="FFFFFF"/>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1336"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646371469"/>
                  </a:ext>
                </a:extLst>
              </a:tr>
              <a:tr h="1027435">
                <a:tc>
                  <a:txBody>
                    <a:bodyPr/>
                    <a:lstStyle/>
                    <a:p>
                      <a:pPr algn="ctr" fontAlgn="base">
                        <a:lnSpc>
                          <a:spcPts val="2175"/>
                        </a:lnSpc>
                        <a:buNone/>
                      </a:pPr>
                      <a:r>
                        <a:rPr lang="ja-JP" altLang="en-US" sz="1900" b="1" i="0">
                          <a:solidFill>
                            <a:srgbClr val="000000"/>
                          </a:solidFill>
                          <a:effectLst/>
                          <a:ea typeface="游ゴシック" panose="020B0400000000000000" pitchFamily="50" charset="-128"/>
                        </a:rPr>
                        <a:t>掛率</a:t>
                      </a:r>
                      <a:r>
                        <a:rPr lang="ja-JP" altLang="en-US" sz="1900" b="0" i="0">
                          <a:solidFill>
                            <a:srgbClr val="000000"/>
                          </a:solidFill>
                          <a:effectLst/>
                          <a:latin typeface="游ゴシック" panose="020B0400000000000000" pitchFamily="50" charset="-128"/>
                        </a:rPr>
                        <a:t>​</a:t>
                      </a:r>
                      <a:endParaRPr lang="ja-JP" altLang="en-US" sz="1900" b="0" i="0">
                        <a:solidFill>
                          <a:srgbClr val="000000"/>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000000"/>
                      </a:solidFill>
                      <a:prstDash val="solid"/>
                      <a:round/>
                      <a:headEnd type="none" w="med" len="med"/>
                      <a:tailEnd type="none" w="med" len="med"/>
                    </a:lnR>
                    <a:lnT w="2133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ctr" fontAlgn="base">
                        <a:lnSpc>
                          <a:spcPts val="2175"/>
                        </a:lnSpc>
                        <a:buNone/>
                      </a:pPr>
                      <a:r>
                        <a:rPr lang="en-US" altLang="zh-TW" sz="1900" b="1" i="0">
                          <a:solidFill>
                            <a:srgbClr val="000000"/>
                          </a:solidFill>
                          <a:effectLst/>
                          <a:latin typeface="游ゴシック" panose="020B0400000000000000" pitchFamily="50" charset="-128"/>
                        </a:rPr>
                        <a:t>12.5%</a:t>
                      </a:r>
                      <a:r>
                        <a:rPr lang="zh-TW" altLang="en-US" sz="1900" b="0" i="0">
                          <a:solidFill>
                            <a:srgbClr val="000000"/>
                          </a:solidFill>
                          <a:effectLst/>
                          <a:latin typeface="游ゴシック" panose="020B0400000000000000" pitchFamily="50" charset="-128"/>
                        </a:rPr>
                        <a:t>​</a:t>
                      </a:r>
                      <a:endParaRPr lang="zh-TW" altLang="en-US" sz="1900" b="0" i="0">
                        <a:solidFill>
                          <a:srgbClr val="000000"/>
                        </a:solidFill>
                        <a:effectLst/>
                      </a:endParaRPr>
                    </a:p>
                    <a:p>
                      <a:pPr algn="ctr" fontAlgn="base">
                        <a:lnSpc>
                          <a:spcPts val="1650"/>
                        </a:lnSpc>
                        <a:buNone/>
                      </a:pPr>
                      <a:r>
                        <a:rPr lang="zh-TW" altLang="en-US" sz="1500" b="1" i="0">
                          <a:solidFill>
                            <a:srgbClr val="000000"/>
                          </a:solidFill>
                          <a:effectLst/>
                          <a:ea typeface="游ゴシック" panose="020B0400000000000000" pitchFamily="50" charset="-128"/>
                        </a:rPr>
                        <a:t>（全日</a:t>
                      </a:r>
                      <a:r>
                        <a:rPr lang="en-US" altLang="zh-TW" sz="1500" b="1" i="0">
                          <a:solidFill>
                            <a:srgbClr val="000000"/>
                          </a:solidFill>
                          <a:effectLst/>
                          <a:latin typeface="游ゴシック" panose="020B0400000000000000" pitchFamily="50" charset="-128"/>
                        </a:rPr>
                        <a:t>6</a:t>
                      </a:r>
                      <a:r>
                        <a:rPr lang="zh-TW" altLang="en-US" sz="1500" b="1" i="0">
                          <a:solidFill>
                            <a:srgbClr val="000000"/>
                          </a:solidFill>
                          <a:effectLst/>
                          <a:ea typeface="游ゴシック" panose="020B0400000000000000" pitchFamily="50" charset="-128"/>
                        </a:rPr>
                        <a:t>時～</a:t>
                      </a:r>
                      <a:r>
                        <a:rPr lang="en-US" altLang="zh-TW" sz="1500" b="1" i="0">
                          <a:solidFill>
                            <a:srgbClr val="000000"/>
                          </a:solidFill>
                          <a:effectLst/>
                          <a:latin typeface="游ゴシック" panose="020B0400000000000000" pitchFamily="50" charset="-128"/>
                        </a:rPr>
                        <a:t>26</a:t>
                      </a:r>
                      <a:r>
                        <a:rPr lang="zh-TW" altLang="en-US" sz="1500" b="1" i="0">
                          <a:solidFill>
                            <a:srgbClr val="000000"/>
                          </a:solidFill>
                          <a:effectLst/>
                          <a:ea typeface="游ゴシック" panose="020B0400000000000000" pitchFamily="50" charset="-128"/>
                        </a:rPr>
                        <a:t>時）</a:t>
                      </a:r>
                      <a:r>
                        <a:rPr lang="zh-TW" altLang="en-US" sz="1500" b="0" i="0">
                          <a:solidFill>
                            <a:srgbClr val="000000"/>
                          </a:solidFill>
                          <a:effectLst/>
                          <a:latin typeface="游ゴシック" panose="020B0400000000000000" pitchFamily="50" charset="-128"/>
                        </a:rPr>
                        <a:t>​</a:t>
                      </a:r>
                      <a:endParaRPr lang="zh-TW" altLang="en-US" sz="1900" b="0" i="0">
                        <a:solidFill>
                          <a:srgbClr val="000000"/>
                        </a:solidFill>
                        <a:effectLst/>
                      </a:endParaRPr>
                    </a:p>
                  </a:txBody>
                  <a:tcPr marL="97851" marR="97851" marT="48925" marB="48925" anchor="ctr">
                    <a:lnL w="7620" cap="flat" cmpd="sng" algn="ctr">
                      <a:solidFill>
                        <a:srgbClr val="000000"/>
                      </a:solidFill>
                      <a:prstDash val="solid"/>
                      <a:round/>
                      <a:headEnd type="none" w="med" len="med"/>
                      <a:tailEnd type="none" w="med" len="med"/>
                    </a:lnL>
                    <a:lnR w="7620" cap="flat" cmpd="sng" algn="ctr">
                      <a:solidFill>
                        <a:srgbClr val="FFFFFF"/>
                      </a:solidFill>
                      <a:prstDash val="solid"/>
                      <a:round/>
                      <a:headEnd type="none" w="med" len="med"/>
                      <a:tailEnd type="none" w="med" len="med"/>
                    </a:lnR>
                    <a:lnT w="2133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ctr" fontAlgn="base">
                        <a:lnSpc>
                          <a:spcPts val="2175"/>
                        </a:lnSpc>
                        <a:buNone/>
                      </a:pPr>
                      <a:r>
                        <a:rPr lang="en-US" sz="1900" b="1" i="0">
                          <a:solidFill>
                            <a:srgbClr val="000000"/>
                          </a:solidFill>
                          <a:effectLst/>
                          <a:latin typeface="游ゴシック" panose="020B0400000000000000" pitchFamily="50" charset="-128"/>
                        </a:rPr>
                        <a:t>12.0%</a:t>
                      </a:r>
                      <a:r>
                        <a:rPr lang="en-US" sz="1900" b="0" i="0">
                          <a:solidFill>
                            <a:srgbClr val="000000"/>
                          </a:solidFill>
                          <a:effectLst/>
                          <a:latin typeface="游ゴシック" panose="020B0400000000000000" pitchFamily="50" charset="-128"/>
                        </a:rPr>
                        <a:t>​</a:t>
                      </a:r>
                      <a:endParaRPr lang="en-US" sz="1900" b="0" i="0">
                        <a:solidFill>
                          <a:srgbClr val="000000"/>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33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ctr" fontAlgn="base">
                        <a:lnSpc>
                          <a:spcPts val="2175"/>
                        </a:lnSpc>
                        <a:buNone/>
                      </a:pPr>
                      <a:r>
                        <a:rPr lang="en-US" sz="1900" b="1" i="0" dirty="0">
                          <a:solidFill>
                            <a:srgbClr val="000000"/>
                          </a:solidFill>
                          <a:effectLst/>
                          <a:latin typeface="游ゴシック" panose="020B0400000000000000" pitchFamily="50" charset="-128"/>
                        </a:rPr>
                        <a:t>12.0%</a:t>
                      </a:r>
                      <a:r>
                        <a:rPr lang="en-US" altLang="ja-JP" sz="1900" b="0" i="0" dirty="0">
                          <a:solidFill>
                            <a:srgbClr val="000000"/>
                          </a:solidFill>
                          <a:effectLst/>
                          <a:ea typeface="游ゴシック" panose="020B0400000000000000" pitchFamily="50" charset="-128"/>
                        </a:rPr>
                        <a:t>​</a:t>
                      </a:r>
                      <a:endParaRPr lang="en-US" altLang="ja-JP" sz="1900" b="0" i="0" dirty="0">
                        <a:solidFill>
                          <a:srgbClr val="000000"/>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133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2091238454"/>
                  </a:ext>
                </a:extLst>
              </a:tr>
              <a:tr h="1239445">
                <a:tc>
                  <a:txBody>
                    <a:bodyPr/>
                    <a:lstStyle/>
                    <a:p>
                      <a:pPr algn="ctr" fontAlgn="base">
                        <a:lnSpc>
                          <a:spcPts val="2175"/>
                        </a:lnSpc>
                        <a:buNone/>
                      </a:pPr>
                      <a:r>
                        <a:rPr lang="ja-JP" altLang="en-US" sz="1900" b="1" i="0">
                          <a:solidFill>
                            <a:srgbClr val="000000"/>
                          </a:solidFill>
                          <a:effectLst/>
                          <a:ea typeface="游ゴシック" panose="020B0400000000000000" pitchFamily="50" charset="-128"/>
                        </a:rPr>
                        <a:t>パーコスト</a:t>
                      </a:r>
                      <a:r>
                        <a:rPr lang="ja-JP" altLang="en-US" sz="1900" b="0" i="0">
                          <a:solidFill>
                            <a:srgbClr val="000000"/>
                          </a:solidFill>
                          <a:effectLst/>
                          <a:latin typeface="游ゴシック" panose="020B0400000000000000" pitchFamily="50" charset="-128"/>
                        </a:rPr>
                        <a:t>​</a:t>
                      </a:r>
                      <a:endParaRPr lang="ja-JP" altLang="en-US" sz="1900" b="0" i="0">
                        <a:solidFill>
                          <a:srgbClr val="000000"/>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ja-JP" altLang="en-US" sz="1900" b="1" i="0">
                          <a:solidFill>
                            <a:srgbClr val="404040"/>
                          </a:solidFill>
                          <a:effectLst/>
                          <a:ea typeface="游ゴシック" panose="020B0400000000000000" pitchFamily="50" charset="-128"/>
                        </a:rPr>
                        <a:t>￥</a:t>
                      </a:r>
                      <a:r>
                        <a:rPr lang="en-US" altLang="ja-JP" sz="1900" b="1" i="0">
                          <a:solidFill>
                            <a:srgbClr val="404040"/>
                          </a:solidFill>
                          <a:effectLst/>
                          <a:latin typeface="游ゴシック" panose="020B0400000000000000" pitchFamily="50" charset="-128"/>
                        </a:rPr>
                        <a:t>2,660</a:t>
                      </a:r>
                      <a:r>
                        <a:rPr lang="ja-JP" altLang="en-US" sz="1900" b="0" i="0">
                          <a:solidFill>
                            <a:srgbClr val="000000"/>
                          </a:solidFill>
                          <a:effectLst/>
                          <a:latin typeface="游ゴシック" panose="020B0400000000000000" pitchFamily="50" charset="-128"/>
                        </a:rPr>
                        <a:t>​</a:t>
                      </a:r>
                      <a:endParaRPr lang="ja-JP" altLang="en-US" sz="1900" b="0" i="0">
                        <a:solidFill>
                          <a:srgbClr val="000000"/>
                        </a:solidFill>
                        <a:effectLst/>
                      </a:endParaRPr>
                    </a:p>
                    <a:p>
                      <a:pPr algn="ctr" fontAlgn="base">
                        <a:lnSpc>
                          <a:spcPts val="1650"/>
                        </a:lnSpc>
                        <a:buNone/>
                      </a:pPr>
                      <a:r>
                        <a:rPr lang="ja-JP" altLang="en-US" sz="1500" b="1" i="0">
                          <a:solidFill>
                            <a:srgbClr val="404040"/>
                          </a:solidFill>
                          <a:effectLst/>
                          <a:ea typeface="游ゴシック" panose="020B0400000000000000" pitchFamily="50" charset="-128"/>
                        </a:rPr>
                        <a:t>（全日</a:t>
                      </a:r>
                      <a:r>
                        <a:rPr lang="en-US" altLang="ja-JP" sz="1500" b="1" i="0">
                          <a:solidFill>
                            <a:srgbClr val="404040"/>
                          </a:solidFill>
                          <a:effectLst/>
                          <a:latin typeface="游ゴシック" panose="020B0400000000000000" pitchFamily="50" charset="-128"/>
                        </a:rPr>
                        <a:t>6</a:t>
                      </a:r>
                      <a:r>
                        <a:rPr lang="ja-JP" altLang="en-US" sz="1500" b="1" i="0">
                          <a:solidFill>
                            <a:srgbClr val="404040"/>
                          </a:solidFill>
                          <a:effectLst/>
                          <a:ea typeface="游ゴシック" panose="020B0400000000000000" pitchFamily="50" charset="-128"/>
                        </a:rPr>
                        <a:t>時～</a:t>
                      </a:r>
                      <a:r>
                        <a:rPr lang="en-US" altLang="ja-JP" sz="1500" b="1" i="0">
                          <a:solidFill>
                            <a:srgbClr val="404040"/>
                          </a:solidFill>
                          <a:effectLst/>
                          <a:latin typeface="游ゴシック" panose="020B0400000000000000" pitchFamily="50" charset="-128"/>
                        </a:rPr>
                        <a:t>26</a:t>
                      </a:r>
                      <a:r>
                        <a:rPr lang="ja-JP" altLang="en-US" sz="1500" b="1" i="0">
                          <a:solidFill>
                            <a:srgbClr val="404040"/>
                          </a:solidFill>
                          <a:effectLst/>
                          <a:ea typeface="游ゴシック" panose="020B0400000000000000" pitchFamily="50" charset="-128"/>
                        </a:rPr>
                        <a:t>時）</a:t>
                      </a:r>
                      <a:r>
                        <a:rPr lang="ja-JP" altLang="en-US" sz="1500" b="0" i="0">
                          <a:solidFill>
                            <a:srgbClr val="000000"/>
                          </a:solidFill>
                          <a:effectLst/>
                          <a:latin typeface="游ゴシック" panose="020B0400000000000000" pitchFamily="50" charset="-128"/>
                        </a:rPr>
                        <a:t>​</a:t>
                      </a:r>
                      <a:endParaRPr lang="ja-JP" altLang="en-US" sz="1900" b="0" i="0">
                        <a:solidFill>
                          <a:srgbClr val="000000"/>
                        </a:solidFill>
                        <a:effectLst/>
                      </a:endParaRPr>
                    </a:p>
                    <a:p>
                      <a:pPr algn="ctr" fontAlgn="base">
                        <a:lnSpc>
                          <a:spcPts val="1650"/>
                        </a:lnSpc>
                        <a:buNone/>
                      </a:pPr>
                      <a:r>
                        <a:rPr lang="ja-JP" altLang="en-US" sz="1500" b="1" i="0">
                          <a:solidFill>
                            <a:srgbClr val="404040"/>
                          </a:solidFill>
                          <a:effectLst/>
                          <a:ea typeface="游ゴシック" panose="020B0400000000000000" pitchFamily="50" charset="-128"/>
                        </a:rPr>
                        <a:t>条件仕様：￥</a:t>
                      </a:r>
                      <a:r>
                        <a:rPr lang="en-US" altLang="ja-JP" sz="1500" b="1" i="0">
                          <a:solidFill>
                            <a:srgbClr val="404040"/>
                          </a:solidFill>
                          <a:effectLst/>
                          <a:latin typeface="游ゴシック" panose="020B0400000000000000" pitchFamily="50" charset="-128"/>
                        </a:rPr>
                        <a:t>2,563</a:t>
                      </a:r>
                      <a:r>
                        <a:rPr lang="ja-JP" altLang="en-US" sz="1500" b="0" i="0">
                          <a:solidFill>
                            <a:srgbClr val="000000"/>
                          </a:solidFill>
                          <a:effectLst/>
                          <a:latin typeface="游ゴシック" panose="020B0400000000000000" pitchFamily="50" charset="-128"/>
                        </a:rPr>
                        <a:t>​</a:t>
                      </a:r>
                      <a:endParaRPr lang="ja-JP" altLang="en-US" sz="1900" b="0" i="0">
                        <a:solidFill>
                          <a:srgbClr val="000000"/>
                        </a:solidFill>
                        <a:effectLst/>
                      </a:endParaRPr>
                    </a:p>
                    <a:p>
                      <a:pPr algn="ctr" fontAlgn="base">
                        <a:lnSpc>
                          <a:spcPts val="1425"/>
                        </a:lnSpc>
                        <a:buNone/>
                      </a:pPr>
                      <a:r>
                        <a:rPr lang="ja-JP" altLang="en-US" sz="1300" b="1" i="0">
                          <a:solidFill>
                            <a:srgbClr val="404040"/>
                          </a:solidFill>
                          <a:effectLst/>
                          <a:ea typeface="游ゴシック" panose="020B0400000000000000" pitchFamily="50" charset="-128"/>
                        </a:rPr>
                        <a:t>（条件：年間</a:t>
                      </a:r>
                      <a:r>
                        <a:rPr lang="en-US" altLang="ja-JP" sz="1300" b="1" i="0">
                          <a:solidFill>
                            <a:srgbClr val="404040"/>
                          </a:solidFill>
                          <a:effectLst/>
                          <a:latin typeface="游ゴシック" panose="020B0400000000000000" pitchFamily="50" charset="-128"/>
                        </a:rPr>
                        <a:t>2</a:t>
                      </a:r>
                      <a:r>
                        <a:rPr lang="ja-JP" altLang="en-US" sz="1300" b="1" i="0">
                          <a:solidFill>
                            <a:srgbClr val="404040"/>
                          </a:solidFill>
                          <a:effectLst/>
                          <a:ea typeface="游ゴシック" panose="020B0400000000000000" pitchFamily="50" charset="-128"/>
                        </a:rPr>
                        <a:t>クール以上出稿）</a:t>
                      </a:r>
                      <a:r>
                        <a:rPr lang="ja-JP" altLang="en-US" sz="1300" b="0" i="0">
                          <a:solidFill>
                            <a:srgbClr val="000000"/>
                          </a:solidFill>
                          <a:effectLst/>
                          <a:latin typeface="游ゴシック" panose="020B0400000000000000" pitchFamily="50" charset="-128"/>
                        </a:rPr>
                        <a:t>​</a:t>
                      </a:r>
                      <a:endParaRPr lang="ja-JP" altLang="en-US" sz="1900" b="0" i="0">
                        <a:solidFill>
                          <a:srgbClr val="000000"/>
                        </a:solidFill>
                        <a:effectLst/>
                      </a:endParaRPr>
                    </a:p>
                  </a:txBody>
                  <a:tcPr marL="97851" marR="97851" marT="48925" marB="48925" anchor="ctr">
                    <a:lnL w="7620" cap="flat" cmpd="sng" algn="ctr">
                      <a:solidFill>
                        <a:srgbClr val="000000"/>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ja-JP" altLang="en-US" sz="1900" b="1" i="0">
                          <a:solidFill>
                            <a:srgbClr val="404040"/>
                          </a:solidFill>
                          <a:effectLst/>
                          <a:ea typeface="游ゴシック" panose="020B0400000000000000" pitchFamily="50" charset="-128"/>
                        </a:rPr>
                        <a:t>￥</a:t>
                      </a:r>
                      <a:r>
                        <a:rPr lang="en-US" altLang="ja-JP" sz="1900" b="1" i="0">
                          <a:solidFill>
                            <a:srgbClr val="404040"/>
                          </a:solidFill>
                          <a:effectLst/>
                          <a:latin typeface="游ゴシック" panose="020B0400000000000000" pitchFamily="50" charset="-128"/>
                        </a:rPr>
                        <a:t>2,503</a:t>
                      </a:r>
                      <a:r>
                        <a:rPr lang="ja-JP" altLang="en-US" sz="1900" b="0" i="0">
                          <a:solidFill>
                            <a:srgbClr val="000000"/>
                          </a:solidFill>
                          <a:effectLst/>
                          <a:latin typeface="游ゴシック" panose="020B0400000000000000" pitchFamily="50" charset="-128"/>
                        </a:rPr>
                        <a:t>​</a:t>
                      </a:r>
                      <a:endParaRPr lang="ja-JP" altLang="en-US" sz="1900" b="0" i="0">
                        <a:solidFill>
                          <a:srgbClr val="000000"/>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ja-JP" altLang="en-US" sz="1900" b="1" i="0">
                          <a:solidFill>
                            <a:srgbClr val="000000"/>
                          </a:solidFill>
                          <a:effectLst/>
                          <a:ea typeface="游ゴシック" panose="020B0400000000000000" pitchFamily="50" charset="-128"/>
                        </a:rPr>
                        <a:t>￥</a:t>
                      </a:r>
                      <a:r>
                        <a:rPr lang="en-US" altLang="ja-JP" sz="1900" b="1" i="0">
                          <a:solidFill>
                            <a:srgbClr val="000000"/>
                          </a:solidFill>
                          <a:effectLst/>
                          <a:latin typeface="游ゴシック" panose="020B0400000000000000" pitchFamily="50" charset="-128"/>
                        </a:rPr>
                        <a:t>2,284</a:t>
                      </a:r>
                      <a:r>
                        <a:rPr lang="ja-JP" altLang="en-US" sz="1900" b="0" i="0">
                          <a:solidFill>
                            <a:srgbClr val="000000"/>
                          </a:solidFill>
                          <a:effectLst/>
                          <a:ea typeface="游ゴシック" panose="020B0400000000000000" pitchFamily="50" charset="-128"/>
                        </a:rPr>
                        <a:t>​</a:t>
                      </a:r>
                      <a:endParaRPr lang="ja-JP" altLang="en-US" sz="1900" b="0" i="0">
                        <a:solidFill>
                          <a:srgbClr val="000000"/>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298688268"/>
                  </a:ext>
                </a:extLst>
              </a:tr>
              <a:tr h="1027435">
                <a:tc>
                  <a:txBody>
                    <a:bodyPr/>
                    <a:lstStyle/>
                    <a:p>
                      <a:pPr algn="ctr" fontAlgn="base">
                        <a:lnSpc>
                          <a:spcPts val="2175"/>
                        </a:lnSpc>
                        <a:buNone/>
                      </a:pPr>
                      <a:r>
                        <a:rPr lang="ja-JP" altLang="en-US" sz="1900" b="1" i="0">
                          <a:solidFill>
                            <a:srgbClr val="000000"/>
                          </a:solidFill>
                          <a:effectLst/>
                          <a:ea typeface="游ゴシック" panose="020B0400000000000000" pitchFamily="50" charset="-128"/>
                        </a:rPr>
                        <a:t>フリースポット</a:t>
                      </a:r>
                      <a:r>
                        <a:rPr lang="ja-JP" altLang="en-US" sz="1900" b="0" i="0">
                          <a:solidFill>
                            <a:srgbClr val="000000"/>
                          </a:solidFill>
                          <a:effectLst/>
                          <a:latin typeface="游ゴシック" panose="020B0400000000000000" pitchFamily="50" charset="-128"/>
                        </a:rPr>
                        <a:t>​</a:t>
                      </a:r>
                      <a:endParaRPr lang="ja-JP" altLang="en-US" sz="1900" b="0" i="0">
                        <a:solidFill>
                          <a:srgbClr val="000000"/>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ctr" fontAlgn="base">
                        <a:lnSpc>
                          <a:spcPts val="2175"/>
                        </a:lnSpc>
                        <a:buNone/>
                      </a:pPr>
                      <a:r>
                        <a:rPr lang="ja-JP" altLang="en-US" sz="1900" b="1" i="0">
                          <a:solidFill>
                            <a:srgbClr val="404040"/>
                          </a:solidFill>
                          <a:effectLst/>
                          <a:ea typeface="游ゴシック" panose="020B0400000000000000" pitchFamily="50" charset="-128"/>
                        </a:rPr>
                        <a:t>￥</a:t>
                      </a:r>
                      <a:r>
                        <a:rPr lang="en-US" altLang="ja-JP" sz="1900" b="1" i="0">
                          <a:solidFill>
                            <a:srgbClr val="404040"/>
                          </a:solidFill>
                          <a:effectLst/>
                          <a:latin typeface="游ゴシック" panose="020B0400000000000000" pitchFamily="50" charset="-128"/>
                        </a:rPr>
                        <a:t>8000/</a:t>
                      </a:r>
                      <a:r>
                        <a:rPr lang="ja-JP" altLang="en-US" sz="1900" b="1" i="0">
                          <a:solidFill>
                            <a:srgbClr val="404040"/>
                          </a:solidFill>
                          <a:effectLst/>
                          <a:ea typeface="游ゴシック" panose="020B0400000000000000" pitchFamily="50" charset="-128"/>
                        </a:rPr>
                        <a:t>本</a:t>
                      </a:r>
                      <a:r>
                        <a:rPr lang="ja-JP" altLang="en-US" sz="1900" b="0" i="0">
                          <a:solidFill>
                            <a:srgbClr val="000000"/>
                          </a:solidFill>
                          <a:effectLst/>
                          <a:latin typeface="游ゴシック" panose="020B0400000000000000" pitchFamily="50" charset="-128"/>
                        </a:rPr>
                        <a:t>​</a:t>
                      </a:r>
                      <a:endParaRPr lang="ja-JP" altLang="en-US" sz="1900" b="0" i="0">
                        <a:solidFill>
                          <a:srgbClr val="000000"/>
                        </a:solidFill>
                        <a:effectLst/>
                      </a:endParaRPr>
                    </a:p>
                  </a:txBody>
                  <a:tcPr marL="97851" marR="97851" marT="48925" marB="48925" anchor="ctr">
                    <a:lnL w="7620" cap="flat" cmpd="sng" algn="ctr">
                      <a:solidFill>
                        <a:srgbClr val="000000"/>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ctr" fontAlgn="base">
                        <a:lnSpc>
                          <a:spcPts val="2175"/>
                        </a:lnSpc>
                        <a:buNone/>
                      </a:pPr>
                      <a:r>
                        <a:rPr lang="ja-JP" altLang="en-US" sz="1900" b="1" i="0">
                          <a:solidFill>
                            <a:srgbClr val="404040"/>
                          </a:solidFill>
                          <a:effectLst/>
                          <a:ea typeface="游ゴシック" panose="020B0400000000000000" pitchFamily="50" charset="-128"/>
                        </a:rPr>
                        <a:t>￥</a:t>
                      </a:r>
                      <a:r>
                        <a:rPr lang="en-US" altLang="ja-JP" sz="1900" b="1" i="0">
                          <a:solidFill>
                            <a:srgbClr val="404040"/>
                          </a:solidFill>
                          <a:effectLst/>
                          <a:latin typeface="游ゴシック" panose="020B0400000000000000" pitchFamily="50" charset="-128"/>
                        </a:rPr>
                        <a:t>7,500/</a:t>
                      </a:r>
                      <a:r>
                        <a:rPr lang="ja-JP" altLang="en-US" sz="1900" b="1" i="0">
                          <a:solidFill>
                            <a:srgbClr val="404040"/>
                          </a:solidFill>
                          <a:effectLst/>
                          <a:ea typeface="游ゴシック" panose="020B0400000000000000" pitchFamily="50" charset="-128"/>
                        </a:rPr>
                        <a:t>本</a:t>
                      </a:r>
                      <a:r>
                        <a:rPr lang="ja-JP" altLang="en-US" sz="1900" b="0" i="0">
                          <a:solidFill>
                            <a:srgbClr val="000000"/>
                          </a:solidFill>
                          <a:effectLst/>
                          <a:ea typeface="游ゴシック" panose="020B0400000000000000" pitchFamily="50" charset="-128"/>
                        </a:rPr>
                        <a:t>​</a:t>
                      </a:r>
                      <a:endParaRPr lang="ja-JP" altLang="en-US" sz="1900" b="0" i="0">
                        <a:solidFill>
                          <a:srgbClr val="000000"/>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ctr" fontAlgn="base">
                        <a:lnSpc>
                          <a:spcPts val="2175"/>
                        </a:lnSpc>
                        <a:buNone/>
                      </a:pPr>
                      <a:r>
                        <a:rPr lang="ja-JP" altLang="en-US" sz="1900" b="1" i="0" dirty="0">
                          <a:solidFill>
                            <a:srgbClr val="000000"/>
                          </a:solidFill>
                          <a:effectLst/>
                          <a:ea typeface="游ゴシック" panose="020B0400000000000000" pitchFamily="50" charset="-128"/>
                        </a:rPr>
                        <a:t>￥</a:t>
                      </a:r>
                      <a:r>
                        <a:rPr lang="en-US" altLang="ja-JP" sz="1900" b="1" i="0" dirty="0">
                          <a:solidFill>
                            <a:srgbClr val="000000"/>
                          </a:solidFill>
                          <a:effectLst/>
                          <a:latin typeface="游ゴシック" panose="020B0400000000000000" pitchFamily="50" charset="-128"/>
                        </a:rPr>
                        <a:t>7000/</a:t>
                      </a:r>
                      <a:r>
                        <a:rPr lang="ja-JP" altLang="en-US" sz="1900" b="1" i="0" dirty="0">
                          <a:solidFill>
                            <a:srgbClr val="000000"/>
                          </a:solidFill>
                          <a:effectLst/>
                          <a:ea typeface="游ゴシック" panose="020B0400000000000000" pitchFamily="50" charset="-128"/>
                        </a:rPr>
                        <a:t>本</a:t>
                      </a:r>
                      <a:r>
                        <a:rPr lang="ja-JP" altLang="en-US" sz="1900" b="0" i="0" dirty="0">
                          <a:solidFill>
                            <a:srgbClr val="000000"/>
                          </a:solidFill>
                          <a:effectLst/>
                          <a:latin typeface="游ゴシック" panose="020B0400000000000000" pitchFamily="50" charset="-128"/>
                        </a:rPr>
                        <a:t>​</a:t>
                      </a:r>
                      <a:endParaRPr lang="ja-JP" altLang="en-US" sz="1900" b="0" i="0" dirty="0">
                        <a:solidFill>
                          <a:srgbClr val="000000"/>
                        </a:solidFill>
                        <a:effectLst/>
                      </a:endParaRPr>
                    </a:p>
                  </a:txBody>
                  <a:tcPr marL="97851" marR="97851" marT="48925" marB="48925"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69652551"/>
                  </a:ext>
                </a:extLst>
              </a:tr>
            </a:tbl>
          </a:graphicData>
        </a:graphic>
      </p:graphicFrame>
      <p:sp>
        <p:nvSpPr>
          <p:cNvPr id="4" name="Rectangle 1">
            <a:extLst>
              <a:ext uri="{FF2B5EF4-FFF2-40B4-BE49-F238E27FC236}">
                <a16:creationId xmlns:a16="http://schemas.microsoft.com/office/drawing/2014/main" id="{805369EB-34CA-E08D-2549-954737EC3459}"/>
              </a:ext>
            </a:extLst>
          </p:cNvPr>
          <p:cNvSpPr>
            <a:spLocks noChangeArrowheads="1"/>
          </p:cNvSpPr>
          <p:nvPr/>
        </p:nvSpPr>
        <p:spPr bwMode="auto">
          <a:xfrm>
            <a:off x="1965325" y="1982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339217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2275</TotalTime>
  <Words>1856</Words>
  <Application>Microsoft Office PowerPoint</Application>
  <PresentationFormat>ワイド画面</PresentationFormat>
  <Paragraphs>216</Paragraphs>
  <Slides>16</Slides>
  <Notes>7</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16</vt:i4>
      </vt:variant>
    </vt:vector>
  </HeadingPairs>
  <TitlesOfParts>
    <vt:vector size="22" baseType="lpstr">
      <vt:lpstr>BIZ UDPゴシック</vt:lpstr>
      <vt:lpstr>Noto Sans JP</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大城 直樹</dc:creator>
  <cp:lastModifiedBy>大城 直樹</cp:lastModifiedBy>
  <cp:revision>4</cp:revision>
  <cp:lastPrinted>2025-08-14T12:55:01Z</cp:lastPrinted>
  <dcterms:created xsi:type="dcterms:W3CDTF">2025-08-14T08:19:58Z</dcterms:created>
  <dcterms:modified xsi:type="dcterms:W3CDTF">2026-02-25T09:37:43Z</dcterms:modified>
</cp:coreProperties>
</file>