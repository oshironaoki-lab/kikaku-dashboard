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1" r:id="rId10"/>
    <p:sldId id="262" r:id="rId11"/>
    <p:sldId id="263" r:id="rId12"/>
    <p:sldId id="264" r:id="rId13"/>
    <p:sldId id="265" r:id="rId14"/>
  </p:sldIdLst>
  <p:sldSz cx="9906000" cy="6858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snapToGrid="0" showGuides="1">
      <p:cViewPr varScale="1">
        <p:scale>
          <a:sx n="109" d="100"/>
          <a:sy n="109" d="100"/>
        </p:scale>
        <p:origin x="75" y="339"/>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1F536FC-3D70-491C-A7F3-E95631E0F188}" type="datetimeFigureOut">
              <a:rPr kumimoji="1" lang="ja-JP" altLang="en-US" smtClean="0"/>
              <a:t>2026/1/26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6C3042-3EEA-4073-8EF1-113B971E4AC3}" type="slidenum">
              <a:rPr kumimoji="1" lang="ja-JP" altLang="en-US" smtClean="0"/>
              <a:t>‹#›</a:t>
            </a:fld>
            <a:endParaRPr kumimoji="1" lang="ja-JP" altLang="en-US"/>
          </a:p>
        </p:txBody>
      </p:sp>
    </p:spTree>
    <p:extLst>
      <p:ext uri="{BB962C8B-B14F-4D97-AF65-F5344CB8AC3E}">
        <p14:creationId xmlns:p14="http://schemas.microsoft.com/office/powerpoint/2010/main" val="902223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1F536FC-3D70-491C-A7F3-E95631E0F188}" type="datetimeFigureOut">
              <a:rPr kumimoji="1" lang="ja-JP" altLang="en-US" smtClean="0"/>
              <a:t>2026/1/26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6C3042-3EEA-4073-8EF1-113B971E4AC3}" type="slidenum">
              <a:rPr kumimoji="1" lang="ja-JP" altLang="en-US" smtClean="0"/>
              <a:t>‹#›</a:t>
            </a:fld>
            <a:endParaRPr kumimoji="1" lang="ja-JP" altLang="en-US"/>
          </a:p>
        </p:txBody>
      </p:sp>
    </p:spTree>
    <p:extLst>
      <p:ext uri="{BB962C8B-B14F-4D97-AF65-F5344CB8AC3E}">
        <p14:creationId xmlns:p14="http://schemas.microsoft.com/office/powerpoint/2010/main" val="1174297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1F536FC-3D70-491C-A7F3-E95631E0F188}" type="datetimeFigureOut">
              <a:rPr kumimoji="1" lang="ja-JP" altLang="en-US" smtClean="0"/>
              <a:t>2026/1/26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6C3042-3EEA-4073-8EF1-113B971E4AC3}" type="slidenum">
              <a:rPr kumimoji="1" lang="ja-JP" altLang="en-US" smtClean="0"/>
              <a:t>‹#›</a:t>
            </a:fld>
            <a:endParaRPr kumimoji="1" lang="ja-JP" altLang="en-US"/>
          </a:p>
        </p:txBody>
      </p:sp>
    </p:spTree>
    <p:extLst>
      <p:ext uri="{BB962C8B-B14F-4D97-AF65-F5344CB8AC3E}">
        <p14:creationId xmlns:p14="http://schemas.microsoft.com/office/powerpoint/2010/main" val="2267044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1F536FC-3D70-491C-A7F3-E95631E0F188}" type="datetimeFigureOut">
              <a:rPr kumimoji="1" lang="ja-JP" altLang="en-US" smtClean="0"/>
              <a:t>2026/1/26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6C3042-3EEA-4073-8EF1-113B971E4AC3}" type="slidenum">
              <a:rPr kumimoji="1" lang="ja-JP" altLang="en-US" smtClean="0"/>
              <a:t>‹#›</a:t>
            </a:fld>
            <a:endParaRPr kumimoji="1" lang="ja-JP" altLang="en-US"/>
          </a:p>
        </p:txBody>
      </p:sp>
    </p:spTree>
    <p:extLst>
      <p:ext uri="{BB962C8B-B14F-4D97-AF65-F5344CB8AC3E}">
        <p14:creationId xmlns:p14="http://schemas.microsoft.com/office/powerpoint/2010/main" val="2219809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2329" y="2505075"/>
            <a:ext cx="4190702"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14913" y="2505075"/>
            <a:ext cx="4211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1F536FC-3D70-491C-A7F3-E95631E0F188}" type="datetimeFigureOut">
              <a:rPr kumimoji="1" lang="ja-JP" altLang="en-US" smtClean="0"/>
              <a:t>2026/1/26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266C3042-3EEA-4073-8EF1-113B971E4AC3}" type="slidenum">
              <a:rPr kumimoji="1" lang="ja-JP" altLang="en-US" smtClean="0"/>
              <a:t>‹#›</a:t>
            </a:fld>
            <a:endParaRPr kumimoji="1" lang="ja-JP" altLang="en-US"/>
          </a:p>
        </p:txBody>
      </p:sp>
    </p:spTree>
    <p:extLst>
      <p:ext uri="{BB962C8B-B14F-4D97-AF65-F5344CB8AC3E}">
        <p14:creationId xmlns:p14="http://schemas.microsoft.com/office/powerpoint/2010/main" val="1983363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1F536FC-3D70-491C-A7F3-E95631E0F188}" type="datetimeFigureOut">
              <a:rPr kumimoji="1" lang="ja-JP" altLang="en-US" smtClean="0"/>
              <a:t>2026/1/26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266C3042-3EEA-4073-8EF1-113B971E4AC3}" type="slidenum">
              <a:rPr kumimoji="1" lang="ja-JP" altLang="en-US" smtClean="0"/>
              <a:t>‹#›</a:t>
            </a:fld>
            <a:endParaRPr kumimoji="1" lang="ja-JP" altLang="en-US"/>
          </a:p>
        </p:txBody>
      </p:sp>
    </p:spTree>
    <p:extLst>
      <p:ext uri="{BB962C8B-B14F-4D97-AF65-F5344CB8AC3E}">
        <p14:creationId xmlns:p14="http://schemas.microsoft.com/office/powerpoint/2010/main" val="1493452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F536FC-3D70-491C-A7F3-E95631E0F188}" type="datetimeFigureOut">
              <a:rPr kumimoji="1" lang="ja-JP" altLang="en-US" smtClean="0"/>
              <a:t>2026/1/26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266C3042-3EEA-4073-8EF1-113B971E4AC3}" type="slidenum">
              <a:rPr kumimoji="1" lang="ja-JP" altLang="en-US" smtClean="0"/>
              <a:t>‹#›</a:t>
            </a:fld>
            <a:endParaRPr kumimoji="1" lang="ja-JP" altLang="en-US"/>
          </a:p>
        </p:txBody>
      </p:sp>
    </p:spTree>
    <p:extLst>
      <p:ext uri="{BB962C8B-B14F-4D97-AF65-F5344CB8AC3E}">
        <p14:creationId xmlns:p14="http://schemas.microsoft.com/office/powerpoint/2010/main" val="579165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1F536FC-3D70-491C-A7F3-E95631E0F188}" type="datetimeFigureOut">
              <a:rPr kumimoji="1" lang="ja-JP" altLang="en-US" smtClean="0"/>
              <a:t>2026/1/26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6C3042-3EEA-4073-8EF1-113B971E4AC3}" type="slidenum">
              <a:rPr kumimoji="1" lang="ja-JP" altLang="en-US" smtClean="0"/>
              <a:t>‹#›</a:t>
            </a:fld>
            <a:endParaRPr kumimoji="1" lang="ja-JP" altLang="en-US"/>
          </a:p>
        </p:txBody>
      </p:sp>
    </p:spTree>
    <p:extLst>
      <p:ext uri="{BB962C8B-B14F-4D97-AF65-F5344CB8AC3E}">
        <p14:creationId xmlns:p14="http://schemas.microsoft.com/office/powerpoint/2010/main" val="4149366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1F536FC-3D70-491C-A7F3-E95631E0F188}" type="datetimeFigureOut">
              <a:rPr kumimoji="1" lang="ja-JP" altLang="en-US" smtClean="0"/>
              <a:t>2026/1/26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6C3042-3EEA-4073-8EF1-113B971E4AC3}" type="slidenum">
              <a:rPr kumimoji="1" lang="ja-JP" altLang="en-US" smtClean="0"/>
              <a:t>‹#›</a:t>
            </a:fld>
            <a:endParaRPr kumimoji="1" lang="ja-JP" altLang="en-US"/>
          </a:p>
        </p:txBody>
      </p:sp>
    </p:spTree>
    <p:extLst>
      <p:ext uri="{BB962C8B-B14F-4D97-AF65-F5344CB8AC3E}">
        <p14:creationId xmlns:p14="http://schemas.microsoft.com/office/powerpoint/2010/main" val="4122434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1F536FC-3D70-491C-A7F3-E95631E0F188}" type="datetimeFigureOut">
              <a:rPr kumimoji="1" lang="ja-JP" altLang="en-US" smtClean="0"/>
              <a:t>2026/1/26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6C3042-3EEA-4073-8EF1-113B971E4AC3}" type="slidenum">
              <a:rPr kumimoji="1" lang="ja-JP" altLang="en-US" smtClean="0"/>
              <a:t>‹#›</a:t>
            </a:fld>
            <a:endParaRPr kumimoji="1" lang="ja-JP" altLang="en-US"/>
          </a:p>
        </p:txBody>
      </p:sp>
    </p:spTree>
    <p:extLst>
      <p:ext uri="{BB962C8B-B14F-4D97-AF65-F5344CB8AC3E}">
        <p14:creationId xmlns:p14="http://schemas.microsoft.com/office/powerpoint/2010/main" val="3325709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1F536FC-3D70-491C-A7F3-E95631E0F188}" type="datetimeFigureOut">
              <a:rPr kumimoji="1" lang="ja-JP" altLang="en-US" smtClean="0"/>
              <a:t>2026/1/26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6C3042-3EEA-4073-8EF1-113B971E4AC3}" type="slidenum">
              <a:rPr kumimoji="1" lang="ja-JP" altLang="en-US" smtClean="0"/>
              <a:t>‹#›</a:t>
            </a:fld>
            <a:endParaRPr kumimoji="1" lang="ja-JP" altLang="en-US"/>
          </a:p>
        </p:txBody>
      </p:sp>
    </p:spTree>
    <p:extLst>
      <p:ext uri="{BB962C8B-B14F-4D97-AF65-F5344CB8AC3E}">
        <p14:creationId xmlns:p14="http://schemas.microsoft.com/office/powerpoint/2010/main" val="4016216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F536FC-3D70-491C-A7F3-E95631E0F188}" type="datetimeFigureOut">
              <a:rPr kumimoji="1" lang="ja-JP" altLang="en-US" smtClean="0"/>
              <a:t>2026/1/26</a:t>
            </a:fld>
            <a:endParaRPr kumimoji="1" lang="ja-JP" alt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6C3042-3EEA-4073-8EF1-113B971E4AC3}" type="slidenum">
              <a:rPr kumimoji="1" lang="ja-JP" altLang="en-US" smtClean="0"/>
              <a:t>‹#›</a:t>
            </a:fld>
            <a:endParaRPr kumimoji="1" lang="ja-JP" altLang="en-US"/>
          </a:p>
        </p:txBody>
      </p:sp>
    </p:spTree>
    <p:extLst>
      <p:ext uri="{BB962C8B-B14F-4D97-AF65-F5344CB8AC3E}">
        <p14:creationId xmlns:p14="http://schemas.microsoft.com/office/powerpoint/2010/main" val="18202749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65848" y="183777"/>
            <a:ext cx="3039615" cy="276999"/>
          </a:xfrm>
          <a:prstGeom prst="rect">
            <a:avLst/>
          </a:prstGeom>
          <a:noFill/>
        </p:spPr>
        <p:txBody>
          <a:bodyPr wrap="none" rtlCol="0">
            <a:spAutoFit/>
          </a:bodyPr>
          <a:lstStyle/>
          <a:p>
            <a:r>
              <a:rPr kumimoji="1" lang="en-US" altLang="ja-JP" sz="1200" dirty="0">
                <a:latin typeface="BIZ UDPゴシック" panose="020B0400000000000000" pitchFamily="50" charset="-128"/>
                <a:ea typeface="BIZ UDPゴシック" panose="020B0400000000000000" pitchFamily="50" charset="-128"/>
              </a:rPr>
              <a:t>【20210413</a:t>
            </a:r>
            <a:r>
              <a:rPr kumimoji="1" lang="ja-JP" altLang="en-US" sz="1200" dirty="0">
                <a:latin typeface="BIZ UDPゴシック" panose="020B0400000000000000" pitchFamily="50" charset="-128"/>
                <a:ea typeface="BIZ UDPゴシック" panose="020B0400000000000000" pitchFamily="50" charset="-128"/>
              </a:rPr>
              <a:t>イーアス</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周年企画アイデア</a:t>
            </a:r>
            <a:r>
              <a:rPr kumimoji="1" lang="en-US" altLang="ja-JP"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5" name="テキスト ボックス 4"/>
          <p:cNvSpPr txBox="1"/>
          <p:nvPr/>
        </p:nvSpPr>
        <p:spPr>
          <a:xfrm>
            <a:off x="331694" y="681318"/>
            <a:ext cx="986167" cy="276999"/>
          </a:xfrm>
          <a:prstGeom prst="rect">
            <a:avLst/>
          </a:prstGeom>
          <a:solidFill>
            <a:schemeClr val="tx1">
              <a:lumMod val="50000"/>
              <a:lumOff val="50000"/>
            </a:schemeClr>
          </a:solidFill>
        </p:spPr>
        <p:txBody>
          <a:bodyPr wrap="none" rtlCol="0">
            <a:spAutoFit/>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ストーリー</a:t>
            </a:r>
            <a:r>
              <a:rPr kumimoji="1" lang="en-US" altLang="ja-JP" sz="1200" dirty="0">
                <a:solidFill>
                  <a:schemeClr val="bg1"/>
                </a:solidFill>
                <a:latin typeface="BIZ UDPゴシック" panose="020B0400000000000000" pitchFamily="50" charset="-128"/>
                <a:ea typeface="BIZ UDPゴシック" panose="020B0400000000000000" pitchFamily="50" charset="-128"/>
              </a:rPr>
              <a:t>A</a:t>
            </a:r>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p:txBody>
      </p:sp>
      <p:sp>
        <p:nvSpPr>
          <p:cNvPr id="6" name="テキスト ボックス 5"/>
          <p:cNvSpPr txBox="1"/>
          <p:nvPr/>
        </p:nvSpPr>
        <p:spPr>
          <a:xfrm>
            <a:off x="2938204" y="1878108"/>
            <a:ext cx="4366901" cy="1754326"/>
          </a:xfrm>
          <a:prstGeom prst="rect">
            <a:avLst/>
          </a:prstGeom>
          <a:noFill/>
        </p:spPr>
        <p:txBody>
          <a:bodyPr wrap="none" rtlCol="0">
            <a:spAutoFit/>
          </a:bodyPr>
          <a:lstStyle/>
          <a:p>
            <a:r>
              <a:rPr kumimoji="1" lang="ja-JP" altLang="en-US" sz="1200" dirty="0">
                <a:latin typeface="BIZ UDPゴシック" panose="020B0400000000000000" pitchFamily="50" charset="-128"/>
                <a:ea typeface="BIZ UDPゴシック" panose="020B0400000000000000" pitchFamily="50" charset="-128"/>
              </a:rPr>
              <a:t>イーアス沖縄豊崎は、おかげさまで</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周年！</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お客さまに感謝を込めて、</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a:t>
            </a:r>
            <a:r>
              <a:rPr kumimoji="1" lang="en-US" altLang="ja-JP" sz="1200" dirty="0" err="1">
                <a:latin typeface="BIZ UDPゴシック" panose="020B0400000000000000" pitchFamily="50" charset="-128"/>
                <a:ea typeface="BIZ UDPゴシック" panose="020B0400000000000000" pitchFamily="50" charset="-128"/>
              </a:rPr>
              <a:t>iias</a:t>
            </a:r>
            <a:r>
              <a:rPr kumimoji="1" lang="ja-JP" altLang="en-US" sz="1200" dirty="0">
                <a:latin typeface="BIZ UDPゴシック" panose="020B0400000000000000" pitchFamily="50" charset="-128"/>
                <a:ea typeface="BIZ UDPゴシック" panose="020B0400000000000000" pitchFamily="50" charset="-128"/>
              </a:rPr>
              <a:t>の周年祭行ったの？」</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「いいハズ～」</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と言ってもらえるような、</a:t>
            </a:r>
            <a:r>
              <a:rPr kumimoji="1" lang="en-US" altLang="ja-JP" sz="1200" dirty="0" err="1">
                <a:latin typeface="BIZ UDPゴシック" panose="020B0400000000000000" pitchFamily="50" charset="-128"/>
                <a:ea typeface="BIZ UDPゴシック" panose="020B0400000000000000" pitchFamily="50" charset="-128"/>
              </a:rPr>
              <a:t>iias</a:t>
            </a:r>
            <a:r>
              <a:rPr kumimoji="1" lang="ja-JP" altLang="en-US" sz="1200" dirty="0">
                <a:latin typeface="BIZ UDPゴシック" panose="020B0400000000000000" pitchFamily="50" charset="-128"/>
                <a:ea typeface="BIZ UDPゴシック" panose="020B0400000000000000" pitchFamily="50" charset="-128"/>
              </a:rPr>
              <a:t>のとってもおトクな</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週間！</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a:t>
            </a:r>
            <a:r>
              <a:rPr kumimoji="1" lang="en-US" altLang="ja-JP" sz="1200" dirty="0" err="1">
                <a:latin typeface="BIZ UDPゴシック" panose="020B0400000000000000" pitchFamily="50" charset="-128"/>
                <a:ea typeface="BIZ UDPゴシック" panose="020B0400000000000000" pitchFamily="50" charset="-128"/>
              </a:rPr>
              <a:t>iias</a:t>
            </a:r>
            <a:r>
              <a:rPr kumimoji="1" lang="en-US" altLang="ja-JP" sz="1200" dirty="0">
                <a:latin typeface="BIZ UDPゴシック" panose="020B0400000000000000" pitchFamily="50" charset="-128"/>
                <a:ea typeface="BIZ UDPゴシック" panose="020B0400000000000000" pitchFamily="50" charset="-128"/>
              </a:rPr>
              <a:t> </a:t>
            </a:r>
            <a:r>
              <a:rPr kumimoji="1" lang="ja-JP" altLang="en-US" sz="1200" dirty="0">
                <a:latin typeface="BIZ UDPゴシック" panose="020B0400000000000000" pitchFamily="50" charset="-128"/>
                <a:ea typeface="BIZ UDPゴシック" panose="020B0400000000000000" pitchFamily="50" charset="-128"/>
              </a:rPr>
              <a:t>いいハズ～ </a:t>
            </a:r>
            <a:r>
              <a:rPr kumimoji="1" lang="en-US" altLang="ja-JP" sz="1200" dirty="0">
                <a:latin typeface="BIZ UDPゴシック" panose="020B0400000000000000" pitchFamily="50" charset="-128"/>
                <a:ea typeface="BIZ UDPゴシック" panose="020B0400000000000000" pitchFamily="50" charset="-128"/>
              </a:rPr>
              <a:t>WEEK</a:t>
            </a:r>
            <a:r>
              <a:rPr kumimoji="1" lang="ja-JP" altLang="en-US" sz="1200" dirty="0">
                <a:latin typeface="BIZ UDPゴシック" panose="020B0400000000000000" pitchFamily="50" charset="-128"/>
                <a:ea typeface="BIZ UDPゴシック" panose="020B0400000000000000" pitchFamily="50" charset="-128"/>
              </a:rPr>
              <a:t>」を開催します。</a:t>
            </a:r>
            <a:endParaRPr kumimoji="1" lang="en-US" altLang="ja-JP" sz="1200" dirty="0">
              <a:latin typeface="BIZ UDPゴシック" panose="020B0400000000000000" pitchFamily="50" charset="-128"/>
              <a:ea typeface="BIZ UDPゴシック" panose="020B0400000000000000" pitchFamily="50" charset="-128"/>
            </a:endParaRPr>
          </a:p>
          <a:p>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とってもおトクな</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週間を準備してお待ちしておりますので、</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ぜひぜひイーアス沖縄豊崎で、楽しい時間をお過ごしください。</a:t>
            </a:r>
          </a:p>
        </p:txBody>
      </p:sp>
      <p:sp>
        <p:nvSpPr>
          <p:cNvPr id="7" name="テキスト ボックス 6"/>
          <p:cNvSpPr txBox="1"/>
          <p:nvPr/>
        </p:nvSpPr>
        <p:spPr>
          <a:xfrm>
            <a:off x="3551699" y="890956"/>
            <a:ext cx="2584362" cy="369332"/>
          </a:xfrm>
          <a:prstGeom prst="rect">
            <a:avLst/>
          </a:prstGeom>
          <a:noFill/>
        </p:spPr>
        <p:txBody>
          <a:bodyPr wrap="square" rtlCol="0">
            <a:spAutoFit/>
          </a:bodyPr>
          <a:lstStyle/>
          <a:p>
            <a:r>
              <a:rPr kumimoji="1" lang="ja-JP" altLang="en-US" dirty="0">
                <a:latin typeface="BIZ UDPゴシック" panose="020B0400000000000000" pitchFamily="50" charset="-128"/>
                <a:ea typeface="BIZ UDPゴシック" panose="020B0400000000000000" pitchFamily="50" charset="-128"/>
              </a:rPr>
              <a:t>おかげさまで</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周年♪</a:t>
            </a:r>
          </a:p>
        </p:txBody>
      </p:sp>
      <p:sp>
        <p:nvSpPr>
          <p:cNvPr id="9" name="テキスト ボックス 8"/>
          <p:cNvSpPr txBox="1"/>
          <p:nvPr/>
        </p:nvSpPr>
        <p:spPr>
          <a:xfrm>
            <a:off x="1954305" y="1260288"/>
            <a:ext cx="5676554" cy="523220"/>
          </a:xfrm>
          <a:prstGeom prst="rect">
            <a:avLst/>
          </a:prstGeom>
          <a:noFill/>
        </p:spPr>
        <p:txBody>
          <a:bodyPr wrap="none" rtlCol="0">
            <a:spAutoFit/>
          </a:bodyPr>
          <a:lstStyle/>
          <a:p>
            <a:r>
              <a:rPr kumimoji="1" lang="en-US" altLang="ja-JP" sz="2800" dirty="0" err="1">
                <a:latin typeface="BIZ UDPゴシック" panose="020B0400000000000000" pitchFamily="50" charset="-128"/>
                <a:ea typeface="BIZ UDPゴシック" panose="020B0400000000000000" pitchFamily="50" charset="-128"/>
              </a:rPr>
              <a:t>iias</a:t>
            </a:r>
            <a:r>
              <a:rPr kumimoji="1" lang="ja-JP" altLang="en-US" sz="2800" dirty="0">
                <a:latin typeface="BIZ UDPゴシック" panose="020B0400000000000000" pitchFamily="50" charset="-128"/>
                <a:ea typeface="BIZ UDPゴシック" panose="020B0400000000000000" pitchFamily="50" charset="-128"/>
              </a:rPr>
              <a:t>　いいハズ～ </a:t>
            </a:r>
            <a:r>
              <a:rPr kumimoji="1" lang="en-US" altLang="ja-JP" sz="2800" dirty="0">
                <a:latin typeface="BIZ UDPゴシック" panose="020B0400000000000000" pitchFamily="50" charset="-128"/>
                <a:ea typeface="BIZ UDPゴシック" panose="020B0400000000000000" pitchFamily="50" charset="-128"/>
              </a:rPr>
              <a:t>WEEK </a:t>
            </a:r>
            <a:r>
              <a:rPr kumimoji="1" lang="ja-JP" altLang="en-US" sz="2800" dirty="0">
                <a:latin typeface="BIZ UDPゴシック" panose="020B0400000000000000" pitchFamily="50" charset="-128"/>
                <a:ea typeface="BIZ UDPゴシック" panose="020B0400000000000000" pitchFamily="50" charset="-128"/>
              </a:rPr>
              <a:t>開催宣言</a:t>
            </a:r>
          </a:p>
        </p:txBody>
      </p:sp>
      <p:cxnSp>
        <p:nvCxnSpPr>
          <p:cNvPr id="11" name="直線コネクタ 10"/>
          <p:cNvCxnSpPr/>
          <p:nvPr/>
        </p:nvCxnSpPr>
        <p:spPr>
          <a:xfrm>
            <a:off x="1358153" y="3881720"/>
            <a:ext cx="7360023"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p:cNvSpPr txBox="1"/>
          <p:nvPr/>
        </p:nvSpPr>
        <p:spPr>
          <a:xfrm>
            <a:off x="2985247" y="4262718"/>
            <a:ext cx="4443845" cy="2246769"/>
          </a:xfrm>
          <a:prstGeom prst="rect">
            <a:avLst/>
          </a:prstGeom>
          <a:noFill/>
        </p:spPr>
        <p:txBody>
          <a:bodyPr wrap="none" rtlCol="0">
            <a:spAutoFit/>
          </a:bodyPr>
          <a:lstStyle/>
          <a:p>
            <a:r>
              <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rPr>
              <a:t>1</a:t>
            </a:r>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周年を迎えたイーアス沖縄豊崎を</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さらにローカライズさせたコミュニケーションで、</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印象付ける周年祭を行うという方向性での企画となります</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「いいな～」という表現を、</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沖縄的な言い回しにすると「いいハズ～」と表現することが多々あります。</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rPr>
              <a:t>※</a:t>
            </a:r>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「いいな～」よりも「うらやましい気持ち」が強いニュアンスがあります。</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このような沖縄的言い回しをコミュニケーションに織り交ぜることで、</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ローカライズ感を強くしながら、「</a:t>
            </a:r>
            <a:r>
              <a:rPr kumimoji="1" lang="en-US" altLang="ja-JP" sz="1000" dirty="0" err="1">
                <a:solidFill>
                  <a:schemeClr val="tx1">
                    <a:lumMod val="50000"/>
                    <a:lumOff val="50000"/>
                  </a:schemeClr>
                </a:solidFill>
                <a:latin typeface="BIZ UDPゴシック" panose="020B0400000000000000" pitchFamily="50" charset="-128"/>
                <a:ea typeface="BIZ UDPゴシック" panose="020B0400000000000000" pitchFamily="50" charset="-128"/>
              </a:rPr>
              <a:t>iias</a:t>
            </a:r>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」という施設名に対し、韻を踏むことで、</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発声しやすく、覚えやすい周年企画として表現していきます。</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rPr>
              <a:t>1</a:t>
            </a:r>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周年だけでなく、周年毎に重ねていくことで「今年もイーアスの周年だ！」</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という印象も強く形成されていく企画となります。</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413704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65848" y="183777"/>
            <a:ext cx="3039615" cy="276999"/>
          </a:xfrm>
          <a:prstGeom prst="rect">
            <a:avLst/>
          </a:prstGeom>
          <a:noFill/>
        </p:spPr>
        <p:txBody>
          <a:bodyPr wrap="none" rtlCol="0">
            <a:spAutoFit/>
          </a:bodyPr>
          <a:lstStyle/>
          <a:p>
            <a:r>
              <a:rPr kumimoji="1" lang="en-US" altLang="ja-JP" sz="1200" dirty="0">
                <a:latin typeface="BIZ UDPゴシック" panose="020B0400000000000000" pitchFamily="50" charset="-128"/>
                <a:ea typeface="BIZ UDPゴシック" panose="020B0400000000000000" pitchFamily="50" charset="-128"/>
              </a:rPr>
              <a:t>【20210413</a:t>
            </a:r>
            <a:r>
              <a:rPr kumimoji="1" lang="ja-JP" altLang="en-US" sz="1200" dirty="0">
                <a:latin typeface="BIZ UDPゴシック" panose="020B0400000000000000" pitchFamily="50" charset="-128"/>
                <a:ea typeface="BIZ UDPゴシック" panose="020B0400000000000000" pitchFamily="50" charset="-128"/>
              </a:rPr>
              <a:t>イーアス</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周年企画アイデア</a:t>
            </a:r>
            <a:r>
              <a:rPr kumimoji="1" lang="en-US" altLang="ja-JP"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5" name="テキスト ボックス 4"/>
          <p:cNvSpPr txBox="1"/>
          <p:nvPr/>
        </p:nvSpPr>
        <p:spPr>
          <a:xfrm>
            <a:off x="331694" y="681318"/>
            <a:ext cx="1720343" cy="276999"/>
          </a:xfrm>
          <a:prstGeom prst="rect">
            <a:avLst/>
          </a:prstGeom>
          <a:solidFill>
            <a:schemeClr val="tx1">
              <a:lumMod val="50000"/>
              <a:lumOff val="50000"/>
            </a:schemeClr>
          </a:solidFill>
        </p:spPr>
        <p:txBody>
          <a:bodyPr wrap="none" rtlCol="0">
            <a:spAutoFit/>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ストーリー</a:t>
            </a:r>
            <a:r>
              <a:rPr kumimoji="1" lang="en-US" altLang="ja-JP" sz="1200" dirty="0">
                <a:solidFill>
                  <a:schemeClr val="bg1"/>
                </a:solidFill>
                <a:latin typeface="BIZ UDPゴシック" panose="020B0400000000000000" pitchFamily="50" charset="-128"/>
                <a:ea typeface="BIZ UDPゴシック" panose="020B0400000000000000" pitchFamily="50" charset="-128"/>
              </a:rPr>
              <a:t>A</a:t>
            </a:r>
            <a:r>
              <a:rPr kumimoji="1" lang="ja-JP" altLang="en-US" sz="1200" dirty="0">
                <a:solidFill>
                  <a:schemeClr val="bg1"/>
                </a:solidFill>
                <a:latin typeface="BIZ UDPゴシック" panose="020B0400000000000000" pitchFamily="50" charset="-128"/>
                <a:ea typeface="BIZ UDPゴシック" panose="020B0400000000000000" pitchFamily="50" charset="-128"/>
              </a:rPr>
              <a:t>／コア企画</a:t>
            </a:r>
          </a:p>
        </p:txBody>
      </p:sp>
      <p:sp>
        <p:nvSpPr>
          <p:cNvPr id="7" name="テキスト ボックス 6"/>
          <p:cNvSpPr txBox="1"/>
          <p:nvPr/>
        </p:nvSpPr>
        <p:spPr>
          <a:xfrm>
            <a:off x="3426780" y="890956"/>
            <a:ext cx="2584362" cy="369332"/>
          </a:xfrm>
          <a:prstGeom prst="rect">
            <a:avLst/>
          </a:prstGeom>
          <a:noFill/>
        </p:spPr>
        <p:txBody>
          <a:bodyPr wrap="square" rtlCol="0">
            <a:spAutoFit/>
          </a:bodyPr>
          <a:lstStyle/>
          <a:p>
            <a:r>
              <a:rPr kumimoji="1" lang="en-US" altLang="ja-JP" dirty="0" err="1">
                <a:latin typeface="BIZ UDPゴシック" panose="020B0400000000000000" pitchFamily="50" charset="-128"/>
                <a:ea typeface="BIZ UDPゴシック" panose="020B0400000000000000" pitchFamily="50" charset="-128"/>
              </a:rPr>
              <a:t>iias</a:t>
            </a:r>
            <a:r>
              <a:rPr kumimoji="1" lang="en-US" altLang="ja-JP" dirty="0">
                <a:latin typeface="BIZ UDPゴシック" panose="020B0400000000000000" pitchFamily="50" charset="-128"/>
                <a:ea typeface="BIZ UDPゴシック" panose="020B0400000000000000" pitchFamily="50" charset="-128"/>
              </a:rPr>
              <a:t> 1</a:t>
            </a:r>
            <a:r>
              <a:rPr kumimoji="1" lang="en-US" altLang="ja-JP" baseline="30000" dirty="0">
                <a:latin typeface="BIZ UDPゴシック" panose="020B0400000000000000" pitchFamily="50" charset="-128"/>
                <a:ea typeface="BIZ UDPゴシック" panose="020B0400000000000000" pitchFamily="50" charset="-128"/>
              </a:rPr>
              <a:t>st</a:t>
            </a:r>
            <a:r>
              <a:rPr kumimoji="1" lang="en-US" altLang="ja-JP" dirty="0">
                <a:latin typeface="BIZ UDPゴシック" panose="020B0400000000000000" pitchFamily="50" charset="-128"/>
                <a:ea typeface="BIZ UDPゴシック" panose="020B0400000000000000" pitchFamily="50" charset="-128"/>
              </a:rPr>
              <a:t> Anniversary</a:t>
            </a:r>
            <a:endParaRPr kumimoji="1" lang="ja-JP" altLang="en-US" dirty="0">
              <a:latin typeface="BIZ UDPゴシック" panose="020B0400000000000000" pitchFamily="50" charset="-128"/>
              <a:ea typeface="BIZ UDPゴシック" panose="020B0400000000000000" pitchFamily="50" charset="-128"/>
            </a:endParaRPr>
          </a:p>
        </p:txBody>
      </p:sp>
      <p:sp>
        <p:nvSpPr>
          <p:cNvPr id="9" name="テキスト ボックス 8"/>
          <p:cNvSpPr txBox="1"/>
          <p:nvPr/>
        </p:nvSpPr>
        <p:spPr>
          <a:xfrm>
            <a:off x="2424955" y="1219946"/>
            <a:ext cx="4240263" cy="523220"/>
          </a:xfrm>
          <a:prstGeom prst="rect">
            <a:avLst/>
          </a:prstGeom>
          <a:noFill/>
        </p:spPr>
        <p:txBody>
          <a:bodyPr wrap="none" rtlCol="0">
            <a:spAutoFit/>
          </a:bodyPr>
          <a:lstStyle/>
          <a:p>
            <a:r>
              <a:rPr kumimoji="1" lang="en-US" altLang="ja-JP" sz="2800" dirty="0" err="1">
                <a:latin typeface="BIZ UDPゴシック" panose="020B0400000000000000" pitchFamily="50" charset="-128"/>
                <a:ea typeface="BIZ UDPゴシック" panose="020B0400000000000000" pitchFamily="50" charset="-128"/>
              </a:rPr>
              <a:t>iias</a:t>
            </a:r>
            <a:r>
              <a:rPr kumimoji="1" lang="ja-JP" altLang="en-US" sz="2800" dirty="0">
                <a:latin typeface="BIZ UDPゴシック" panose="020B0400000000000000" pitchFamily="50" charset="-128"/>
                <a:ea typeface="BIZ UDPゴシック" panose="020B0400000000000000" pitchFamily="50" charset="-128"/>
              </a:rPr>
              <a:t>　いいハズ～ </a:t>
            </a:r>
            <a:r>
              <a:rPr kumimoji="1" lang="en-US" altLang="ja-JP" sz="2800" dirty="0">
                <a:latin typeface="BIZ UDPゴシック" panose="020B0400000000000000" pitchFamily="50" charset="-128"/>
                <a:ea typeface="BIZ UDPゴシック" panose="020B0400000000000000" pitchFamily="50" charset="-128"/>
              </a:rPr>
              <a:t>WEEK</a:t>
            </a:r>
            <a:endParaRPr kumimoji="1" lang="ja-JP" altLang="en-US" sz="2800" dirty="0">
              <a:latin typeface="BIZ UDPゴシック" panose="020B0400000000000000" pitchFamily="50" charset="-128"/>
              <a:ea typeface="BIZ UDPゴシック" panose="020B0400000000000000" pitchFamily="50" charset="-128"/>
            </a:endParaRPr>
          </a:p>
        </p:txBody>
      </p:sp>
      <p:sp>
        <p:nvSpPr>
          <p:cNvPr id="2" name="正方形/長方形 1"/>
          <p:cNvSpPr/>
          <p:nvPr/>
        </p:nvSpPr>
        <p:spPr>
          <a:xfrm>
            <a:off x="6530790" y="1219946"/>
            <a:ext cx="1008530" cy="457200"/>
          </a:xfrm>
          <a:prstGeom prst="rect">
            <a:avLst/>
          </a:prstGeom>
          <a:noFill/>
          <a:ln w="19050">
            <a:solidFill>
              <a:schemeClr val="tx1">
                <a:lumMod val="50000"/>
                <a:lumOff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BIZ UDPゴシック" panose="020B0400000000000000" pitchFamily="50" charset="-128"/>
                <a:ea typeface="BIZ UDPゴシック" panose="020B0400000000000000" pitchFamily="50" charset="-128"/>
              </a:rPr>
              <a:t>第</a:t>
            </a:r>
            <a:r>
              <a:rPr kumimoji="1" lang="en-US" altLang="ja-JP" dirty="0">
                <a:solidFill>
                  <a:schemeClr val="tx1"/>
                </a:solidFill>
                <a:latin typeface="BIZ UDPゴシック" panose="020B0400000000000000" pitchFamily="50" charset="-128"/>
                <a:ea typeface="BIZ UDPゴシック" panose="020B0400000000000000" pitchFamily="50" charset="-128"/>
              </a:rPr>
              <a:t>1</a:t>
            </a:r>
            <a:r>
              <a:rPr kumimoji="1" lang="ja-JP" altLang="en-US" dirty="0">
                <a:solidFill>
                  <a:schemeClr val="tx1"/>
                </a:solidFill>
                <a:latin typeface="BIZ UDPゴシック" panose="020B0400000000000000" pitchFamily="50" charset="-128"/>
                <a:ea typeface="BIZ UDPゴシック" panose="020B0400000000000000" pitchFamily="50" charset="-128"/>
              </a:rPr>
              <a:t>弾</a:t>
            </a:r>
          </a:p>
        </p:txBody>
      </p:sp>
      <p:sp>
        <p:nvSpPr>
          <p:cNvPr id="3" name="楕円 2"/>
          <p:cNvSpPr/>
          <p:nvPr/>
        </p:nvSpPr>
        <p:spPr>
          <a:xfrm>
            <a:off x="1605708" y="1677146"/>
            <a:ext cx="1174086" cy="1174086"/>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pPr algn="ctr"/>
            <a:r>
              <a:rPr kumimoji="1" lang="ja-JP" altLang="en-US" sz="1200" dirty="0">
                <a:latin typeface="BIZ UDPゴシック" panose="020B0400000000000000" pitchFamily="50" charset="-128"/>
                <a:ea typeface="BIZ UDPゴシック" panose="020B0400000000000000" pitchFamily="50" charset="-128"/>
              </a:rPr>
              <a:t>毎日</a:t>
            </a:r>
            <a:endParaRPr kumimoji="1" lang="en-US" altLang="ja-JP" sz="1200" dirty="0">
              <a:latin typeface="BIZ UDPゴシック" panose="020B0400000000000000" pitchFamily="50" charset="-128"/>
              <a:ea typeface="BIZ UDPゴシック" panose="020B0400000000000000" pitchFamily="50" charset="-128"/>
            </a:endParaRPr>
          </a:p>
          <a:p>
            <a:pPr algn="ctr"/>
            <a:r>
              <a:rPr kumimoji="1" lang="en-US" altLang="ja-JP" dirty="0">
                <a:latin typeface="BIZ UDPゴシック" panose="020B0400000000000000" pitchFamily="50" charset="-128"/>
                <a:ea typeface="BIZ UDPゴシック" panose="020B0400000000000000" pitchFamily="50" charset="-128"/>
              </a:rPr>
              <a:t>111</a:t>
            </a:r>
            <a:r>
              <a:rPr kumimoji="1" lang="ja-JP" altLang="en-US" sz="1200" dirty="0">
                <a:latin typeface="BIZ UDPゴシック" panose="020B0400000000000000" pitchFamily="50" charset="-128"/>
                <a:ea typeface="BIZ UDPゴシック" panose="020B0400000000000000" pitchFamily="50" charset="-128"/>
              </a:rPr>
              <a:t>名様に</a:t>
            </a:r>
            <a:endParaRPr kumimoji="1" lang="en-US" altLang="ja-JP" sz="1200" dirty="0">
              <a:latin typeface="BIZ UDPゴシック" panose="020B0400000000000000" pitchFamily="50" charset="-128"/>
              <a:ea typeface="BIZ UDPゴシック" panose="020B0400000000000000" pitchFamily="50" charset="-128"/>
            </a:endParaRPr>
          </a:p>
          <a:p>
            <a:pPr algn="ctr"/>
            <a:r>
              <a:rPr kumimoji="1" lang="ja-JP" altLang="en-US" sz="1200" dirty="0">
                <a:latin typeface="BIZ UDPゴシック" panose="020B0400000000000000" pitchFamily="50" charset="-128"/>
                <a:ea typeface="BIZ UDPゴシック" panose="020B0400000000000000" pitchFamily="50" charset="-128"/>
              </a:rPr>
              <a:t>アタル！</a:t>
            </a:r>
          </a:p>
        </p:txBody>
      </p:sp>
      <p:sp>
        <p:nvSpPr>
          <p:cNvPr id="8" name="テキスト ボックス 7"/>
          <p:cNvSpPr txBox="1"/>
          <p:nvPr/>
        </p:nvSpPr>
        <p:spPr>
          <a:xfrm>
            <a:off x="2728803" y="1848690"/>
            <a:ext cx="1284326" cy="830997"/>
          </a:xfrm>
          <a:prstGeom prst="rect">
            <a:avLst/>
          </a:prstGeom>
          <a:noFill/>
        </p:spPr>
        <p:txBody>
          <a:bodyPr wrap="none" rtlCol="0">
            <a:spAutoFit/>
          </a:bodyPr>
          <a:lstStyle/>
          <a:p>
            <a:pPr algn="ctr"/>
            <a:r>
              <a:rPr kumimoji="1" lang="ja-JP" altLang="en-US" sz="2400" dirty="0">
                <a:latin typeface="BIZ UDPゴシック" panose="020B0400000000000000" pitchFamily="50" charset="-128"/>
                <a:ea typeface="BIZ UDPゴシック" panose="020B0400000000000000" pitchFamily="50" charset="-128"/>
              </a:rPr>
              <a:t>イーアス</a:t>
            </a:r>
            <a:endParaRPr kumimoji="1" lang="en-US" altLang="ja-JP" sz="2400" dirty="0">
              <a:latin typeface="BIZ UDPゴシック" panose="020B0400000000000000" pitchFamily="50" charset="-128"/>
              <a:ea typeface="BIZ UDPゴシック" panose="020B0400000000000000" pitchFamily="50" charset="-128"/>
            </a:endParaRPr>
          </a:p>
          <a:p>
            <a:pPr algn="ctr"/>
            <a:r>
              <a:rPr kumimoji="1" lang="ja-JP" altLang="en-US" sz="2400" dirty="0">
                <a:latin typeface="BIZ UDPゴシック" panose="020B0400000000000000" pitchFamily="50" charset="-128"/>
                <a:ea typeface="BIZ UDPゴシック" panose="020B0400000000000000" pitchFamily="50" charset="-128"/>
              </a:rPr>
              <a:t>商品券</a:t>
            </a:r>
          </a:p>
        </p:txBody>
      </p:sp>
      <p:sp>
        <p:nvSpPr>
          <p:cNvPr id="13" name="テキスト ボックス 12"/>
          <p:cNvSpPr txBox="1"/>
          <p:nvPr/>
        </p:nvSpPr>
        <p:spPr>
          <a:xfrm>
            <a:off x="3902889" y="1842672"/>
            <a:ext cx="2629246" cy="830997"/>
          </a:xfrm>
          <a:prstGeom prst="rect">
            <a:avLst/>
          </a:prstGeom>
          <a:noFill/>
        </p:spPr>
        <p:txBody>
          <a:bodyPr wrap="none" rtlCol="0">
            <a:spAutoFit/>
          </a:bodyPr>
          <a:lstStyle/>
          <a:p>
            <a:r>
              <a:rPr kumimoji="1" lang="en-US" altLang="ja-JP" sz="4800" dirty="0">
                <a:latin typeface="BIZ UDPゴシック" panose="020B0400000000000000" pitchFamily="50" charset="-128"/>
                <a:ea typeface="BIZ UDPゴシック" panose="020B0400000000000000" pitchFamily="50" charset="-128"/>
              </a:rPr>
              <a:t>1,000</a:t>
            </a:r>
            <a:r>
              <a:rPr kumimoji="1" lang="ja-JP" altLang="en-US" dirty="0">
                <a:latin typeface="BIZ UDPゴシック" panose="020B0400000000000000" pitchFamily="50" charset="-128"/>
                <a:ea typeface="BIZ UDPゴシック" panose="020B0400000000000000" pitchFamily="50" charset="-128"/>
              </a:rPr>
              <a:t>円分</a:t>
            </a:r>
          </a:p>
        </p:txBody>
      </p:sp>
      <p:sp>
        <p:nvSpPr>
          <p:cNvPr id="10" name="テキスト ボックス 9"/>
          <p:cNvSpPr txBox="1"/>
          <p:nvPr/>
        </p:nvSpPr>
        <p:spPr>
          <a:xfrm>
            <a:off x="6430780" y="1848690"/>
            <a:ext cx="1891865" cy="830997"/>
          </a:xfrm>
          <a:prstGeom prst="rect">
            <a:avLst/>
          </a:prstGeom>
          <a:noFill/>
        </p:spPr>
        <p:txBody>
          <a:bodyPr wrap="none" rtlCol="0">
            <a:spAutoFit/>
          </a:bodyPr>
          <a:lstStyle/>
          <a:p>
            <a:r>
              <a:rPr kumimoji="1" lang="ja-JP" altLang="en-US" sz="2400" dirty="0">
                <a:latin typeface="BIZ UDPゴシック" panose="020B0400000000000000" pitchFamily="50" charset="-128"/>
                <a:ea typeface="BIZ UDPゴシック" panose="020B0400000000000000" pitchFamily="50" charset="-128"/>
              </a:rPr>
              <a:t>プレゼント</a:t>
            </a:r>
            <a:endParaRPr kumimoji="1" lang="en-US" altLang="ja-JP" sz="2400" dirty="0">
              <a:latin typeface="BIZ UDPゴシック" panose="020B0400000000000000" pitchFamily="50" charset="-128"/>
              <a:ea typeface="BIZ UDPゴシック" panose="020B0400000000000000" pitchFamily="50" charset="-128"/>
            </a:endParaRPr>
          </a:p>
          <a:p>
            <a:r>
              <a:rPr kumimoji="1" lang="ja-JP" altLang="en-US" sz="2400" dirty="0">
                <a:latin typeface="BIZ UDPゴシック" panose="020B0400000000000000" pitchFamily="50" charset="-128"/>
                <a:ea typeface="BIZ UDPゴシック" panose="020B0400000000000000" pitchFamily="50" charset="-128"/>
              </a:rPr>
              <a:t>キャンペーン</a:t>
            </a:r>
          </a:p>
        </p:txBody>
      </p:sp>
      <p:sp>
        <p:nvSpPr>
          <p:cNvPr id="14" name="テキスト ボックス 13"/>
          <p:cNvSpPr txBox="1"/>
          <p:nvPr/>
        </p:nvSpPr>
        <p:spPr>
          <a:xfrm rot="21426060">
            <a:off x="3717806" y="2853348"/>
            <a:ext cx="2704587" cy="400110"/>
          </a:xfrm>
          <a:prstGeom prst="rect">
            <a:avLst/>
          </a:prstGeom>
          <a:noFill/>
        </p:spPr>
        <p:txBody>
          <a:bodyPr wrap="none" rtlCol="0">
            <a:spAutoFit/>
          </a:bodyPr>
          <a:lstStyle/>
          <a:p>
            <a:r>
              <a:rPr kumimoji="1" lang="ja-JP" altLang="en-US" sz="2000" dirty="0">
                <a:latin typeface="BIZ UDPゴシック" panose="020B0400000000000000" pitchFamily="50" charset="-128"/>
                <a:ea typeface="BIZ UDPゴシック" panose="020B0400000000000000" pitchFamily="50" charset="-128"/>
              </a:rPr>
              <a:t>毎日、おトクな</a:t>
            </a:r>
            <a:r>
              <a:rPr kumimoji="1" lang="en-US" altLang="ja-JP" sz="2000" dirty="0">
                <a:latin typeface="BIZ UDPゴシック" panose="020B0400000000000000" pitchFamily="50" charset="-128"/>
                <a:ea typeface="BIZ UDPゴシック" panose="020B0400000000000000" pitchFamily="50" charset="-128"/>
              </a:rPr>
              <a:t>1</a:t>
            </a:r>
            <a:r>
              <a:rPr kumimoji="1" lang="ja-JP" altLang="en-US" sz="2000" dirty="0">
                <a:latin typeface="BIZ UDPゴシック" panose="020B0400000000000000" pitchFamily="50" charset="-128"/>
                <a:ea typeface="BIZ UDPゴシック" panose="020B0400000000000000" pitchFamily="50" charset="-128"/>
              </a:rPr>
              <a:t>週間♪</a:t>
            </a:r>
          </a:p>
        </p:txBody>
      </p:sp>
      <p:sp>
        <p:nvSpPr>
          <p:cNvPr id="15" name="テキスト ボックス 14"/>
          <p:cNvSpPr txBox="1"/>
          <p:nvPr/>
        </p:nvSpPr>
        <p:spPr>
          <a:xfrm>
            <a:off x="2642127" y="3467725"/>
            <a:ext cx="5120312" cy="646331"/>
          </a:xfrm>
          <a:prstGeom prst="rect">
            <a:avLst/>
          </a:prstGeom>
          <a:noFill/>
        </p:spPr>
        <p:txBody>
          <a:bodyPr wrap="none" rtlCol="0">
            <a:spAutoFit/>
          </a:bodyPr>
          <a:lstStyle/>
          <a:p>
            <a:r>
              <a:rPr kumimoji="1" lang="ja-JP" altLang="en-US" sz="1200" dirty="0">
                <a:latin typeface="BIZ UDPゴシック" panose="020B0400000000000000" pitchFamily="50" charset="-128"/>
                <a:ea typeface="BIZ UDPゴシック" panose="020B0400000000000000" pitchFamily="50" charset="-128"/>
              </a:rPr>
              <a:t>期間中、</a:t>
            </a:r>
            <a:r>
              <a:rPr kumimoji="1" lang="en-US" altLang="ja-JP" sz="1200" dirty="0">
                <a:latin typeface="BIZ UDPゴシック" panose="020B0400000000000000" pitchFamily="50" charset="-128"/>
                <a:ea typeface="BIZ UDPゴシック" panose="020B0400000000000000" pitchFamily="50" charset="-128"/>
              </a:rPr>
              <a:t>1,000</a:t>
            </a:r>
            <a:r>
              <a:rPr kumimoji="1" lang="ja-JP" altLang="en-US" sz="1200" dirty="0">
                <a:latin typeface="BIZ UDPゴシック" panose="020B0400000000000000" pitchFamily="50" charset="-128"/>
                <a:ea typeface="BIZ UDPゴシック" panose="020B0400000000000000" pitchFamily="50" charset="-128"/>
              </a:rPr>
              <a:t>円以上（仮）のお買い物をしたレシートでご応募いただき、</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毎日抽選で１１１名様にイーアス豊崎沖縄商品券</a:t>
            </a:r>
            <a:r>
              <a:rPr kumimoji="1" lang="en-US" altLang="ja-JP" sz="1200" dirty="0">
                <a:latin typeface="BIZ UDPゴシック" panose="020B0400000000000000" pitchFamily="50" charset="-128"/>
                <a:ea typeface="BIZ UDPゴシック" panose="020B0400000000000000" pitchFamily="50" charset="-128"/>
              </a:rPr>
              <a:t>1,000</a:t>
            </a:r>
            <a:r>
              <a:rPr kumimoji="1" lang="ja-JP" altLang="en-US" sz="1200" dirty="0">
                <a:latin typeface="BIZ UDPゴシック" panose="020B0400000000000000" pitchFamily="50" charset="-128"/>
                <a:ea typeface="BIZ UDPゴシック" panose="020B0400000000000000" pitchFamily="50" charset="-128"/>
              </a:rPr>
              <a:t>円分をプレゼント！</a:t>
            </a:r>
            <a:endParaRPr kumimoji="1" lang="en-US" altLang="ja-JP" sz="1200" dirty="0">
              <a:latin typeface="BIZ UDPゴシック" panose="020B0400000000000000" pitchFamily="50" charset="-128"/>
              <a:ea typeface="BIZ UDPゴシック" panose="020B0400000000000000" pitchFamily="50" charset="-128"/>
            </a:endParaRPr>
          </a:p>
          <a:p>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商品券の発送は後日　</a:t>
            </a:r>
            <a:r>
              <a:rPr kumimoji="1" lang="en-US" altLang="ja-JP" sz="1200" dirty="0">
                <a:latin typeface="BIZ UDPゴシック" panose="020B0400000000000000" pitchFamily="50" charset="-128"/>
                <a:ea typeface="BIZ UDPゴシック" panose="020B0400000000000000" pitchFamily="50" charset="-128"/>
              </a:rPr>
              <a:t>or</a:t>
            </a:r>
            <a:r>
              <a:rPr kumimoji="1" lang="ja-JP" altLang="en-US" sz="1200" dirty="0">
                <a:latin typeface="BIZ UDPゴシック" panose="020B0400000000000000" pitchFamily="50" charset="-128"/>
                <a:ea typeface="BIZ UDPゴシック" panose="020B0400000000000000" pitchFamily="50" charset="-128"/>
              </a:rPr>
              <a:t>　店頭引換</a:t>
            </a:r>
            <a:endParaRPr kumimoji="1" lang="en-US" altLang="ja-JP" sz="1200" dirty="0">
              <a:latin typeface="BIZ UDPゴシック" panose="020B0400000000000000" pitchFamily="50" charset="-128"/>
              <a:ea typeface="BIZ UDPゴシック" panose="020B0400000000000000" pitchFamily="50" charset="-128"/>
            </a:endParaRPr>
          </a:p>
        </p:txBody>
      </p:sp>
      <p:cxnSp>
        <p:nvCxnSpPr>
          <p:cNvPr id="16" name="直線コネクタ 15"/>
          <p:cNvCxnSpPr/>
          <p:nvPr/>
        </p:nvCxnSpPr>
        <p:spPr>
          <a:xfrm>
            <a:off x="1358153" y="4316435"/>
            <a:ext cx="7360023"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テキスト ボックス 16"/>
          <p:cNvSpPr txBox="1"/>
          <p:nvPr/>
        </p:nvSpPr>
        <p:spPr>
          <a:xfrm>
            <a:off x="2834487" y="4412620"/>
            <a:ext cx="4958409" cy="1169551"/>
          </a:xfrm>
          <a:prstGeom prst="rect">
            <a:avLst/>
          </a:prstGeom>
          <a:noFill/>
        </p:spPr>
        <p:txBody>
          <a:bodyPr wrap="none" rtlCol="0">
            <a:spAutoFit/>
          </a:bodyPr>
          <a:lstStyle/>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コロナの影響を考え、集客が集中し過ぎないように、</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日々の「集客分散」を考慮した「集客型のプレゼントキャンペーン」となります。</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このようなキャッチーなコア企画を打上げることで、</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各店舗の集客の期待感を醸成し、各店舗が周年企画に参加しやすい環境を整えます。</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同時に展開する「第</a:t>
            </a:r>
            <a:r>
              <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rPr>
              <a:t>2</a:t>
            </a:r>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弾」「第</a:t>
            </a:r>
            <a:r>
              <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rPr>
              <a:t>3</a:t>
            </a:r>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弾」などの企画で、店舗参加型の企画を実施することで、</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館全体の「周年ムード」を醸成し、周年</a:t>
            </a:r>
            <a:r>
              <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rPr>
              <a:t>WEEK</a:t>
            </a:r>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を盛り上げていく設計です。</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144228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65848" y="183777"/>
            <a:ext cx="3039615" cy="276999"/>
          </a:xfrm>
          <a:prstGeom prst="rect">
            <a:avLst/>
          </a:prstGeom>
          <a:noFill/>
        </p:spPr>
        <p:txBody>
          <a:bodyPr wrap="none" rtlCol="0">
            <a:spAutoFit/>
          </a:bodyPr>
          <a:lstStyle/>
          <a:p>
            <a:r>
              <a:rPr kumimoji="1" lang="en-US" altLang="ja-JP" sz="1200" dirty="0">
                <a:latin typeface="BIZ UDPゴシック" panose="020B0400000000000000" pitchFamily="50" charset="-128"/>
                <a:ea typeface="BIZ UDPゴシック" panose="020B0400000000000000" pitchFamily="50" charset="-128"/>
              </a:rPr>
              <a:t>【20210413</a:t>
            </a:r>
            <a:r>
              <a:rPr kumimoji="1" lang="ja-JP" altLang="en-US" sz="1200" dirty="0">
                <a:latin typeface="BIZ UDPゴシック" panose="020B0400000000000000" pitchFamily="50" charset="-128"/>
                <a:ea typeface="BIZ UDPゴシック" panose="020B0400000000000000" pitchFamily="50" charset="-128"/>
              </a:rPr>
              <a:t>イーアス</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周年企画アイデア</a:t>
            </a:r>
            <a:r>
              <a:rPr kumimoji="1" lang="en-US" altLang="ja-JP"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5" name="テキスト ボックス 4"/>
          <p:cNvSpPr txBox="1"/>
          <p:nvPr/>
        </p:nvSpPr>
        <p:spPr>
          <a:xfrm>
            <a:off x="331694" y="681318"/>
            <a:ext cx="986167" cy="276999"/>
          </a:xfrm>
          <a:prstGeom prst="rect">
            <a:avLst/>
          </a:prstGeom>
          <a:solidFill>
            <a:schemeClr val="tx1">
              <a:lumMod val="50000"/>
              <a:lumOff val="50000"/>
            </a:schemeClr>
          </a:solidFill>
        </p:spPr>
        <p:txBody>
          <a:bodyPr wrap="none" rtlCol="0">
            <a:spAutoFit/>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ストーリー</a:t>
            </a:r>
            <a:r>
              <a:rPr kumimoji="1" lang="en-US" altLang="ja-JP" sz="1200" dirty="0">
                <a:solidFill>
                  <a:schemeClr val="bg1"/>
                </a:solidFill>
                <a:latin typeface="BIZ UDPゴシック" panose="020B0400000000000000" pitchFamily="50" charset="-128"/>
                <a:ea typeface="BIZ UDPゴシック" panose="020B0400000000000000" pitchFamily="50" charset="-128"/>
              </a:rPr>
              <a:t>B</a:t>
            </a:r>
            <a:endParaRPr kumimoji="1" lang="ja-JP" altLang="en-US" sz="1200" dirty="0">
              <a:solidFill>
                <a:schemeClr val="bg1"/>
              </a:solidFill>
              <a:latin typeface="BIZ UDPゴシック" panose="020B0400000000000000" pitchFamily="50" charset="-128"/>
              <a:ea typeface="BIZ UDPゴシック" panose="020B0400000000000000" pitchFamily="50" charset="-128"/>
            </a:endParaRPr>
          </a:p>
        </p:txBody>
      </p:sp>
      <p:sp>
        <p:nvSpPr>
          <p:cNvPr id="6" name="テキスト ボックス 5"/>
          <p:cNvSpPr txBox="1"/>
          <p:nvPr/>
        </p:nvSpPr>
        <p:spPr>
          <a:xfrm>
            <a:off x="2258650" y="1931063"/>
            <a:ext cx="5702202" cy="1569660"/>
          </a:xfrm>
          <a:prstGeom prst="rect">
            <a:avLst/>
          </a:prstGeom>
          <a:noFill/>
        </p:spPr>
        <p:txBody>
          <a:bodyPr wrap="none" rtlCol="0">
            <a:spAutoFit/>
          </a:bodyPr>
          <a:lstStyle/>
          <a:p>
            <a:r>
              <a:rPr kumimoji="1" lang="ja-JP" altLang="en-US" sz="1200" dirty="0">
                <a:latin typeface="BIZ UDPゴシック" panose="020B0400000000000000" pitchFamily="50" charset="-128"/>
                <a:ea typeface="BIZ UDPゴシック" panose="020B0400000000000000" pitchFamily="50" charset="-128"/>
              </a:rPr>
              <a:t>イーアス沖縄豊崎は、おかげさまで</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周年！</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お客さまに感謝を込めて、おトクな周年</a:t>
            </a:r>
            <a:r>
              <a:rPr kumimoji="1" lang="en-US" altLang="ja-JP" sz="1200" dirty="0">
                <a:latin typeface="BIZ UDPゴシック" panose="020B0400000000000000" pitchFamily="50" charset="-128"/>
                <a:ea typeface="BIZ UDPゴシック" panose="020B0400000000000000" pitchFamily="50" charset="-128"/>
              </a:rPr>
              <a:t>WEEK</a:t>
            </a:r>
            <a:r>
              <a:rPr kumimoji="1" lang="ja-JP" altLang="en-US" sz="1200" dirty="0" err="1">
                <a:latin typeface="BIZ UDPゴシック" panose="020B0400000000000000" pitchFamily="50" charset="-128"/>
                <a:ea typeface="BIZ UDPゴシック" panose="020B0400000000000000" pitchFamily="50" charset="-128"/>
              </a:rPr>
              <a:t>を開</a:t>
            </a:r>
            <a:r>
              <a:rPr kumimoji="1" lang="ja-JP" altLang="en-US" sz="1200" dirty="0">
                <a:latin typeface="BIZ UDPゴシック" panose="020B0400000000000000" pitchFamily="50" charset="-128"/>
                <a:ea typeface="BIZ UDPゴシック" panose="020B0400000000000000" pitchFamily="50" charset="-128"/>
              </a:rPr>
              <a:t>催します。</a:t>
            </a:r>
            <a:endParaRPr kumimoji="1" lang="en-US" altLang="ja-JP" sz="1200" dirty="0">
              <a:latin typeface="BIZ UDPゴシック" panose="020B0400000000000000" pitchFamily="50" charset="-128"/>
              <a:ea typeface="BIZ UDPゴシック" panose="020B0400000000000000" pitchFamily="50" charset="-128"/>
            </a:endParaRPr>
          </a:p>
          <a:p>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a:t>
            </a:r>
            <a:r>
              <a:rPr kumimoji="1" lang="en-US" altLang="ja-JP" sz="1200" dirty="0" err="1">
                <a:latin typeface="BIZ UDPゴシック" panose="020B0400000000000000" pitchFamily="50" charset="-128"/>
                <a:ea typeface="BIZ UDPゴシック" panose="020B0400000000000000" pitchFamily="50" charset="-128"/>
              </a:rPr>
              <a:t>iias</a:t>
            </a:r>
            <a:r>
              <a:rPr kumimoji="1" lang="ja-JP" altLang="en-US" sz="1200" dirty="0">
                <a:latin typeface="BIZ UDPゴシック" panose="020B0400000000000000" pitchFamily="50" charset="-128"/>
                <a:ea typeface="BIZ UDPゴシック" panose="020B0400000000000000" pitchFamily="50" charset="-128"/>
              </a:rPr>
              <a:t>」だけに、ホントに「いい、明日」になるようなプレゼントキャンペーンをはじめ、</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様々なおトクな企画をご用意し、皆さまをお待ちしております。</a:t>
            </a:r>
            <a:endParaRPr kumimoji="1" lang="en-US" altLang="ja-JP" sz="1200" dirty="0">
              <a:latin typeface="BIZ UDPゴシック" panose="020B0400000000000000" pitchFamily="50" charset="-128"/>
              <a:ea typeface="BIZ UDPゴシック" panose="020B0400000000000000" pitchFamily="50" charset="-128"/>
            </a:endParaRPr>
          </a:p>
          <a:p>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周年</a:t>
            </a:r>
            <a:r>
              <a:rPr kumimoji="1" lang="en-US" altLang="ja-JP" sz="1200" dirty="0">
                <a:latin typeface="BIZ UDPゴシック" panose="020B0400000000000000" pitchFamily="50" charset="-128"/>
                <a:ea typeface="BIZ UDPゴシック" panose="020B0400000000000000" pitchFamily="50" charset="-128"/>
              </a:rPr>
              <a:t>WEEK</a:t>
            </a:r>
            <a:r>
              <a:rPr kumimoji="1" lang="ja-JP" altLang="en-US" sz="1200" dirty="0">
                <a:latin typeface="BIZ UDPゴシック" panose="020B0400000000000000" pitchFamily="50" charset="-128"/>
                <a:ea typeface="BIZ UDPゴシック" panose="020B0400000000000000" pitchFamily="50" charset="-128"/>
              </a:rPr>
              <a:t>のイーアス沖縄豊崎で楽しんでいただいて、</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今日も明日もイイ日になりますように♪</a:t>
            </a:r>
            <a:endParaRPr kumimoji="1" lang="en-US" altLang="ja-JP" sz="1200" dirty="0">
              <a:latin typeface="BIZ UDPゴシック" panose="020B0400000000000000" pitchFamily="50" charset="-128"/>
              <a:ea typeface="BIZ UDPゴシック" panose="020B0400000000000000" pitchFamily="50" charset="-128"/>
            </a:endParaRPr>
          </a:p>
        </p:txBody>
      </p:sp>
      <p:sp>
        <p:nvSpPr>
          <p:cNvPr id="7" name="テキスト ボックス 6"/>
          <p:cNvSpPr txBox="1"/>
          <p:nvPr/>
        </p:nvSpPr>
        <p:spPr>
          <a:xfrm>
            <a:off x="3426780" y="890956"/>
            <a:ext cx="2584362" cy="369332"/>
          </a:xfrm>
          <a:prstGeom prst="rect">
            <a:avLst/>
          </a:prstGeom>
          <a:noFill/>
        </p:spPr>
        <p:txBody>
          <a:bodyPr wrap="square" rtlCol="0">
            <a:spAutoFit/>
          </a:bodyPr>
          <a:lstStyle/>
          <a:p>
            <a:r>
              <a:rPr kumimoji="1" lang="en-US" altLang="ja-JP" dirty="0" err="1">
                <a:latin typeface="BIZ UDPゴシック" panose="020B0400000000000000" pitchFamily="50" charset="-128"/>
                <a:ea typeface="BIZ UDPゴシック" panose="020B0400000000000000" pitchFamily="50" charset="-128"/>
              </a:rPr>
              <a:t>iias</a:t>
            </a:r>
            <a:r>
              <a:rPr kumimoji="1" lang="en-US" altLang="ja-JP" dirty="0">
                <a:latin typeface="BIZ UDPゴシック" panose="020B0400000000000000" pitchFamily="50" charset="-128"/>
                <a:ea typeface="BIZ UDPゴシック" panose="020B0400000000000000" pitchFamily="50" charset="-128"/>
              </a:rPr>
              <a:t> 1</a:t>
            </a:r>
            <a:r>
              <a:rPr kumimoji="1" lang="en-US" altLang="ja-JP" baseline="30000" dirty="0">
                <a:latin typeface="BIZ UDPゴシック" panose="020B0400000000000000" pitchFamily="50" charset="-128"/>
                <a:ea typeface="BIZ UDPゴシック" panose="020B0400000000000000" pitchFamily="50" charset="-128"/>
              </a:rPr>
              <a:t>st</a:t>
            </a:r>
            <a:r>
              <a:rPr kumimoji="1" lang="en-US" altLang="ja-JP" dirty="0">
                <a:latin typeface="BIZ UDPゴシック" panose="020B0400000000000000" pitchFamily="50" charset="-128"/>
                <a:ea typeface="BIZ UDPゴシック" panose="020B0400000000000000" pitchFamily="50" charset="-128"/>
              </a:rPr>
              <a:t> Anniversary</a:t>
            </a:r>
            <a:endParaRPr kumimoji="1" lang="ja-JP" altLang="en-US" dirty="0">
              <a:latin typeface="BIZ UDPゴシック" panose="020B0400000000000000" pitchFamily="50" charset="-128"/>
              <a:ea typeface="BIZ UDPゴシック" panose="020B0400000000000000" pitchFamily="50" charset="-128"/>
            </a:endParaRPr>
          </a:p>
        </p:txBody>
      </p:sp>
      <p:sp>
        <p:nvSpPr>
          <p:cNvPr id="9" name="テキスト ボックス 8"/>
          <p:cNvSpPr txBox="1"/>
          <p:nvPr/>
        </p:nvSpPr>
        <p:spPr>
          <a:xfrm>
            <a:off x="2024261" y="1260288"/>
            <a:ext cx="5538696" cy="523220"/>
          </a:xfrm>
          <a:prstGeom prst="rect">
            <a:avLst/>
          </a:prstGeom>
          <a:noFill/>
        </p:spPr>
        <p:txBody>
          <a:bodyPr wrap="none" rtlCol="0">
            <a:spAutoFit/>
          </a:bodyPr>
          <a:lstStyle/>
          <a:p>
            <a:r>
              <a:rPr kumimoji="1" lang="ja-JP" altLang="en-US" sz="2800" dirty="0">
                <a:latin typeface="BIZ UDPゴシック" panose="020B0400000000000000" pitchFamily="50" charset="-128"/>
                <a:ea typeface="BIZ UDPゴシック" panose="020B0400000000000000" pitchFamily="50" charset="-128"/>
              </a:rPr>
              <a:t>ホントに「いい、明日」キャンペーン</a:t>
            </a:r>
          </a:p>
        </p:txBody>
      </p:sp>
      <p:cxnSp>
        <p:nvCxnSpPr>
          <p:cNvPr id="11" name="直線コネクタ 10"/>
          <p:cNvCxnSpPr/>
          <p:nvPr/>
        </p:nvCxnSpPr>
        <p:spPr>
          <a:xfrm>
            <a:off x="1358153" y="3881720"/>
            <a:ext cx="7360023"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p:cNvSpPr txBox="1"/>
          <p:nvPr/>
        </p:nvSpPr>
        <p:spPr>
          <a:xfrm>
            <a:off x="3240031" y="4387636"/>
            <a:ext cx="3425938" cy="1631216"/>
          </a:xfrm>
          <a:prstGeom prst="rect">
            <a:avLst/>
          </a:prstGeom>
          <a:noFill/>
        </p:spPr>
        <p:txBody>
          <a:bodyPr wrap="none" rtlCol="0">
            <a:spAutoFit/>
          </a:bodyPr>
          <a:lstStyle/>
          <a:p>
            <a:r>
              <a:rPr kumimoji="1" lang="en-US" altLang="ja-JP" sz="1000" dirty="0" err="1">
                <a:solidFill>
                  <a:schemeClr val="tx1">
                    <a:lumMod val="50000"/>
                    <a:lumOff val="50000"/>
                  </a:schemeClr>
                </a:solidFill>
                <a:latin typeface="BIZ UDPゴシック" panose="020B0400000000000000" pitchFamily="50" charset="-128"/>
                <a:ea typeface="BIZ UDPゴシック" panose="020B0400000000000000" pitchFamily="50" charset="-128"/>
              </a:rPr>
              <a:t>iias</a:t>
            </a:r>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のネーミングを文字って、言いやすく、覚えやすく</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コミュニケーションをしていくタイプの企画案となります。</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ストーリー</a:t>
            </a:r>
            <a:r>
              <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rPr>
              <a:t>A</a:t>
            </a:r>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とシステム違いのコア企画を採用します。</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ストーリー</a:t>
            </a:r>
            <a:r>
              <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rPr>
              <a:t>A</a:t>
            </a:r>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と比較して、</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コア企画であるプレゼントキャンペーンに直結するタイプの</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周年祭タイトルで印象を強くしながらも、</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同時に複数の企画を展開し、</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周年祭全体を盛り上げていく仕組みにしていきます。</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217727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65848" y="183777"/>
            <a:ext cx="3039615" cy="276999"/>
          </a:xfrm>
          <a:prstGeom prst="rect">
            <a:avLst/>
          </a:prstGeom>
          <a:noFill/>
        </p:spPr>
        <p:txBody>
          <a:bodyPr wrap="none" rtlCol="0">
            <a:spAutoFit/>
          </a:bodyPr>
          <a:lstStyle/>
          <a:p>
            <a:r>
              <a:rPr kumimoji="1" lang="en-US" altLang="ja-JP" sz="1200" dirty="0">
                <a:latin typeface="BIZ UDPゴシック" panose="020B0400000000000000" pitchFamily="50" charset="-128"/>
                <a:ea typeface="BIZ UDPゴシック" panose="020B0400000000000000" pitchFamily="50" charset="-128"/>
              </a:rPr>
              <a:t>【20210413</a:t>
            </a:r>
            <a:r>
              <a:rPr kumimoji="1" lang="ja-JP" altLang="en-US" sz="1200" dirty="0">
                <a:latin typeface="BIZ UDPゴシック" panose="020B0400000000000000" pitchFamily="50" charset="-128"/>
                <a:ea typeface="BIZ UDPゴシック" panose="020B0400000000000000" pitchFamily="50" charset="-128"/>
              </a:rPr>
              <a:t>イーアス</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周年企画アイデア</a:t>
            </a:r>
            <a:r>
              <a:rPr kumimoji="1" lang="en-US" altLang="ja-JP"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5" name="テキスト ボックス 4"/>
          <p:cNvSpPr txBox="1"/>
          <p:nvPr/>
        </p:nvSpPr>
        <p:spPr>
          <a:xfrm>
            <a:off x="331694" y="681318"/>
            <a:ext cx="1721946" cy="276999"/>
          </a:xfrm>
          <a:prstGeom prst="rect">
            <a:avLst/>
          </a:prstGeom>
          <a:solidFill>
            <a:schemeClr val="tx1">
              <a:lumMod val="50000"/>
              <a:lumOff val="50000"/>
            </a:schemeClr>
          </a:solidFill>
        </p:spPr>
        <p:txBody>
          <a:bodyPr wrap="none" rtlCol="0">
            <a:spAutoFit/>
          </a:bodyPr>
          <a:lstStyle/>
          <a:p>
            <a:r>
              <a:rPr kumimoji="1" lang="ja-JP" altLang="en-US" sz="1200" dirty="0">
                <a:solidFill>
                  <a:schemeClr val="bg1"/>
                </a:solidFill>
                <a:latin typeface="BIZ UDPゴシック" panose="020B0400000000000000" pitchFamily="50" charset="-128"/>
                <a:ea typeface="BIZ UDPゴシック" panose="020B0400000000000000" pitchFamily="50" charset="-128"/>
              </a:rPr>
              <a:t>ストーリー</a:t>
            </a:r>
            <a:r>
              <a:rPr kumimoji="1" lang="en-US" altLang="ja-JP" sz="1200" dirty="0">
                <a:solidFill>
                  <a:schemeClr val="bg1"/>
                </a:solidFill>
                <a:latin typeface="BIZ UDPゴシック" panose="020B0400000000000000" pitchFamily="50" charset="-128"/>
                <a:ea typeface="BIZ UDPゴシック" panose="020B0400000000000000" pitchFamily="50" charset="-128"/>
              </a:rPr>
              <a:t>B</a:t>
            </a:r>
            <a:r>
              <a:rPr kumimoji="1" lang="ja-JP" altLang="en-US" sz="1200" dirty="0">
                <a:solidFill>
                  <a:schemeClr val="bg1"/>
                </a:solidFill>
                <a:latin typeface="BIZ UDPゴシック" panose="020B0400000000000000" pitchFamily="50" charset="-128"/>
                <a:ea typeface="BIZ UDPゴシック" panose="020B0400000000000000" pitchFamily="50" charset="-128"/>
              </a:rPr>
              <a:t>／コア企画</a:t>
            </a:r>
          </a:p>
        </p:txBody>
      </p:sp>
      <p:sp>
        <p:nvSpPr>
          <p:cNvPr id="7" name="テキスト ボックス 6"/>
          <p:cNvSpPr txBox="1"/>
          <p:nvPr/>
        </p:nvSpPr>
        <p:spPr>
          <a:xfrm>
            <a:off x="3426780" y="890956"/>
            <a:ext cx="2584362" cy="369332"/>
          </a:xfrm>
          <a:prstGeom prst="rect">
            <a:avLst/>
          </a:prstGeom>
          <a:noFill/>
        </p:spPr>
        <p:txBody>
          <a:bodyPr wrap="square" rtlCol="0">
            <a:spAutoFit/>
          </a:bodyPr>
          <a:lstStyle/>
          <a:p>
            <a:r>
              <a:rPr kumimoji="1" lang="en-US" altLang="ja-JP" dirty="0" err="1">
                <a:latin typeface="BIZ UDPゴシック" panose="020B0400000000000000" pitchFamily="50" charset="-128"/>
                <a:ea typeface="BIZ UDPゴシック" panose="020B0400000000000000" pitchFamily="50" charset="-128"/>
              </a:rPr>
              <a:t>iias</a:t>
            </a:r>
            <a:r>
              <a:rPr kumimoji="1" lang="en-US" altLang="ja-JP" dirty="0">
                <a:latin typeface="BIZ UDPゴシック" panose="020B0400000000000000" pitchFamily="50" charset="-128"/>
                <a:ea typeface="BIZ UDPゴシック" panose="020B0400000000000000" pitchFamily="50" charset="-128"/>
              </a:rPr>
              <a:t> 1</a:t>
            </a:r>
            <a:r>
              <a:rPr kumimoji="1" lang="en-US" altLang="ja-JP" baseline="30000" dirty="0">
                <a:latin typeface="BIZ UDPゴシック" panose="020B0400000000000000" pitchFamily="50" charset="-128"/>
                <a:ea typeface="BIZ UDPゴシック" panose="020B0400000000000000" pitchFamily="50" charset="-128"/>
              </a:rPr>
              <a:t>st</a:t>
            </a:r>
            <a:r>
              <a:rPr kumimoji="1" lang="en-US" altLang="ja-JP" dirty="0">
                <a:latin typeface="BIZ UDPゴシック" panose="020B0400000000000000" pitchFamily="50" charset="-128"/>
                <a:ea typeface="BIZ UDPゴシック" panose="020B0400000000000000" pitchFamily="50" charset="-128"/>
              </a:rPr>
              <a:t> Anniversary</a:t>
            </a:r>
            <a:endParaRPr kumimoji="1" lang="ja-JP" altLang="en-US" dirty="0">
              <a:latin typeface="BIZ UDPゴシック" panose="020B0400000000000000" pitchFamily="50" charset="-128"/>
              <a:ea typeface="BIZ UDPゴシック" panose="020B0400000000000000" pitchFamily="50" charset="-128"/>
            </a:endParaRPr>
          </a:p>
        </p:txBody>
      </p:sp>
      <p:sp>
        <p:nvSpPr>
          <p:cNvPr id="9" name="テキスト ボックス 8"/>
          <p:cNvSpPr txBox="1"/>
          <p:nvPr/>
        </p:nvSpPr>
        <p:spPr>
          <a:xfrm>
            <a:off x="3209574" y="1400196"/>
            <a:ext cx="3486852" cy="954107"/>
          </a:xfrm>
          <a:prstGeom prst="rect">
            <a:avLst/>
          </a:prstGeom>
          <a:noFill/>
        </p:spPr>
        <p:txBody>
          <a:bodyPr wrap="none" rtlCol="0">
            <a:spAutoFit/>
          </a:bodyPr>
          <a:lstStyle/>
          <a:p>
            <a:pPr algn="r"/>
            <a:r>
              <a:rPr kumimoji="1" lang="ja-JP" altLang="en-US" sz="2800" dirty="0">
                <a:latin typeface="BIZ UDPゴシック" panose="020B0400000000000000" pitchFamily="50" charset="-128"/>
                <a:ea typeface="BIZ UDPゴシック" panose="020B0400000000000000" pitchFamily="50" charset="-128"/>
              </a:rPr>
              <a:t>ホントに「いい、明日」</a:t>
            </a:r>
            <a:endParaRPr kumimoji="1" lang="en-US" altLang="ja-JP" sz="2800" dirty="0">
              <a:latin typeface="BIZ UDPゴシック" panose="020B0400000000000000" pitchFamily="50" charset="-128"/>
              <a:ea typeface="BIZ UDPゴシック" panose="020B0400000000000000" pitchFamily="50" charset="-128"/>
            </a:endParaRPr>
          </a:p>
          <a:p>
            <a:pPr algn="r"/>
            <a:r>
              <a:rPr kumimoji="1" lang="ja-JP" altLang="en-US" sz="2800" dirty="0">
                <a:latin typeface="BIZ UDPゴシック" panose="020B0400000000000000" pitchFamily="50" charset="-128"/>
                <a:ea typeface="BIZ UDPゴシック" panose="020B0400000000000000" pitchFamily="50" charset="-128"/>
              </a:rPr>
              <a:t>プレゼント</a:t>
            </a:r>
          </a:p>
        </p:txBody>
      </p:sp>
      <p:sp>
        <p:nvSpPr>
          <p:cNvPr id="10" name="楕円 9"/>
          <p:cNvSpPr/>
          <p:nvPr/>
        </p:nvSpPr>
        <p:spPr>
          <a:xfrm>
            <a:off x="2053640" y="1260288"/>
            <a:ext cx="1174086" cy="1174086"/>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pPr algn="ctr"/>
            <a:r>
              <a:rPr kumimoji="1" lang="ja-JP" altLang="en-US" sz="1200" dirty="0">
                <a:latin typeface="BIZ UDPゴシック" panose="020B0400000000000000" pitchFamily="50" charset="-128"/>
                <a:ea typeface="BIZ UDPゴシック" panose="020B0400000000000000" pitchFamily="50" charset="-128"/>
              </a:rPr>
              <a:t>毎日</a:t>
            </a:r>
            <a:endParaRPr kumimoji="1" lang="en-US" altLang="ja-JP" sz="1200" dirty="0">
              <a:latin typeface="BIZ UDPゴシック" panose="020B0400000000000000" pitchFamily="50" charset="-128"/>
              <a:ea typeface="BIZ UDPゴシック" panose="020B0400000000000000" pitchFamily="50" charset="-128"/>
            </a:endParaRPr>
          </a:p>
          <a:p>
            <a:pPr algn="ctr"/>
            <a:r>
              <a:rPr kumimoji="1" lang="en-US" altLang="ja-JP" dirty="0">
                <a:latin typeface="BIZ UDPゴシック" panose="020B0400000000000000" pitchFamily="50" charset="-128"/>
                <a:ea typeface="BIZ UDPゴシック" panose="020B0400000000000000" pitchFamily="50" charset="-128"/>
              </a:rPr>
              <a:t>111</a:t>
            </a:r>
            <a:r>
              <a:rPr kumimoji="1" lang="ja-JP" altLang="en-US" sz="1200" dirty="0">
                <a:latin typeface="BIZ UDPゴシック" panose="020B0400000000000000" pitchFamily="50" charset="-128"/>
                <a:ea typeface="BIZ UDPゴシック" panose="020B0400000000000000" pitchFamily="50" charset="-128"/>
              </a:rPr>
              <a:t>名様に</a:t>
            </a:r>
            <a:endParaRPr kumimoji="1" lang="en-US" altLang="ja-JP" sz="1200" dirty="0">
              <a:latin typeface="BIZ UDPゴシック" panose="020B0400000000000000" pitchFamily="50" charset="-128"/>
              <a:ea typeface="BIZ UDPゴシック" panose="020B0400000000000000" pitchFamily="50" charset="-128"/>
            </a:endParaRPr>
          </a:p>
          <a:p>
            <a:pPr algn="ctr"/>
            <a:r>
              <a:rPr kumimoji="1" lang="ja-JP" altLang="en-US" sz="1200" dirty="0">
                <a:latin typeface="BIZ UDPゴシック" panose="020B0400000000000000" pitchFamily="50" charset="-128"/>
                <a:ea typeface="BIZ UDPゴシック" panose="020B0400000000000000" pitchFamily="50" charset="-128"/>
              </a:rPr>
              <a:t>アタル！</a:t>
            </a:r>
          </a:p>
        </p:txBody>
      </p:sp>
      <p:sp>
        <p:nvSpPr>
          <p:cNvPr id="13" name="楕円 12"/>
          <p:cNvSpPr/>
          <p:nvPr/>
        </p:nvSpPr>
        <p:spPr>
          <a:xfrm>
            <a:off x="6733069" y="1260288"/>
            <a:ext cx="1174086" cy="1174086"/>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pPr algn="ctr"/>
            <a:r>
              <a:rPr kumimoji="1" lang="ja-JP" altLang="en-US" sz="1200" dirty="0">
                <a:latin typeface="BIZ UDPゴシック" panose="020B0400000000000000" pitchFamily="50" charset="-128"/>
                <a:ea typeface="BIZ UDPゴシック" panose="020B0400000000000000" pitchFamily="50" charset="-128"/>
              </a:rPr>
              <a:t>毎日抽選</a:t>
            </a:r>
            <a:endParaRPr kumimoji="1" lang="en-US" altLang="ja-JP" sz="1200" dirty="0">
              <a:latin typeface="BIZ UDPゴシック" panose="020B0400000000000000" pitchFamily="50" charset="-128"/>
              <a:ea typeface="BIZ UDPゴシック" panose="020B0400000000000000" pitchFamily="50" charset="-128"/>
            </a:endParaRPr>
          </a:p>
          <a:p>
            <a:pPr algn="ctr"/>
            <a:r>
              <a:rPr kumimoji="1" lang="ja-JP" altLang="en-US" sz="1200" dirty="0">
                <a:latin typeface="BIZ UDPゴシック" panose="020B0400000000000000" pitchFamily="50" charset="-128"/>
                <a:ea typeface="BIZ UDPゴシック" panose="020B0400000000000000" pitchFamily="50" charset="-128"/>
              </a:rPr>
              <a:t>翌日発表</a:t>
            </a:r>
          </a:p>
        </p:txBody>
      </p:sp>
      <p:sp>
        <p:nvSpPr>
          <p:cNvPr id="14" name="テキスト ボックス 13"/>
          <p:cNvSpPr txBox="1"/>
          <p:nvPr/>
        </p:nvSpPr>
        <p:spPr>
          <a:xfrm>
            <a:off x="1827661" y="2574282"/>
            <a:ext cx="6756978" cy="1569660"/>
          </a:xfrm>
          <a:prstGeom prst="rect">
            <a:avLst/>
          </a:prstGeom>
          <a:noFill/>
        </p:spPr>
        <p:txBody>
          <a:bodyPr wrap="none" rtlCol="0">
            <a:spAutoFit/>
          </a:bodyPr>
          <a:lstStyle/>
          <a:p>
            <a:r>
              <a:rPr kumimoji="1" lang="ja-JP" altLang="en-US" sz="1200" dirty="0">
                <a:latin typeface="BIZ UDPゴシック" panose="020B0400000000000000" pitchFamily="50" charset="-128"/>
                <a:ea typeface="BIZ UDPゴシック" panose="020B0400000000000000" pitchFamily="50" charset="-128"/>
              </a:rPr>
              <a:t>期間中、</a:t>
            </a:r>
            <a:r>
              <a:rPr kumimoji="1" lang="en-US" altLang="ja-JP" sz="1200" dirty="0">
                <a:latin typeface="BIZ UDPゴシック" panose="020B0400000000000000" pitchFamily="50" charset="-128"/>
                <a:ea typeface="BIZ UDPゴシック" panose="020B0400000000000000" pitchFamily="50" charset="-128"/>
              </a:rPr>
              <a:t>1,000</a:t>
            </a:r>
            <a:r>
              <a:rPr kumimoji="1" lang="ja-JP" altLang="en-US" sz="1200" dirty="0">
                <a:latin typeface="BIZ UDPゴシック" panose="020B0400000000000000" pitchFamily="50" charset="-128"/>
                <a:ea typeface="BIZ UDPゴシック" panose="020B0400000000000000" pitchFamily="50" charset="-128"/>
              </a:rPr>
              <a:t>円以上（仮）のお買い物をしたレシートをキャンペーンブースまでお持ちいただくと、</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ナンバリングされたキャンペーンカードをお渡しします。</a:t>
            </a:r>
            <a:endParaRPr kumimoji="1" lang="en-US" altLang="ja-JP" sz="1200" dirty="0">
              <a:latin typeface="BIZ UDPゴシック" panose="020B0400000000000000" pitchFamily="50" charset="-128"/>
              <a:ea typeface="BIZ UDPゴシック" panose="020B0400000000000000" pitchFamily="50" charset="-128"/>
            </a:endParaRPr>
          </a:p>
          <a:p>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発行された番号に対し、毎日抽選を行い、翌日発表で</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毎日１１１名様にイーアス豊崎沖縄商品券</a:t>
            </a:r>
            <a:r>
              <a:rPr kumimoji="1" lang="en-US" altLang="ja-JP" sz="1200" dirty="0">
                <a:latin typeface="BIZ UDPゴシック" panose="020B0400000000000000" pitchFamily="50" charset="-128"/>
                <a:ea typeface="BIZ UDPゴシック" panose="020B0400000000000000" pitchFamily="50" charset="-128"/>
              </a:rPr>
              <a:t>1,000</a:t>
            </a:r>
            <a:r>
              <a:rPr kumimoji="1" lang="ja-JP" altLang="en-US" sz="1200" dirty="0">
                <a:latin typeface="BIZ UDPゴシック" panose="020B0400000000000000" pitchFamily="50" charset="-128"/>
                <a:ea typeface="BIZ UDPゴシック" panose="020B0400000000000000" pitchFamily="50" charset="-128"/>
              </a:rPr>
              <a:t>円分をプレゼントいたします。</a:t>
            </a:r>
            <a:endParaRPr kumimoji="1" lang="en-US" altLang="ja-JP" sz="1200" dirty="0">
              <a:latin typeface="BIZ UDPゴシック" panose="020B0400000000000000" pitchFamily="50" charset="-128"/>
              <a:ea typeface="BIZ UDPゴシック" panose="020B0400000000000000" pitchFamily="50" charset="-128"/>
            </a:endParaRPr>
          </a:p>
          <a:p>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当選発表は、翌日○○時に</a:t>
            </a:r>
            <a:r>
              <a:rPr kumimoji="1" lang="en-US" altLang="ja-JP" sz="1200" dirty="0">
                <a:latin typeface="BIZ UDPゴシック" panose="020B0400000000000000" pitchFamily="50" charset="-128"/>
                <a:ea typeface="BIZ UDPゴシック" panose="020B0400000000000000" pitchFamily="50" charset="-128"/>
              </a:rPr>
              <a:t>WEB</a:t>
            </a:r>
            <a:r>
              <a:rPr kumimoji="1" lang="ja-JP" altLang="en-US" sz="1200" dirty="0">
                <a:latin typeface="BIZ UDPゴシック" panose="020B0400000000000000" pitchFamily="50" charset="-128"/>
                <a:ea typeface="BIZ UDPゴシック" panose="020B0400000000000000" pitchFamily="50" charset="-128"/>
              </a:rPr>
              <a:t>サイトにアップします。</a:t>
            </a:r>
            <a:endParaRPr kumimoji="1" lang="en-US" altLang="ja-JP" sz="1200" dirty="0">
              <a:latin typeface="BIZ UDPゴシック" panose="020B0400000000000000" pitchFamily="50" charset="-128"/>
              <a:ea typeface="BIZ UDPゴシック" panose="020B0400000000000000" pitchFamily="50" charset="-128"/>
            </a:endParaRPr>
          </a:p>
          <a:p>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当選者の方はキャンペーンカードをキャンペーンブースまでお持ちいただければ、</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　 商品券と引き換えさせていただきます。</a:t>
            </a:r>
            <a:endParaRPr kumimoji="1" lang="en-US" altLang="ja-JP" sz="1200" dirty="0">
              <a:latin typeface="BIZ UDPゴシック" panose="020B0400000000000000" pitchFamily="50" charset="-128"/>
              <a:ea typeface="BIZ UDPゴシック" panose="020B0400000000000000" pitchFamily="50" charset="-128"/>
            </a:endParaRPr>
          </a:p>
        </p:txBody>
      </p:sp>
      <p:cxnSp>
        <p:nvCxnSpPr>
          <p:cNvPr id="15" name="直線コネクタ 14"/>
          <p:cNvCxnSpPr/>
          <p:nvPr/>
        </p:nvCxnSpPr>
        <p:spPr>
          <a:xfrm>
            <a:off x="1358153" y="4351412"/>
            <a:ext cx="7360023"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2560477" y="4602496"/>
            <a:ext cx="5474576" cy="1631216"/>
          </a:xfrm>
          <a:prstGeom prst="rect">
            <a:avLst/>
          </a:prstGeom>
          <a:noFill/>
        </p:spPr>
        <p:txBody>
          <a:bodyPr wrap="none" rtlCol="0">
            <a:spAutoFit/>
          </a:bodyPr>
          <a:lstStyle/>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「明日になれば、結果がわかる」システムを体現化したプレゼントキャンペーンを実施することで、</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イーアス沖縄豊崎の印象を強くします。</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このシステムは</a:t>
            </a:r>
            <a:r>
              <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rPr>
              <a:t>SNS</a:t>
            </a:r>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などとの親和性が高く、</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情報が上手く拡散していくことで、</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「マジ、いい明日ｗ　ウケるｗ」というようなリアクションを創出し、</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周年祭全体の話題性を拡散していくことも目的としおります。</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また、毎日システムを採用することで、</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a:p>
            <a:r>
              <a:rPr kumimoji="1" lang="ja-JP" altLang="en-US" sz="1000" dirty="0">
                <a:solidFill>
                  <a:schemeClr val="tx1">
                    <a:lumMod val="50000"/>
                    <a:lumOff val="50000"/>
                  </a:schemeClr>
                </a:solidFill>
                <a:latin typeface="BIZ UDPゴシック" panose="020B0400000000000000" pitchFamily="50" charset="-128"/>
                <a:ea typeface="BIZ UDPゴシック" panose="020B0400000000000000" pitchFamily="50" charset="-128"/>
              </a:rPr>
              <a:t>ストーリーＡのコア企画と同じく、集客分散を図っていきます。</a:t>
            </a:r>
            <a:endParaRPr kumimoji="1" lang="en-US" altLang="ja-JP" sz="1000" dirty="0">
              <a:solidFill>
                <a:schemeClr val="tx1">
                  <a:lumMod val="50000"/>
                  <a:lumOff val="50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741650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65848" y="183777"/>
            <a:ext cx="3039615" cy="276999"/>
          </a:xfrm>
          <a:prstGeom prst="rect">
            <a:avLst/>
          </a:prstGeom>
          <a:noFill/>
        </p:spPr>
        <p:txBody>
          <a:bodyPr wrap="none" rtlCol="0">
            <a:spAutoFit/>
          </a:bodyPr>
          <a:lstStyle/>
          <a:p>
            <a:r>
              <a:rPr kumimoji="1" lang="en-US" altLang="ja-JP" sz="1200" dirty="0">
                <a:latin typeface="BIZ UDPゴシック" panose="020B0400000000000000" pitchFamily="50" charset="-128"/>
                <a:ea typeface="BIZ UDPゴシック" panose="020B0400000000000000" pitchFamily="50" charset="-128"/>
              </a:rPr>
              <a:t>【20210413</a:t>
            </a:r>
            <a:r>
              <a:rPr kumimoji="1" lang="ja-JP" altLang="en-US" sz="1200" dirty="0">
                <a:latin typeface="BIZ UDPゴシック" panose="020B0400000000000000" pitchFamily="50" charset="-128"/>
                <a:ea typeface="BIZ UDPゴシック" panose="020B0400000000000000" pitchFamily="50" charset="-128"/>
              </a:rPr>
              <a:t>イーアス</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周年企画アイデア</a:t>
            </a:r>
            <a:r>
              <a:rPr kumimoji="1" lang="en-US" altLang="ja-JP"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4" name="テキスト ボックス 13"/>
          <p:cNvSpPr txBox="1"/>
          <p:nvPr/>
        </p:nvSpPr>
        <p:spPr>
          <a:xfrm>
            <a:off x="3764213" y="3244334"/>
            <a:ext cx="2377574"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周年サブ企画アイデア</a:t>
            </a:r>
            <a:endParaRPr kumimoji="1"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47444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65848" y="183777"/>
            <a:ext cx="3039615" cy="276999"/>
          </a:xfrm>
          <a:prstGeom prst="rect">
            <a:avLst/>
          </a:prstGeom>
          <a:noFill/>
        </p:spPr>
        <p:txBody>
          <a:bodyPr wrap="none" rtlCol="0">
            <a:spAutoFit/>
          </a:bodyPr>
          <a:lstStyle/>
          <a:p>
            <a:r>
              <a:rPr kumimoji="1" lang="en-US" altLang="ja-JP" sz="1200" dirty="0">
                <a:latin typeface="BIZ UDPゴシック" panose="020B0400000000000000" pitchFamily="50" charset="-128"/>
                <a:ea typeface="BIZ UDPゴシック" panose="020B0400000000000000" pitchFamily="50" charset="-128"/>
              </a:rPr>
              <a:t>【20210413</a:t>
            </a:r>
            <a:r>
              <a:rPr kumimoji="1" lang="ja-JP" altLang="en-US" sz="1200" dirty="0">
                <a:latin typeface="BIZ UDPゴシック" panose="020B0400000000000000" pitchFamily="50" charset="-128"/>
                <a:ea typeface="BIZ UDPゴシック" panose="020B0400000000000000" pitchFamily="50" charset="-128"/>
              </a:rPr>
              <a:t>イーアス</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周年企画アイデア</a:t>
            </a:r>
            <a:r>
              <a:rPr kumimoji="1" lang="en-US" altLang="ja-JP"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4" name="テキスト ボックス 13"/>
          <p:cNvSpPr txBox="1"/>
          <p:nvPr/>
        </p:nvSpPr>
        <p:spPr>
          <a:xfrm>
            <a:off x="286495" y="656033"/>
            <a:ext cx="2031325" cy="369332"/>
          </a:xfrm>
          <a:prstGeom prst="rect">
            <a:avLst/>
          </a:prstGeom>
          <a:solidFill>
            <a:schemeClr val="tx1">
              <a:lumMod val="50000"/>
              <a:lumOff val="50000"/>
            </a:schemeClr>
          </a:solidFill>
        </p:spPr>
        <p:txBody>
          <a:bodyPr wrap="none" rtlCol="0">
            <a:spAutoFit/>
          </a:bodyPr>
          <a:lstStyle/>
          <a:p>
            <a:r>
              <a:rPr kumimoji="1" lang="ja-JP" altLang="en-US" dirty="0">
                <a:solidFill>
                  <a:schemeClr val="bg1"/>
                </a:solidFill>
                <a:latin typeface="BIZ UDPゴシック" panose="020B0400000000000000" pitchFamily="50" charset="-128"/>
                <a:ea typeface="BIZ UDPゴシック" panose="020B0400000000000000" pitchFamily="50" charset="-128"/>
              </a:rPr>
              <a:t>店舗参加型企画①</a:t>
            </a:r>
            <a:endParaRPr kumimoji="1" lang="en-US" altLang="ja-JP" dirty="0">
              <a:solidFill>
                <a:schemeClr val="bg1"/>
              </a:solidFill>
              <a:latin typeface="BIZ UDPゴシック" panose="020B0400000000000000" pitchFamily="50" charset="-128"/>
              <a:ea typeface="BIZ UDPゴシック" panose="020B0400000000000000" pitchFamily="50" charset="-128"/>
            </a:endParaRPr>
          </a:p>
        </p:txBody>
      </p:sp>
      <p:sp>
        <p:nvSpPr>
          <p:cNvPr id="2" name="楕円 1"/>
          <p:cNvSpPr/>
          <p:nvPr/>
        </p:nvSpPr>
        <p:spPr>
          <a:xfrm rot="21315981">
            <a:off x="1580724" y="1227311"/>
            <a:ext cx="1247420" cy="124742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pPr algn="ctr"/>
            <a:r>
              <a:rPr kumimoji="1" lang="ja-JP" altLang="en-US" sz="1400" dirty="0">
                <a:latin typeface="BIZ UDPゴシック" panose="020B0400000000000000" pitchFamily="50" charset="-128"/>
                <a:ea typeface="BIZ UDPゴシック" panose="020B0400000000000000" pitchFamily="50" charset="-128"/>
              </a:rPr>
              <a:t>前代未聞</a:t>
            </a:r>
            <a:r>
              <a:rPr kumimoji="1" lang="en-US" altLang="ja-JP" sz="1400" dirty="0">
                <a:latin typeface="BIZ UDPゴシック" panose="020B0400000000000000" pitchFamily="50" charset="-128"/>
                <a:ea typeface="BIZ UDPゴシック" panose="020B0400000000000000" pitchFamily="50" charset="-128"/>
              </a:rPr>
              <a:t>!?</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3" name="テキスト ボックス 2"/>
          <p:cNvSpPr txBox="1"/>
          <p:nvPr/>
        </p:nvSpPr>
        <p:spPr>
          <a:xfrm>
            <a:off x="2877487" y="1190971"/>
            <a:ext cx="2492990" cy="954107"/>
          </a:xfrm>
          <a:prstGeom prst="rect">
            <a:avLst/>
          </a:prstGeom>
          <a:noFill/>
        </p:spPr>
        <p:txBody>
          <a:bodyPr wrap="none" rtlCol="0">
            <a:spAutoFit/>
          </a:bodyPr>
          <a:lstStyle/>
          <a:p>
            <a:r>
              <a:rPr kumimoji="1" lang="ja-JP" altLang="en-US" sz="2800" dirty="0">
                <a:latin typeface="BIZ UDPゴシック" panose="020B0400000000000000" pitchFamily="50" charset="-128"/>
                <a:ea typeface="BIZ UDPゴシック" panose="020B0400000000000000" pitchFamily="50" charset="-128"/>
              </a:rPr>
              <a:t>エラベル</a:t>
            </a:r>
            <a:endParaRPr kumimoji="1" lang="en-US" altLang="ja-JP" sz="2800" dirty="0">
              <a:latin typeface="BIZ UDPゴシック" panose="020B0400000000000000" pitchFamily="50" charset="-128"/>
              <a:ea typeface="BIZ UDPゴシック" panose="020B0400000000000000" pitchFamily="50" charset="-128"/>
            </a:endParaRPr>
          </a:p>
          <a:p>
            <a:r>
              <a:rPr kumimoji="1" lang="ja-JP" altLang="en-US" sz="2800" dirty="0">
                <a:latin typeface="BIZ UDPゴシック" panose="020B0400000000000000" pitchFamily="50" charset="-128"/>
                <a:ea typeface="BIZ UDPゴシック" panose="020B0400000000000000" pitchFamily="50" charset="-128"/>
              </a:rPr>
              <a:t>スタンプラリー</a:t>
            </a:r>
          </a:p>
        </p:txBody>
      </p:sp>
      <p:sp>
        <p:nvSpPr>
          <p:cNvPr id="5" name="テキスト ボックス 4"/>
          <p:cNvSpPr txBox="1"/>
          <p:nvPr/>
        </p:nvSpPr>
        <p:spPr>
          <a:xfrm>
            <a:off x="5280536" y="1129415"/>
            <a:ext cx="1563248" cy="1015663"/>
          </a:xfrm>
          <a:prstGeom prst="rect">
            <a:avLst/>
          </a:prstGeom>
          <a:noFill/>
        </p:spPr>
        <p:txBody>
          <a:bodyPr wrap="none" rtlCol="0">
            <a:spAutoFit/>
          </a:bodyPr>
          <a:lstStyle/>
          <a:p>
            <a:r>
              <a:rPr kumimoji="1" lang="en-US" altLang="ja-JP" sz="6000" dirty="0">
                <a:latin typeface="BIZ UDPゴシック" panose="020B0400000000000000" pitchFamily="50" charset="-128"/>
                <a:ea typeface="BIZ UDPゴシック" panose="020B0400000000000000" pitchFamily="50" charset="-128"/>
              </a:rPr>
              <a:t>11</a:t>
            </a:r>
            <a:r>
              <a:rPr kumimoji="1" lang="ja-JP" altLang="en-US" sz="3200" dirty="0">
                <a:latin typeface="BIZ UDPゴシック" panose="020B0400000000000000" pitchFamily="50" charset="-128"/>
                <a:ea typeface="BIZ UDPゴシック" panose="020B0400000000000000" pitchFamily="50" charset="-128"/>
              </a:rPr>
              <a:t>種</a:t>
            </a:r>
          </a:p>
        </p:txBody>
      </p:sp>
      <p:sp>
        <p:nvSpPr>
          <p:cNvPr id="6" name="正方形/長方形 5"/>
          <p:cNvSpPr/>
          <p:nvPr/>
        </p:nvSpPr>
        <p:spPr>
          <a:xfrm>
            <a:off x="2877487" y="2123836"/>
            <a:ext cx="3877728" cy="4132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BIZ UDPゴシック" panose="020B0400000000000000" pitchFamily="50" charset="-128"/>
                <a:ea typeface="BIZ UDPゴシック" panose="020B0400000000000000" pitchFamily="50" charset="-128"/>
              </a:rPr>
              <a:t>イケそうな組み合わせを探して回るスタンプラリー</a:t>
            </a:r>
          </a:p>
        </p:txBody>
      </p:sp>
      <p:sp>
        <p:nvSpPr>
          <p:cNvPr id="7" name="テキスト ボックス 6"/>
          <p:cNvSpPr txBox="1"/>
          <p:nvPr/>
        </p:nvSpPr>
        <p:spPr>
          <a:xfrm>
            <a:off x="1968708" y="3531500"/>
            <a:ext cx="6532558" cy="1200329"/>
          </a:xfrm>
          <a:prstGeom prst="rect">
            <a:avLst/>
          </a:prstGeom>
          <a:noFill/>
        </p:spPr>
        <p:txBody>
          <a:bodyPr wrap="none" rtlCol="0">
            <a:spAutoFit/>
          </a:bodyPr>
          <a:lstStyle/>
          <a:p>
            <a:r>
              <a:rPr kumimoji="1" lang="ja-JP" altLang="en-US" sz="1200" dirty="0">
                <a:latin typeface="BIZ UDPゴシック" panose="020B0400000000000000" pitchFamily="50" charset="-128"/>
                <a:ea typeface="BIZ UDPゴシック" panose="020B0400000000000000" pitchFamily="50" charset="-128"/>
              </a:rPr>
              <a:t>①参加店舗を募り、</a:t>
            </a:r>
            <a:r>
              <a:rPr kumimoji="1" lang="en-US" altLang="ja-JP" sz="1200" dirty="0">
                <a:latin typeface="BIZ UDPゴシック" panose="020B0400000000000000" pitchFamily="50" charset="-128"/>
                <a:ea typeface="BIZ UDPゴシック" panose="020B0400000000000000" pitchFamily="50" charset="-128"/>
              </a:rPr>
              <a:t>11</a:t>
            </a:r>
            <a:r>
              <a:rPr kumimoji="1" lang="ja-JP" altLang="en-US" sz="1200" dirty="0">
                <a:latin typeface="BIZ UDPゴシック" panose="020B0400000000000000" pitchFamily="50" charset="-128"/>
                <a:ea typeface="BIZ UDPゴシック" panose="020B0400000000000000" pitchFamily="50" charset="-128"/>
              </a:rPr>
              <a:t>種類の組み合わせのスタンプラリーカードを制作します。</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②スタンプラリー</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枚の掲載店舗数は、</a:t>
            </a:r>
            <a:r>
              <a:rPr kumimoji="1" lang="en-US" altLang="ja-JP" sz="1200" dirty="0">
                <a:latin typeface="BIZ UDPゴシック" panose="020B0400000000000000" pitchFamily="50" charset="-128"/>
                <a:ea typeface="BIZ UDPゴシック" panose="020B0400000000000000" pitchFamily="50" charset="-128"/>
              </a:rPr>
              <a:t>11</a:t>
            </a:r>
            <a:r>
              <a:rPr kumimoji="1" lang="ja-JP" altLang="en-US" sz="1200" dirty="0">
                <a:latin typeface="BIZ UDPゴシック" panose="020B0400000000000000" pitchFamily="50" charset="-128"/>
                <a:ea typeface="BIZ UDPゴシック" panose="020B0400000000000000" pitchFamily="50" charset="-128"/>
              </a:rPr>
              <a:t>店舗。</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③参加店舗数によって複数掲載店を調整していきます。</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④スタンプラリー参加時に、お客さまに「イケそうな組み合わせのカード」を吟味していただき</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　スタンプラリーに参加いただきます。</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⑤ご利用いただいたスタンプラリーカードはキャンペーンブースで回収し、景品と引き換えます。</a:t>
            </a:r>
          </a:p>
        </p:txBody>
      </p:sp>
      <p:sp>
        <p:nvSpPr>
          <p:cNvPr id="8" name="テキスト ボックス 7"/>
          <p:cNvSpPr txBox="1"/>
          <p:nvPr/>
        </p:nvSpPr>
        <p:spPr>
          <a:xfrm>
            <a:off x="3845966" y="2890756"/>
            <a:ext cx="2214068" cy="276999"/>
          </a:xfrm>
          <a:prstGeom prst="rect">
            <a:avLst/>
          </a:prstGeom>
          <a:noFill/>
        </p:spPr>
        <p:txBody>
          <a:bodyPr wrap="none" rtlCol="0">
            <a:spAutoFit/>
          </a:bodyPr>
          <a:lstStyle/>
          <a:p>
            <a:r>
              <a:rPr kumimoji="1" lang="ja-JP" altLang="en-US" sz="1200" dirty="0">
                <a:latin typeface="BIZ UDPゴシック" panose="020B0400000000000000" pitchFamily="50" charset="-128"/>
                <a:ea typeface="BIZ UDPゴシック" panose="020B0400000000000000" pitchFamily="50" charset="-128"/>
              </a:rPr>
              <a:t>いろいろ比べて、吟味しよう！</a:t>
            </a:r>
          </a:p>
        </p:txBody>
      </p:sp>
    </p:spTree>
    <p:extLst>
      <p:ext uri="{BB962C8B-B14F-4D97-AF65-F5344CB8AC3E}">
        <p14:creationId xmlns:p14="http://schemas.microsoft.com/office/powerpoint/2010/main" val="4251023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65848" y="183777"/>
            <a:ext cx="3039615" cy="276999"/>
          </a:xfrm>
          <a:prstGeom prst="rect">
            <a:avLst/>
          </a:prstGeom>
          <a:noFill/>
        </p:spPr>
        <p:txBody>
          <a:bodyPr wrap="none" rtlCol="0">
            <a:spAutoFit/>
          </a:bodyPr>
          <a:lstStyle/>
          <a:p>
            <a:r>
              <a:rPr kumimoji="1" lang="en-US" altLang="ja-JP" sz="1200" dirty="0">
                <a:latin typeface="BIZ UDPゴシック" panose="020B0400000000000000" pitchFamily="50" charset="-128"/>
                <a:ea typeface="BIZ UDPゴシック" panose="020B0400000000000000" pitchFamily="50" charset="-128"/>
              </a:rPr>
              <a:t>【20210413</a:t>
            </a:r>
            <a:r>
              <a:rPr kumimoji="1" lang="ja-JP" altLang="en-US" sz="1200" dirty="0">
                <a:latin typeface="BIZ UDPゴシック" panose="020B0400000000000000" pitchFamily="50" charset="-128"/>
                <a:ea typeface="BIZ UDPゴシック" panose="020B0400000000000000" pitchFamily="50" charset="-128"/>
              </a:rPr>
              <a:t>イーアス</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周年企画アイデア</a:t>
            </a:r>
            <a:r>
              <a:rPr kumimoji="1" lang="en-US" altLang="ja-JP"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4" name="テキスト ボックス 13"/>
          <p:cNvSpPr txBox="1"/>
          <p:nvPr/>
        </p:nvSpPr>
        <p:spPr>
          <a:xfrm>
            <a:off x="286495" y="656033"/>
            <a:ext cx="2031325" cy="369332"/>
          </a:xfrm>
          <a:prstGeom prst="rect">
            <a:avLst/>
          </a:prstGeom>
          <a:solidFill>
            <a:schemeClr val="tx1">
              <a:lumMod val="50000"/>
              <a:lumOff val="50000"/>
            </a:schemeClr>
          </a:solidFill>
        </p:spPr>
        <p:txBody>
          <a:bodyPr wrap="none" rtlCol="0">
            <a:spAutoFit/>
          </a:bodyPr>
          <a:lstStyle/>
          <a:p>
            <a:r>
              <a:rPr kumimoji="1" lang="ja-JP" altLang="en-US" dirty="0">
                <a:solidFill>
                  <a:schemeClr val="bg1"/>
                </a:solidFill>
                <a:latin typeface="BIZ UDPゴシック" panose="020B0400000000000000" pitchFamily="50" charset="-128"/>
                <a:ea typeface="BIZ UDPゴシック" panose="020B0400000000000000" pitchFamily="50" charset="-128"/>
              </a:rPr>
              <a:t>店舗参加型企画②</a:t>
            </a:r>
            <a:endParaRPr kumimoji="1" lang="en-US" altLang="ja-JP" dirty="0">
              <a:solidFill>
                <a:schemeClr val="bg1"/>
              </a:solidFill>
              <a:latin typeface="BIZ UDPゴシック" panose="020B0400000000000000" pitchFamily="50" charset="-128"/>
              <a:ea typeface="BIZ UDPゴシック" panose="020B0400000000000000" pitchFamily="50" charset="-128"/>
            </a:endParaRPr>
          </a:p>
        </p:txBody>
      </p:sp>
      <p:sp>
        <p:nvSpPr>
          <p:cNvPr id="2" name="楕円 1"/>
          <p:cNvSpPr/>
          <p:nvPr/>
        </p:nvSpPr>
        <p:spPr>
          <a:xfrm rot="21315981">
            <a:off x="2300252" y="1207324"/>
            <a:ext cx="1247420" cy="124742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pPr algn="ctr"/>
            <a:r>
              <a:rPr kumimoji="1" lang="ja-JP" altLang="en-US" sz="1400" dirty="0">
                <a:latin typeface="BIZ UDPゴシック" panose="020B0400000000000000" pitchFamily="50" charset="-128"/>
                <a:ea typeface="BIZ UDPゴシック" panose="020B0400000000000000" pitchFamily="50" charset="-128"/>
              </a:rPr>
              <a:t>毎日</a:t>
            </a:r>
            <a:endParaRPr kumimoji="1" lang="en-US" altLang="ja-JP" sz="1400" dirty="0">
              <a:latin typeface="BIZ UDPゴシック" panose="020B0400000000000000" pitchFamily="50" charset="-128"/>
              <a:ea typeface="BIZ UDPゴシック" panose="020B0400000000000000" pitchFamily="50" charset="-128"/>
            </a:endParaRPr>
          </a:p>
          <a:p>
            <a:pPr algn="ctr"/>
            <a:r>
              <a:rPr kumimoji="1" lang="en-US" altLang="ja-JP" sz="1400" dirty="0">
                <a:latin typeface="BIZ UDPゴシック" panose="020B0400000000000000" pitchFamily="50" charset="-128"/>
                <a:ea typeface="BIZ UDPゴシック" panose="020B0400000000000000" pitchFamily="50" charset="-128"/>
              </a:rPr>
              <a:t>1</a:t>
            </a:r>
            <a:r>
              <a:rPr kumimoji="1" lang="ja-JP" altLang="en-US" sz="1400" dirty="0">
                <a:latin typeface="BIZ UDPゴシック" panose="020B0400000000000000" pitchFamily="50" charset="-128"/>
                <a:ea typeface="BIZ UDPゴシック" panose="020B0400000000000000" pitchFamily="50" charset="-128"/>
              </a:rPr>
              <a:t>商品限定</a:t>
            </a:r>
          </a:p>
        </p:txBody>
      </p:sp>
      <p:sp>
        <p:nvSpPr>
          <p:cNvPr id="3" name="テキスト ボックス 2"/>
          <p:cNvSpPr txBox="1"/>
          <p:nvPr/>
        </p:nvSpPr>
        <p:spPr>
          <a:xfrm>
            <a:off x="3597015" y="1170984"/>
            <a:ext cx="3477234" cy="1323439"/>
          </a:xfrm>
          <a:prstGeom prst="rect">
            <a:avLst/>
          </a:prstGeom>
          <a:noFill/>
        </p:spPr>
        <p:txBody>
          <a:bodyPr wrap="none" rtlCol="0">
            <a:spAutoFit/>
          </a:bodyPr>
          <a:lstStyle/>
          <a:p>
            <a:r>
              <a:rPr kumimoji="1" lang="ja-JP" altLang="en-US" sz="4000" dirty="0">
                <a:latin typeface="BIZ UDPゴシック" panose="020B0400000000000000" pitchFamily="50" charset="-128"/>
                <a:ea typeface="BIZ UDPゴシック" panose="020B0400000000000000" pitchFamily="50" charset="-128"/>
              </a:rPr>
              <a:t>日替り</a:t>
            </a:r>
            <a:endParaRPr kumimoji="1" lang="en-US" altLang="ja-JP" sz="4000" dirty="0">
              <a:latin typeface="BIZ UDPゴシック" panose="020B0400000000000000" pitchFamily="50" charset="-128"/>
              <a:ea typeface="BIZ UDPゴシック" panose="020B0400000000000000" pitchFamily="50" charset="-128"/>
            </a:endParaRPr>
          </a:p>
          <a:p>
            <a:r>
              <a:rPr kumimoji="1" lang="ja-JP" altLang="en-US" sz="4000" dirty="0">
                <a:latin typeface="BIZ UDPゴシック" panose="020B0400000000000000" pitchFamily="50" charset="-128"/>
                <a:ea typeface="BIZ UDPゴシック" panose="020B0400000000000000" pitchFamily="50" charset="-128"/>
              </a:rPr>
              <a:t>商品ルーレット</a:t>
            </a:r>
          </a:p>
        </p:txBody>
      </p:sp>
      <p:sp>
        <p:nvSpPr>
          <p:cNvPr id="7" name="テキスト ボックス 6"/>
          <p:cNvSpPr txBox="1"/>
          <p:nvPr/>
        </p:nvSpPr>
        <p:spPr>
          <a:xfrm>
            <a:off x="1494020" y="2916903"/>
            <a:ext cx="7116051" cy="1384995"/>
          </a:xfrm>
          <a:prstGeom prst="rect">
            <a:avLst/>
          </a:prstGeom>
          <a:noFill/>
        </p:spPr>
        <p:txBody>
          <a:bodyPr wrap="none" rtlCol="0">
            <a:spAutoFit/>
          </a:bodyPr>
          <a:lstStyle/>
          <a:p>
            <a:r>
              <a:rPr kumimoji="1" lang="ja-JP" altLang="en-US" sz="1200" dirty="0">
                <a:latin typeface="BIZ UDPゴシック" panose="020B0400000000000000" pitchFamily="50" charset="-128"/>
                <a:ea typeface="BIZ UDPゴシック" panose="020B0400000000000000" pitchFamily="50" charset="-128"/>
              </a:rPr>
              <a:t>①参加店舗を対象に実施します。</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②日替わり商品ルーレット対象商品を</a:t>
            </a:r>
            <a:r>
              <a:rPr kumimoji="1" lang="en-US" altLang="ja-JP" sz="1200" dirty="0">
                <a:latin typeface="BIZ UDPゴシック" panose="020B0400000000000000" pitchFamily="50" charset="-128"/>
                <a:ea typeface="BIZ UDPゴシック" panose="020B0400000000000000" pitchFamily="50" charset="-128"/>
              </a:rPr>
              <a:t>7</a:t>
            </a:r>
            <a:r>
              <a:rPr kumimoji="1" lang="ja-JP" altLang="en-US" sz="1200" dirty="0">
                <a:latin typeface="BIZ UDPゴシック" panose="020B0400000000000000" pitchFamily="50" charset="-128"/>
                <a:ea typeface="BIZ UDPゴシック" panose="020B0400000000000000" pitchFamily="50" charset="-128"/>
              </a:rPr>
              <a:t>種設定いただきます。</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③その</a:t>
            </a:r>
            <a:r>
              <a:rPr kumimoji="1" lang="en-US" altLang="ja-JP" sz="1200" dirty="0">
                <a:latin typeface="BIZ UDPゴシック" panose="020B0400000000000000" pitchFamily="50" charset="-128"/>
                <a:ea typeface="BIZ UDPゴシック" panose="020B0400000000000000" pitchFamily="50" charset="-128"/>
              </a:rPr>
              <a:t>7</a:t>
            </a:r>
            <a:r>
              <a:rPr kumimoji="1" lang="ja-JP" altLang="en-US" sz="1200" dirty="0">
                <a:latin typeface="BIZ UDPゴシック" panose="020B0400000000000000" pitchFamily="50" charset="-128"/>
                <a:ea typeface="BIZ UDPゴシック" panose="020B0400000000000000" pitchFamily="50" charset="-128"/>
              </a:rPr>
              <a:t>種を日替わり商品ルーレット割り当てます。</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④当該商品を購入した</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人目のお客さまを対象に、店舗が設定しておトクなサービスを提供します。</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　</a:t>
            </a:r>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次回利用できるクーポン発行や割引サービス、ポイント付与など</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⑤お客さまにヒントを出すために、当該商品が陳列されている棚やメニュー表には、</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　「日替わり商品ルーレットテープ」で囲っていただき、お買い物時のワクワク感を楽しんでいただきます。</a:t>
            </a:r>
          </a:p>
        </p:txBody>
      </p:sp>
      <p:sp>
        <p:nvSpPr>
          <p:cNvPr id="9" name="テキスト ボックス 8"/>
          <p:cNvSpPr txBox="1"/>
          <p:nvPr/>
        </p:nvSpPr>
        <p:spPr>
          <a:xfrm rot="597387">
            <a:off x="7105762" y="857411"/>
            <a:ext cx="369332" cy="2020746"/>
          </a:xfrm>
          <a:prstGeom prst="rect">
            <a:avLst/>
          </a:prstGeom>
          <a:noFill/>
        </p:spPr>
        <p:txBody>
          <a:bodyPr vert="eaVert" wrap="none" rtlCol="0">
            <a:spAutoFit/>
          </a:bodyPr>
          <a:lstStyle/>
          <a:p>
            <a:r>
              <a:rPr kumimoji="1" lang="ja-JP" altLang="en-US" sz="1200" dirty="0">
                <a:latin typeface="BIZ UDPゴシック" panose="020B0400000000000000" pitchFamily="50" charset="-128"/>
                <a:ea typeface="BIZ UDPゴシック" panose="020B0400000000000000" pitchFamily="50" charset="-128"/>
              </a:rPr>
              <a:t>最初のアナタがトクをする！</a:t>
            </a:r>
          </a:p>
        </p:txBody>
      </p:sp>
    </p:spTree>
    <p:extLst>
      <p:ext uri="{BB962C8B-B14F-4D97-AF65-F5344CB8AC3E}">
        <p14:creationId xmlns:p14="http://schemas.microsoft.com/office/powerpoint/2010/main" val="704523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65848" y="183777"/>
            <a:ext cx="3039615" cy="276999"/>
          </a:xfrm>
          <a:prstGeom prst="rect">
            <a:avLst/>
          </a:prstGeom>
          <a:noFill/>
        </p:spPr>
        <p:txBody>
          <a:bodyPr wrap="none" rtlCol="0">
            <a:spAutoFit/>
          </a:bodyPr>
          <a:lstStyle/>
          <a:p>
            <a:r>
              <a:rPr kumimoji="1" lang="en-US" altLang="ja-JP" sz="1200" dirty="0">
                <a:latin typeface="BIZ UDPゴシック" panose="020B0400000000000000" pitchFamily="50" charset="-128"/>
                <a:ea typeface="BIZ UDPゴシック" panose="020B0400000000000000" pitchFamily="50" charset="-128"/>
              </a:rPr>
              <a:t>【20210413</a:t>
            </a:r>
            <a:r>
              <a:rPr kumimoji="1" lang="ja-JP" altLang="en-US" sz="1200" dirty="0">
                <a:latin typeface="BIZ UDPゴシック" panose="020B0400000000000000" pitchFamily="50" charset="-128"/>
                <a:ea typeface="BIZ UDPゴシック" panose="020B0400000000000000" pitchFamily="50" charset="-128"/>
              </a:rPr>
              <a:t>イーアス</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周年企画アイデア</a:t>
            </a:r>
            <a:r>
              <a:rPr kumimoji="1" lang="en-US" altLang="ja-JP"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4" name="テキスト ボックス 13"/>
          <p:cNvSpPr txBox="1"/>
          <p:nvPr/>
        </p:nvSpPr>
        <p:spPr>
          <a:xfrm>
            <a:off x="286495" y="656033"/>
            <a:ext cx="2031325" cy="369332"/>
          </a:xfrm>
          <a:prstGeom prst="rect">
            <a:avLst/>
          </a:prstGeom>
          <a:solidFill>
            <a:schemeClr val="tx1">
              <a:lumMod val="50000"/>
              <a:lumOff val="50000"/>
            </a:schemeClr>
          </a:solidFill>
        </p:spPr>
        <p:txBody>
          <a:bodyPr wrap="none" rtlCol="0">
            <a:spAutoFit/>
          </a:bodyPr>
          <a:lstStyle/>
          <a:p>
            <a:r>
              <a:rPr kumimoji="1" lang="ja-JP" altLang="en-US" dirty="0">
                <a:solidFill>
                  <a:schemeClr val="bg1"/>
                </a:solidFill>
                <a:latin typeface="BIZ UDPゴシック" panose="020B0400000000000000" pitchFamily="50" charset="-128"/>
                <a:ea typeface="BIZ UDPゴシック" panose="020B0400000000000000" pitchFamily="50" charset="-128"/>
              </a:rPr>
              <a:t>店舗参加型企画③</a:t>
            </a:r>
            <a:endParaRPr kumimoji="1" lang="en-US" altLang="ja-JP" dirty="0">
              <a:solidFill>
                <a:schemeClr val="bg1"/>
              </a:solidFill>
              <a:latin typeface="BIZ UDPゴシック" panose="020B0400000000000000" pitchFamily="50" charset="-128"/>
              <a:ea typeface="BIZ UDPゴシック" panose="020B0400000000000000" pitchFamily="50" charset="-128"/>
            </a:endParaRPr>
          </a:p>
        </p:txBody>
      </p:sp>
      <p:sp>
        <p:nvSpPr>
          <p:cNvPr id="3" name="テキスト ボックス 2"/>
          <p:cNvSpPr txBox="1"/>
          <p:nvPr/>
        </p:nvSpPr>
        <p:spPr>
          <a:xfrm>
            <a:off x="2407761" y="1632688"/>
            <a:ext cx="5674951" cy="707886"/>
          </a:xfrm>
          <a:prstGeom prst="rect">
            <a:avLst/>
          </a:prstGeom>
          <a:noFill/>
        </p:spPr>
        <p:txBody>
          <a:bodyPr wrap="none" rtlCol="0">
            <a:spAutoFit/>
          </a:bodyPr>
          <a:lstStyle/>
          <a:p>
            <a:r>
              <a:rPr kumimoji="1" lang="en-US" altLang="ja-JP" sz="4000" dirty="0" err="1">
                <a:latin typeface="BIZ UDPゴシック" panose="020B0400000000000000" pitchFamily="50" charset="-128"/>
                <a:ea typeface="BIZ UDPゴシック" panose="020B0400000000000000" pitchFamily="50" charset="-128"/>
              </a:rPr>
              <a:t>iistagram</a:t>
            </a:r>
            <a:r>
              <a:rPr kumimoji="1" lang="ja-JP" altLang="en-US" sz="4000" dirty="0">
                <a:latin typeface="BIZ UDPゴシック" panose="020B0400000000000000" pitchFamily="50" charset="-128"/>
                <a:ea typeface="BIZ UDPゴシック" panose="020B0400000000000000" pitchFamily="50" charset="-128"/>
              </a:rPr>
              <a:t>キャンペーン</a:t>
            </a:r>
          </a:p>
        </p:txBody>
      </p:sp>
      <p:sp>
        <p:nvSpPr>
          <p:cNvPr id="7" name="テキスト ボックス 6"/>
          <p:cNvSpPr txBox="1"/>
          <p:nvPr/>
        </p:nvSpPr>
        <p:spPr>
          <a:xfrm>
            <a:off x="1349115" y="2427167"/>
            <a:ext cx="7524817" cy="646331"/>
          </a:xfrm>
          <a:prstGeom prst="rect">
            <a:avLst/>
          </a:prstGeom>
          <a:noFill/>
        </p:spPr>
        <p:txBody>
          <a:bodyPr wrap="none" rtlCol="0">
            <a:spAutoFit/>
          </a:bodyPr>
          <a:lstStyle/>
          <a:p>
            <a:r>
              <a:rPr kumimoji="1" lang="ja-JP" altLang="en-US" sz="1200" dirty="0">
                <a:latin typeface="BIZ UDPゴシック" panose="020B0400000000000000" pitchFamily="50" charset="-128"/>
                <a:ea typeface="BIZ UDPゴシック" panose="020B0400000000000000" pitchFamily="50" charset="-128"/>
              </a:rPr>
              <a:t>期間中、</a:t>
            </a:r>
            <a:r>
              <a:rPr kumimoji="1" lang="en-US" altLang="ja-JP" sz="1200" dirty="0" err="1">
                <a:latin typeface="BIZ UDPゴシック" panose="020B0400000000000000" pitchFamily="50" charset="-128"/>
                <a:ea typeface="BIZ UDPゴシック" panose="020B0400000000000000" pitchFamily="50" charset="-128"/>
              </a:rPr>
              <a:t>iias</a:t>
            </a:r>
            <a:r>
              <a:rPr kumimoji="1" lang="ja-JP" altLang="en-US" sz="1200" dirty="0">
                <a:latin typeface="BIZ UDPゴシック" panose="020B0400000000000000" pitchFamily="50" charset="-128"/>
                <a:ea typeface="BIZ UDPゴシック" panose="020B0400000000000000" pitchFamily="50" charset="-128"/>
              </a:rPr>
              <a:t>内対象店舗で、「いいね！」と感じた店舗や商品の写真を撮影いただき、</a:t>
            </a:r>
            <a:endParaRPr kumimoji="1" lang="en-US" altLang="ja-JP" sz="1200" dirty="0">
              <a:latin typeface="BIZ UDPゴシック" panose="020B0400000000000000" pitchFamily="50" charset="-128"/>
              <a:ea typeface="BIZ UDPゴシック" panose="020B0400000000000000" pitchFamily="50" charset="-128"/>
            </a:endParaRPr>
          </a:p>
          <a:p>
            <a:r>
              <a:rPr kumimoji="1" lang="en-US" altLang="ja-JP" sz="1200" dirty="0">
                <a:latin typeface="BIZ UDPゴシック" panose="020B0400000000000000" pitchFamily="50" charset="-128"/>
                <a:ea typeface="BIZ UDPゴシック" panose="020B0400000000000000" pitchFamily="50" charset="-128"/>
              </a:rPr>
              <a:t>Instagram</a:t>
            </a:r>
            <a:r>
              <a:rPr kumimoji="1" lang="ja-JP" altLang="en-US" sz="1200" dirty="0">
                <a:latin typeface="BIZ UDPゴシック" panose="020B0400000000000000" pitchFamily="50" charset="-128"/>
                <a:ea typeface="BIZ UDPゴシック" panose="020B0400000000000000" pitchFamily="50" charset="-128"/>
              </a:rPr>
              <a:t>にて「</a:t>
            </a:r>
            <a:r>
              <a:rPr kumimoji="1" lang="en-US" altLang="ja-JP" sz="1200" dirty="0">
                <a:latin typeface="BIZ UDPゴシック" panose="020B0400000000000000" pitchFamily="50" charset="-128"/>
                <a:ea typeface="BIZ UDPゴシック" panose="020B0400000000000000" pitchFamily="50" charset="-128"/>
              </a:rPr>
              <a:t>#iias1</a:t>
            </a:r>
            <a:r>
              <a:rPr kumimoji="1" lang="ja-JP" altLang="en-US" sz="1200" dirty="0">
                <a:latin typeface="BIZ UDPゴシック" panose="020B0400000000000000" pitchFamily="50" charset="-128"/>
                <a:ea typeface="BIZ UDPゴシック" panose="020B0400000000000000" pitchFamily="50" charset="-128"/>
              </a:rPr>
              <a:t>周年」「</a:t>
            </a:r>
            <a:r>
              <a:rPr kumimoji="1" lang="en-US" altLang="ja-JP" sz="1200" dirty="0">
                <a:latin typeface="BIZ UDPゴシック" panose="020B0400000000000000" pitchFamily="50" charset="-128"/>
                <a:ea typeface="BIZ UDPゴシック" panose="020B0400000000000000" pitchFamily="50" charset="-128"/>
              </a:rPr>
              <a:t>#</a:t>
            </a:r>
            <a:r>
              <a:rPr kumimoji="1" lang="en-US" altLang="ja-JP" sz="1200" dirty="0" err="1">
                <a:latin typeface="BIZ UDPゴシック" panose="020B0400000000000000" pitchFamily="50" charset="-128"/>
                <a:ea typeface="BIZ UDPゴシック" panose="020B0400000000000000" pitchFamily="50" charset="-128"/>
              </a:rPr>
              <a:t>iistagram</a:t>
            </a:r>
            <a:r>
              <a:rPr kumimoji="1" lang="ja-JP" altLang="en-US" sz="1200" dirty="0">
                <a:latin typeface="BIZ UDPゴシック" panose="020B0400000000000000" pitchFamily="50" charset="-128"/>
                <a:ea typeface="BIZ UDPゴシック" panose="020B0400000000000000" pitchFamily="50" charset="-128"/>
              </a:rPr>
              <a:t>キャンペーン」「</a:t>
            </a:r>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店舗名」と写真を投稿いただいた方の中から、</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素敵な投稿をしていただいた方、</a:t>
            </a:r>
            <a:r>
              <a:rPr kumimoji="1" lang="en-US" altLang="ja-JP" sz="1200" dirty="0">
                <a:latin typeface="BIZ UDPゴシック" panose="020B0400000000000000" pitchFamily="50" charset="-128"/>
                <a:ea typeface="BIZ UDPゴシック" panose="020B0400000000000000" pitchFamily="50" charset="-128"/>
              </a:rPr>
              <a:t>111</a:t>
            </a:r>
            <a:r>
              <a:rPr kumimoji="1" lang="ja-JP" altLang="en-US" sz="1200" dirty="0">
                <a:latin typeface="BIZ UDPゴシック" panose="020B0400000000000000" pitchFamily="50" charset="-128"/>
                <a:ea typeface="BIZ UDPゴシック" panose="020B0400000000000000" pitchFamily="50" charset="-128"/>
              </a:rPr>
              <a:t>名様に</a:t>
            </a:r>
            <a:r>
              <a:rPr kumimoji="1" lang="en-US" altLang="ja-JP" sz="1200" dirty="0" err="1">
                <a:latin typeface="BIZ UDPゴシック" panose="020B0400000000000000" pitchFamily="50" charset="-128"/>
                <a:ea typeface="BIZ UDPゴシック" panose="020B0400000000000000" pitchFamily="50" charset="-128"/>
              </a:rPr>
              <a:t>iias</a:t>
            </a:r>
            <a:r>
              <a:rPr kumimoji="1" lang="ja-JP" altLang="en-US" sz="1200" dirty="0">
                <a:latin typeface="BIZ UDPゴシック" panose="020B0400000000000000" pitchFamily="50" charset="-128"/>
                <a:ea typeface="BIZ UDPゴシック" panose="020B0400000000000000" pitchFamily="50" charset="-128"/>
              </a:rPr>
              <a:t>商品券</a:t>
            </a:r>
            <a:r>
              <a:rPr kumimoji="1" lang="en-US" altLang="ja-JP" sz="1200" dirty="0">
                <a:latin typeface="BIZ UDPゴシック" panose="020B0400000000000000" pitchFamily="50" charset="-128"/>
                <a:ea typeface="BIZ UDPゴシック" panose="020B0400000000000000" pitchFamily="50" charset="-128"/>
              </a:rPr>
              <a:t>1,000</a:t>
            </a:r>
            <a:r>
              <a:rPr kumimoji="1" lang="ja-JP" altLang="en-US" sz="1200" dirty="0">
                <a:latin typeface="BIZ UDPゴシック" panose="020B0400000000000000" pitchFamily="50" charset="-128"/>
                <a:ea typeface="BIZ UDPゴシック" panose="020B0400000000000000" pitchFamily="50" charset="-128"/>
              </a:rPr>
              <a:t>円分をプレゼント！</a:t>
            </a:r>
          </a:p>
        </p:txBody>
      </p:sp>
      <p:sp>
        <p:nvSpPr>
          <p:cNvPr id="5" name="円形吹き出し 4"/>
          <p:cNvSpPr/>
          <p:nvPr/>
        </p:nvSpPr>
        <p:spPr>
          <a:xfrm>
            <a:off x="1221971" y="1235448"/>
            <a:ext cx="1185790" cy="794479"/>
          </a:xfrm>
          <a:prstGeom prst="wedgeEllipseCallout">
            <a:avLst>
              <a:gd name="adj1" fmla="val 41953"/>
              <a:gd name="adj2" fmla="val 51808"/>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pPr algn="ctr"/>
            <a:r>
              <a:rPr kumimoji="1" lang="en-US" altLang="ja-JP" sz="1200" dirty="0" err="1">
                <a:latin typeface="BIZ UDPゴシック" panose="020B0400000000000000" pitchFamily="50" charset="-128"/>
                <a:ea typeface="BIZ UDPゴシック" panose="020B0400000000000000" pitchFamily="50" charset="-128"/>
              </a:rPr>
              <a:t>iias</a:t>
            </a:r>
            <a:r>
              <a:rPr kumimoji="1" lang="ja-JP" altLang="en-US" sz="1200" dirty="0">
                <a:latin typeface="BIZ UDPゴシック" panose="020B0400000000000000" pitchFamily="50" charset="-128"/>
                <a:ea typeface="BIZ UDPゴシック" panose="020B0400000000000000" pitchFamily="50" charset="-128"/>
              </a:rPr>
              <a:t>だけに</a:t>
            </a:r>
          </a:p>
        </p:txBody>
      </p:sp>
      <p:sp>
        <p:nvSpPr>
          <p:cNvPr id="6" name="テキスト ボックス 5"/>
          <p:cNvSpPr txBox="1"/>
          <p:nvPr/>
        </p:nvSpPr>
        <p:spPr>
          <a:xfrm>
            <a:off x="807162" y="3429000"/>
            <a:ext cx="8876148" cy="1015663"/>
          </a:xfrm>
          <a:prstGeom prst="rect">
            <a:avLst/>
          </a:prstGeom>
          <a:noFill/>
        </p:spPr>
        <p:txBody>
          <a:bodyPr wrap="none" rtlCol="0">
            <a:spAutoFit/>
          </a:bodyPr>
          <a:lstStyle/>
          <a:p>
            <a:r>
              <a:rPr kumimoji="1" lang="en-US" altLang="ja-JP" sz="1200" dirty="0">
                <a:latin typeface="BIZ UDPゴシック" panose="020B0400000000000000" pitchFamily="50" charset="-128"/>
                <a:ea typeface="BIZ UDPゴシック" panose="020B0400000000000000" pitchFamily="50" charset="-128"/>
              </a:rPr>
              <a:t>※Instagram</a:t>
            </a:r>
            <a:r>
              <a:rPr kumimoji="1" lang="ja-JP" altLang="en-US" sz="1200" dirty="0">
                <a:latin typeface="BIZ UDPゴシック" panose="020B0400000000000000" pitchFamily="50" charset="-128"/>
                <a:ea typeface="BIZ UDPゴシック" panose="020B0400000000000000" pitchFamily="50" charset="-128"/>
              </a:rPr>
              <a:t>のルール上、現在「抽選で」という表現は</a:t>
            </a:r>
            <a:r>
              <a:rPr kumimoji="1" lang="en-US" altLang="ja-JP" sz="1200" dirty="0">
                <a:latin typeface="BIZ UDPゴシック" panose="020B0400000000000000" pitchFamily="50" charset="-128"/>
                <a:ea typeface="BIZ UDPゴシック" panose="020B0400000000000000" pitchFamily="50" charset="-128"/>
              </a:rPr>
              <a:t>NG</a:t>
            </a:r>
            <a:r>
              <a:rPr kumimoji="1" lang="ja-JP" altLang="en-US" sz="1200" dirty="0">
                <a:latin typeface="BIZ UDPゴシック" panose="020B0400000000000000" pitchFamily="50" charset="-128"/>
                <a:ea typeface="BIZ UDPゴシック" panose="020B0400000000000000" pitchFamily="50" charset="-128"/>
              </a:rPr>
              <a:t>となっています。</a:t>
            </a:r>
            <a:endParaRPr kumimoji="1" lang="en-US" altLang="ja-JP" sz="1200" dirty="0">
              <a:latin typeface="BIZ UDPゴシック" panose="020B0400000000000000" pitchFamily="50" charset="-128"/>
              <a:ea typeface="BIZ UDPゴシック" panose="020B0400000000000000" pitchFamily="50" charset="-128"/>
            </a:endParaRPr>
          </a:p>
          <a:p>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購入せずに応募でき、且つ来店が条件となっているので景表法が適用され総付け抽選に該当。</a:t>
            </a:r>
            <a:endParaRPr kumimoji="1" lang="en-US" altLang="ja-JP" sz="1200" dirty="0">
              <a:latin typeface="BIZ UDPゴシック" panose="020B0400000000000000" pitchFamily="50" charset="-128"/>
              <a:ea typeface="BIZ UDPゴシック" panose="020B0400000000000000" pitchFamily="50" charset="-128"/>
            </a:endParaRPr>
          </a:p>
          <a:p>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上記の場合、購入せずとも対象店舗内商品の最低取引価額が基準となる。</a:t>
            </a:r>
            <a:endParaRPr kumimoji="1" lang="en-US" altLang="ja-JP" sz="1200" dirty="0">
              <a:latin typeface="BIZ UDPゴシック" panose="020B0400000000000000" pitchFamily="50" charset="-128"/>
              <a:ea typeface="BIZ UDPゴシック" panose="020B0400000000000000" pitchFamily="50" charset="-128"/>
            </a:endParaRPr>
          </a:p>
          <a:p>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この場合の最低取引価額は、</a:t>
            </a:r>
            <a:r>
              <a:rPr kumimoji="1" lang="en-US" altLang="ja-JP" sz="1200" dirty="0">
                <a:latin typeface="BIZ UDPゴシック" panose="020B0400000000000000" pitchFamily="50" charset="-128"/>
                <a:ea typeface="BIZ UDPゴシック" panose="020B0400000000000000" pitchFamily="50" charset="-128"/>
              </a:rPr>
              <a:t>100</a:t>
            </a:r>
            <a:r>
              <a:rPr kumimoji="1" lang="ja-JP" altLang="en-US" sz="1200" dirty="0">
                <a:latin typeface="BIZ UDPゴシック" panose="020B0400000000000000" pitchFamily="50" charset="-128"/>
                <a:ea typeface="BIZ UDPゴシック" panose="020B0400000000000000" pitchFamily="50" charset="-128"/>
              </a:rPr>
              <a:t>円に設定されているので、全ての参加店舗が参加できるように最低取引価額を</a:t>
            </a:r>
            <a:r>
              <a:rPr kumimoji="1" lang="en-US" altLang="ja-JP" sz="1200" dirty="0">
                <a:latin typeface="BIZ UDPゴシック" panose="020B0400000000000000" pitchFamily="50" charset="-128"/>
                <a:ea typeface="BIZ UDPゴシック" panose="020B0400000000000000" pitchFamily="50" charset="-128"/>
              </a:rPr>
              <a:t>100</a:t>
            </a:r>
            <a:r>
              <a:rPr kumimoji="1" lang="ja-JP" altLang="en-US" sz="1200" dirty="0">
                <a:latin typeface="BIZ UDPゴシック" panose="020B0400000000000000" pitchFamily="50" charset="-128"/>
                <a:ea typeface="BIZ UDPゴシック" panose="020B0400000000000000" pitchFamily="50" charset="-128"/>
              </a:rPr>
              <a:t>円に想定。</a:t>
            </a:r>
            <a:endParaRPr kumimoji="1" lang="en-US" altLang="ja-JP" sz="1200" dirty="0">
              <a:latin typeface="BIZ UDPゴシック" panose="020B0400000000000000" pitchFamily="50" charset="-128"/>
              <a:ea typeface="BIZ UDPゴシック" panose="020B0400000000000000" pitchFamily="50" charset="-128"/>
            </a:endParaRPr>
          </a:p>
          <a:p>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総付け＆抽選になるので、最低取引価額</a:t>
            </a:r>
            <a:r>
              <a:rPr kumimoji="1" lang="en-US" altLang="ja-JP" sz="1200" dirty="0">
                <a:latin typeface="BIZ UDPゴシック" panose="020B0400000000000000" pitchFamily="50" charset="-128"/>
                <a:ea typeface="BIZ UDPゴシック" panose="020B0400000000000000" pitchFamily="50" charset="-128"/>
              </a:rPr>
              <a:t>100</a:t>
            </a:r>
            <a:r>
              <a:rPr kumimoji="1" lang="ja-JP" altLang="en-US" sz="1200" dirty="0">
                <a:latin typeface="BIZ UDPゴシック" panose="020B0400000000000000" pitchFamily="50" charset="-128"/>
                <a:ea typeface="BIZ UDPゴシック" panose="020B0400000000000000" pitchFamily="50" charset="-128"/>
              </a:rPr>
              <a:t>円</a:t>
            </a:r>
            <a:r>
              <a:rPr kumimoji="1" lang="en-US" altLang="ja-JP" sz="1200" dirty="0">
                <a:latin typeface="BIZ UDPゴシック" panose="020B0400000000000000" pitchFamily="50" charset="-128"/>
                <a:ea typeface="BIZ UDPゴシック" panose="020B0400000000000000" pitchFamily="50" charset="-128"/>
              </a:rPr>
              <a:t>×20</a:t>
            </a:r>
            <a:r>
              <a:rPr kumimoji="1" lang="ja-JP" altLang="en-US" sz="1200" dirty="0">
                <a:latin typeface="BIZ UDPゴシック" panose="020B0400000000000000" pitchFamily="50" charset="-128"/>
                <a:ea typeface="BIZ UDPゴシック" panose="020B0400000000000000" pitchFamily="50" charset="-128"/>
              </a:rPr>
              <a:t>倍</a:t>
            </a:r>
            <a:r>
              <a:rPr kumimoji="1" lang="en-US" altLang="ja-JP" sz="1200" dirty="0">
                <a:latin typeface="BIZ UDPゴシック" panose="020B0400000000000000" pitchFamily="50" charset="-128"/>
                <a:ea typeface="BIZ UDPゴシック" panose="020B0400000000000000" pitchFamily="50" charset="-128"/>
              </a:rPr>
              <a:t>=2,000</a:t>
            </a:r>
            <a:r>
              <a:rPr kumimoji="1" lang="ja-JP" altLang="en-US" sz="1200" dirty="0">
                <a:latin typeface="BIZ UDPゴシック" panose="020B0400000000000000" pitchFamily="50" charset="-128"/>
                <a:ea typeface="BIZ UDPゴシック" panose="020B0400000000000000" pitchFamily="50" charset="-128"/>
              </a:rPr>
              <a:t>円（税込）が、</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人当たりの上限景品価額となります。</a:t>
            </a:r>
          </a:p>
        </p:txBody>
      </p:sp>
    </p:spTree>
    <p:extLst>
      <p:ext uri="{BB962C8B-B14F-4D97-AF65-F5344CB8AC3E}">
        <p14:creationId xmlns:p14="http://schemas.microsoft.com/office/powerpoint/2010/main" val="3156038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65848" y="183777"/>
            <a:ext cx="3039615" cy="276999"/>
          </a:xfrm>
          <a:prstGeom prst="rect">
            <a:avLst/>
          </a:prstGeom>
          <a:noFill/>
        </p:spPr>
        <p:txBody>
          <a:bodyPr wrap="none" rtlCol="0">
            <a:spAutoFit/>
          </a:bodyPr>
          <a:lstStyle/>
          <a:p>
            <a:r>
              <a:rPr kumimoji="1" lang="en-US" altLang="ja-JP" sz="1200" dirty="0">
                <a:latin typeface="BIZ UDPゴシック" panose="020B0400000000000000" pitchFamily="50" charset="-128"/>
                <a:ea typeface="BIZ UDPゴシック" panose="020B0400000000000000" pitchFamily="50" charset="-128"/>
              </a:rPr>
              <a:t>【20210413</a:t>
            </a:r>
            <a:r>
              <a:rPr kumimoji="1" lang="ja-JP" altLang="en-US" sz="1200" dirty="0">
                <a:latin typeface="BIZ UDPゴシック" panose="020B0400000000000000" pitchFamily="50" charset="-128"/>
                <a:ea typeface="BIZ UDPゴシック" panose="020B0400000000000000" pitchFamily="50" charset="-128"/>
              </a:rPr>
              <a:t>イーアス</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周年企画アイデア</a:t>
            </a:r>
            <a:r>
              <a:rPr kumimoji="1" lang="en-US" altLang="ja-JP"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4" name="テキスト ボックス 13"/>
          <p:cNvSpPr txBox="1"/>
          <p:nvPr/>
        </p:nvSpPr>
        <p:spPr>
          <a:xfrm>
            <a:off x="286495" y="656033"/>
            <a:ext cx="2031325" cy="369332"/>
          </a:xfrm>
          <a:prstGeom prst="rect">
            <a:avLst/>
          </a:prstGeom>
          <a:solidFill>
            <a:schemeClr val="tx1">
              <a:lumMod val="50000"/>
              <a:lumOff val="50000"/>
            </a:schemeClr>
          </a:solidFill>
        </p:spPr>
        <p:txBody>
          <a:bodyPr wrap="none" rtlCol="0">
            <a:spAutoFit/>
          </a:bodyPr>
          <a:lstStyle/>
          <a:p>
            <a:r>
              <a:rPr kumimoji="1" lang="ja-JP" altLang="en-US" dirty="0">
                <a:solidFill>
                  <a:schemeClr val="bg1"/>
                </a:solidFill>
                <a:latin typeface="BIZ UDPゴシック" panose="020B0400000000000000" pitchFamily="50" charset="-128"/>
                <a:ea typeface="BIZ UDPゴシック" panose="020B0400000000000000" pitchFamily="50" charset="-128"/>
              </a:rPr>
              <a:t>店舗参加型企画④</a:t>
            </a:r>
            <a:endParaRPr kumimoji="1" lang="en-US" altLang="ja-JP" dirty="0">
              <a:solidFill>
                <a:schemeClr val="bg1"/>
              </a:solidFill>
              <a:latin typeface="BIZ UDPゴシック" panose="020B0400000000000000" pitchFamily="50" charset="-128"/>
              <a:ea typeface="BIZ UDPゴシック" panose="020B0400000000000000" pitchFamily="50" charset="-128"/>
            </a:endParaRPr>
          </a:p>
        </p:txBody>
      </p:sp>
      <p:sp>
        <p:nvSpPr>
          <p:cNvPr id="3" name="テキスト ボックス 2"/>
          <p:cNvSpPr txBox="1"/>
          <p:nvPr/>
        </p:nvSpPr>
        <p:spPr>
          <a:xfrm>
            <a:off x="1402627" y="1813893"/>
            <a:ext cx="6910866" cy="1323439"/>
          </a:xfrm>
          <a:prstGeom prst="rect">
            <a:avLst/>
          </a:prstGeom>
          <a:noFill/>
        </p:spPr>
        <p:txBody>
          <a:bodyPr wrap="none" rtlCol="0">
            <a:spAutoFit/>
          </a:bodyPr>
          <a:lstStyle/>
          <a:p>
            <a:r>
              <a:rPr kumimoji="1" lang="ja-JP" altLang="en-US" sz="4000" dirty="0">
                <a:latin typeface="BIZ UDPゴシック" panose="020B0400000000000000" pitchFamily="50" charset="-128"/>
                <a:ea typeface="BIZ UDPゴシック" panose="020B0400000000000000" pitchFamily="50" charset="-128"/>
              </a:rPr>
              <a:t>数量限定</a:t>
            </a:r>
            <a:endParaRPr kumimoji="1" lang="en-US" altLang="ja-JP" sz="4000" dirty="0">
              <a:latin typeface="BIZ UDPゴシック" panose="020B0400000000000000" pitchFamily="50" charset="-128"/>
              <a:ea typeface="BIZ UDPゴシック" panose="020B0400000000000000" pitchFamily="50" charset="-128"/>
            </a:endParaRPr>
          </a:p>
          <a:p>
            <a:r>
              <a:rPr kumimoji="1" lang="en-US" altLang="ja-JP" sz="4000" dirty="0">
                <a:latin typeface="BIZ UDPゴシック" panose="020B0400000000000000" pitchFamily="50" charset="-128"/>
                <a:ea typeface="BIZ UDPゴシック" panose="020B0400000000000000" pitchFamily="50" charset="-128"/>
              </a:rPr>
              <a:t>1</a:t>
            </a:r>
            <a:r>
              <a:rPr kumimoji="1" lang="ja-JP" altLang="en-US" sz="4000" dirty="0">
                <a:latin typeface="BIZ UDPゴシック" panose="020B0400000000000000" pitchFamily="50" charset="-128"/>
                <a:ea typeface="BIZ UDPゴシック" panose="020B0400000000000000" pitchFamily="50" charset="-128"/>
              </a:rPr>
              <a:t>週間日替わりおトク商品企画</a:t>
            </a:r>
          </a:p>
        </p:txBody>
      </p:sp>
      <p:sp>
        <p:nvSpPr>
          <p:cNvPr id="7" name="テキスト ボックス 6"/>
          <p:cNvSpPr txBox="1"/>
          <p:nvPr/>
        </p:nvSpPr>
        <p:spPr>
          <a:xfrm>
            <a:off x="2279163" y="3303907"/>
            <a:ext cx="4863832" cy="830997"/>
          </a:xfrm>
          <a:prstGeom prst="rect">
            <a:avLst/>
          </a:prstGeom>
          <a:noFill/>
        </p:spPr>
        <p:txBody>
          <a:bodyPr wrap="none" rtlCol="0">
            <a:spAutoFit/>
          </a:bodyPr>
          <a:lstStyle/>
          <a:p>
            <a:r>
              <a:rPr kumimoji="1" lang="ja-JP" altLang="en-US" sz="1200" dirty="0">
                <a:latin typeface="BIZ UDPゴシック" panose="020B0400000000000000" pitchFamily="50" charset="-128"/>
                <a:ea typeface="BIZ UDPゴシック" panose="020B0400000000000000" pitchFamily="50" charset="-128"/>
              </a:rPr>
              <a:t>参加店舗ごとの商品企画となります。</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数量限定で</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週間の日替わりおトク商品を設定していただき、</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「日替わり商品表」をつくり、事前に</a:t>
            </a:r>
            <a:r>
              <a:rPr kumimoji="1" lang="en-US" altLang="ja-JP" sz="1200" dirty="0">
                <a:latin typeface="BIZ UDPゴシック" panose="020B0400000000000000" pitchFamily="50" charset="-128"/>
                <a:ea typeface="BIZ UDPゴシック" panose="020B0400000000000000" pitchFamily="50" charset="-128"/>
              </a:rPr>
              <a:t>WEB</a:t>
            </a:r>
            <a:r>
              <a:rPr kumimoji="1" lang="ja-JP" altLang="en-US" sz="1200" dirty="0">
                <a:latin typeface="BIZ UDPゴシック" panose="020B0400000000000000" pitchFamily="50" charset="-128"/>
                <a:ea typeface="BIZ UDPゴシック" panose="020B0400000000000000" pitchFamily="50" charset="-128"/>
              </a:rPr>
              <a:t>や店頭でリリースすることで、</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周年</a:t>
            </a:r>
            <a:r>
              <a:rPr kumimoji="1" lang="en-US" altLang="ja-JP" sz="1200" dirty="0">
                <a:latin typeface="BIZ UDPゴシック" panose="020B0400000000000000" pitchFamily="50" charset="-128"/>
                <a:ea typeface="BIZ UDPゴシック" panose="020B0400000000000000" pitchFamily="50" charset="-128"/>
              </a:rPr>
              <a:t>WEEK</a:t>
            </a:r>
            <a:r>
              <a:rPr kumimoji="1" lang="ja-JP" altLang="en-US" sz="1200" dirty="0">
                <a:latin typeface="BIZ UDPゴシック" panose="020B0400000000000000" pitchFamily="50" charset="-128"/>
                <a:ea typeface="BIZ UDPゴシック" panose="020B0400000000000000" pitchFamily="50" charset="-128"/>
              </a:rPr>
              <a:t>のワクワク感を前もって醸成していきます。</a:t>
            </a:r>
          </a:p>
        </p:txBody>
      </p:sp>
    </p:spTree>
    <p:extLst>
      <p:ext uri="{BB962C8B-B14F-4D97-AF65-F5344CB8AC3E}">
        <p14:creationId xmlns:p14="http://schemas.microsoft.com/office/powerpoint/2010/main" val="2507211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65848" y="183777"/>
            <a:ext cx="3039615" cy="276999"/>
          </a:xfrm>
          <a:prstGeom prst="rect">
            <a:avLst/>
          </a:prstGeom>
          <a:noFill/>
        </p:spPr>
        <p:txBody>
          <a:bodyPr wrap="none" rtlCol="0">
            <a:spAutoFit/>
          </a:bodyPr>
          <a:lstStyle/>
          <a:p>
            <a:r>
              <a:rPr kumimoji="1" lang="en-US" altLang="ja-JP" sz="1200" dirty="0">
                <a:latin typeface="BIZ UDPゴシック" panose="020B0400000000000000" pitchFamily="50" charset="-128"/>
                <a:ea typeface="BIZ UDPゴシック" panose="020B0400000000000000" pitchFamily="50" charset="-128"/>
              </a:rPr>
              <a:t>【20210413</a:t>
            </a:r>
            <a:r>
              <a:rPr kumimoji="1" lang="ja-JP" altLang="en-US" sz="1200" dirty="0">
                <a:latin typeface="BIZ UDPゴシック" panose="020B0400000000000000" pitchFamily="50" charset="-128"/>
                <a:ea typeface="BIZ UDPゴシック" panose="020B0400000000000000" pitchFamily="50" charset="-128"/>
              </a:rPr>
              <a:t>イーアス</a:t>
            </a:r>
            <a:r>
              <a:rPr kumimoji="1" lang="en-US" altLang="ja-JP" sz="1200" dirty="0">
                <a:latin typeface="BIZ UDPゴシック" panose="020B0400000000000000" pitchFamily="50" charset="-128"/>
                <a:ea typeface="BIZ UDPゴシック" panose="020B0400000000000000" pitchFamily="50" charset="-128"/>
              </a:rPr>
              <a:t>1</a:t>
            </a:r>
            <a:r>
              <a:rPr kumimoji="1" lang="ja-JP" altLang="en-US" sz="1200" dirty="0">
                <a:latin typeface="BIZ UDPゴシック" panose="020B0400000000000000" pitchFamily="50" charset="-128"/>
                <a:ea typeface="BIZ UDPゴシック" panose="020B0400000000000000" pitchFamily="50" charset="-128"/>
              </a:rPr>
              <a:t>周年企画アイデア</a:t>
            </a:r>
            <a:r>
              <a:rPr kumimoji="1" lang="en-US" altLang="ja-JP"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4" name="テキスト ボックス 13"/>
          <p:cNvSpPr txBox="1"/>
          <p:nvPr/>
        </p:nvSpPr>
        <p:spPr>
          <a:xfrm>
            <a:off x="286495" y="656033"/>
            <a:ext cx="857927" cy="369332"/>
          </a:xfrm>
          <a:prstGeom prst="rect">
            <a:avLst/>
          </a:prstGeom>
          <a:solidFill>
            <a:schemeClr val="tx1">
              <a:lumMod val="50000"/>
              <a:lumOff val="50000"/>
            </a:schemeClr>
          </a:solidFill>
        </p:spPr>
        <p:txBody>
          <a:bodyPr wrap="none" rtlCol="0">
            <a:spAutoFit/>
          </a:bodyPr>
          <a:lstStyle/>
          <a:p>
            <a:r>
              <a:rPr kumimoji="1" lang="ja-JP" altLang="en-US" dirty="0">
                <a:solidFill>
                  <a:schemeClr val="bg1"/>
                </a:solidFill>
                <a:latin typeface="BIZ UDPゴシック" panose="020B0400000000000000" pitchFamily="50" charset="-128"/>
                <a:ea typeface="BIZ UDPゴシック" panose="020B0400000000000000" pitchFamily="50" charset="-128"/>
              </a:rPr>
              <a:t>その他</a:t>
            </a:r>
            <a:endParaRPr kumimoji="1" lang="en-US" altLang="ja-JP" dirty="0">
              <a:solidFill>
                <a:schemeClr val="bg1"/>
              </a:solidFill>
              <a:latin typeface="BIZ UDPゴシック" panose="020B0400000000000000" pitchFamily="50" charset="-128"/>
              <a:ea typeface="BIZ UDPゴシック" panose="020B0400000000000000" pitchFamily="50" charset="-128"/>
            </a:endParaRPr>
          </a:p>
        </p:txBody>
      </p:sp>
      <p:sp>
        <p:nvSpPr>
          <p:cNvPr id="3" name="テキスト ボックス 2"/>
          <p:cNvSpPr txBox="1"/>
          <p:nvPr/>
        </p:nvSpPr>
        <p:spPr>
          <a:xfrm>
            <a:off x="1245093" y="1284598"/>
            <a:ext cx="7415813" cy="1938992"/>
          </a:xfrm>
          <a:prstGeom prst="rect">
            <a:avLst/>
          </a:prstGeom>
          <a:noFill/>
        </p:spPr>
        <p:txBody>
          <a:bodyPr wrap="none" rtlCol="0">
            <a:spAutoFit/>
          </a:bodyPr>
          <a:lstStyle/>
          <a:p>
            <a:r>
              <a:rPr kumimoji="1" lang="ja-JP" altLang="en-US" sz="4000" dirty="0">
                <a:latin typeface="BIZ UDPゴシック" panose="020B0400000000000000" pitchFamily="50" charset="-128"/>
                <a:ea typeface="BIZ UDPゴシック" panose="020B0400000000000000" pitchFamily="50" charset="-128"/>
              </a:rPr>
              <a:t>期間中に</a:t>
            </a:r>
            <a:r>
              <a:rPr kumimoji="1" lang="en-US" altLang="ja-JP" sz="4000" dirty="0" err="1">
                <a:latin typeface="BIZ UDPゴシック" panose="020B0400000000000000" pitchFamily="50" charset="-128"/>
                <a:ea typeface="BIZ UDPゴシック" panose="020B0400000000000000" pitchFamily="50" charset="-128"/>
              </a:rPr>
              <a:t>iias</a:t>
            </a:r>
            <a:r>
              <a:rPr kumimoji="1" lang="ja-JP" altLang="en-US" sz="4000" dirty="0">
                <a:latin typeface="BIZ UDPゴシック" panose="020B0400000000000000" pitchFamily="50" charset="-128"/>
                <a:ea typeface="BIZ UDPゴシック" panose="020B0400000000000000" pitchFamily="50" charset="-128"/>
              </a:rPr>
              <a:t>アプリダウンロード</a:t>
            </a:r>
            <a:endParaRPr kumimoji="1" lang="en-US" altLang="ja-JP" sz="4000" dirty="0">
              <a:latin typeface="BIZ UDPゴシック" panose="020B0400000000000000" pitchFamily="50" charset="-128"/>
              <a:ea typeface="BIZ UDPゴシック" panose="020B0400000000000000" pitchFamily="50" charset="-128"/>
            </a:endParaRPr>
          </a:p>
          <a:p>
            <a:r>
              <a:rPr kumimoji="1" lang="en-US" altLang="ja-JP" sz="4000" dirty="0">
                <a:latin typeface="BIZ UDPゴシック" panose="020B0400000000000000" pitchFamily="50" charset="-128"/>
                <a:ea typeface="BIZ UDPゴシック" panose="020B0400000000000000" pitchFamily="50" charset="-128"/>
              </a:rPr>
              <a:t>11,111</a:t>
            </a:r>
            <a:r>
              <a:rPr kumimoji="1" lang="ja-JP" altLang="en-US" sz="4000" dirty="0">
                <a:latin typeface="BIZ UDPゴシック" panose="020B0400000000000000" pitchFamily="50" charset="-128"/>
                <a:ea typeface="BIZ UDPゴシック" panose="020B0400000000000000" pitchFamily="50" charset="-128"/>
              </a:rPr>
              <a:t>人達成したら</a:t>
            </a:r>
            <a:endParaRPr kumimoji="1" lang="en-US" altLang="ja-JP" sz="4000" dirty="0">
              <a:latin typeface="BIZ UDPゴシック" panose="020B0400000000000000" pitchFamily="50" charset="-128"/>
              <a:ea typeface="BIZ UDPゴシック" panose="020B0400000000000000" pitchFamily="50" charset="-128"/>
            </a:endParaRPr>
          </a:p>
          <a:p>
            <a:r>
              <a:rPr kumimoji="1" lang="ja-JP" altLang="en-US" sz="4000" dirty="0">
                <a:latin typeface="BIZ UDPゴシック" panose="020B0400000000000000" pitchFamily="50" charset="-128"/>
                <a:ea typeface="BIZ UDPゴシック" panose="020B0400000000000000" pitchFamily="50" charset="-128"/>
              </a:rPr>
              <a:t>みんなにクーポンプレゼント</a:t>
            </a:r>
          </a:p>
        </p:txBody>
      </p:sp>
      <p:sp>
        <p:nvSpPr>
          <p:cNvPr id="7" name="テキスト ボックス 6"/>
          <p:cNvSpPr txBox="1"/>
          <p:nvPr/>
        </p:nvSpPr>
        <p:spPr>
          <a:xfrm>
            <a:off x="1974363" y="3488787"/>
            <a:ext cx="6486071" cy="1015663"/>
          </a:xfrm>
          <a:prstGeom prst="rect">
            <a:avLst/>
          </a:prstGeom>
          <a:noFill/>
        </p:spPr>
        <p:txBody>
          <a:bodyPr wrap="none" rtlCol="0">
            <a:spAutoFit/>
          </a:bodyPr>
          <a:lstStyle/>
          <a:p>
            <a:r>
              <a:rPr kumimoji="1" lang="en-US" altLang="ja-JP" sz="1200" dirty="0">
                <a:latin typeface="BIZ UDPゴシック" panose="020B0400000000000000" pitchFamily="50" charset="-128"/>
                <a:ea typeface="BIZ UDPゴシック" panose="020B0400000000000000" pitchFamily="50" charset="-128"/>
              </a:rPr>
              <a:t>Twitter</a:t>
            </a:r>
            <a:r>
              <a:rPr kumimoji="1" lang="ja-JP" altLang="en-US" sz="1200" dirty="0">
                <a:latin typeface="BIZ UDPゴシック" panose="020B0400000000000000" pitchFamily="50" charset="-128"/>
                <a:ea typeface="BIZ UDPゴシック" panose="020B0400000000000000" pitchFamily="50" charset="-128"/>
              </a:rPr>
              <a:t>などでよく実施される</a:t>
            </a:r>
            <a:r>
              <a:rPr kumimoji="1" lang="en-US" altLang="ja-JP" sz="1200" dirty="0">
                <a:latin typeface="BIZ UDPゴシック" panose="020B0400000000000000" pitchFamily="50" charset="-128"/>
                <a:ea typeface="BIZ UDPゴシック" panose="020B0400000000000000" pitchFamily="50" charset="-128"/>
              </a:rPr>
              <a:t>RT</a:t>
            </a:r>
            <a:r>
              <a:rPr kumimoji="1" lang="ja-JP" altLang="en-US" sz="1200" dirty="0">
                <a:latin typeface="BIZ UDPゴシック" panose="020B0400000000000000" pitchFamily="50" charset="-128"/>
                <a:ea typeface="BIZ UDPゴシック" panose="020B0400000000000000" pitchFamily="50" charset="-128"/>
              </a:rPr>
              <a:t>キャンペーンをカスタマイズした、</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アプリダウンロード促進キャンペーンとなります。</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周年</a:t>
            </a:r>
            <a:r>
              <a:rPr kumimoji="1" lang="en-US" altLang="ja-JP" sz="1200" dirty="0">
                <a:latin typeface="BIZ UDPゴシック" panose="020B0400000000000000" pitchFamily="50" charset="-128"/>
                <a:ea typeface="BIZ UDPゴシック" panose="020B0400000000000000" pitchFamily="50" charset="-128"/>
              </a:rPr>
              <a:t>WEEK</a:t>
            </a:r>
            <a:r>
              <a:rPr kumimoji="1" lang="ja-JP" altLang="en-US" sz="1200" dirty="0">
                <a:latin typeface="BIZ UDPゴシック" panose="020B0400000000000000" pitchFamily="50" charset="-128"/>
                <a:ea typeface="BIZ UDPゴシック" panose="020B0400000000000000" pitchFamily="50" charset="-128"/>
              </a:rPr>
              <a:t>期間中、多くの集客が見込まれるため、新規会員を獲得していくために実施します。</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既存会員にもメリットがあるため、参加が促しやすいことが特長です。</a:t>
            </a:r>
            <a:endParaRPr kumimoji="1" lang="en-US" altLang="ja-JP" sz="1200" dirty="0">
              <a:latin typeface="BIZ UDPゴシック" panose="020B0400000000000000" pitchFamily="50" charset="-128"/>
              <a:ea typeface="BIZ UDPゴシック" panose="020B0400000000000000" pitchFamily="50" charset="-128"/>
            </a:endParaRPr>
          </a:p>
          <a:p>
            <a:r>
              <a:rPr kumimoji="1" lang="ja-JP" altLang="en-US" sz="1200" dirty="0">
                <a:latin typeface="BIZ UDPゴシック" panose="020B0400000000000000" pitchFamily="50" charset="-128"/>
                <a:ea typeface="BIZ UDPゴシック" panose="020B0400000000000000" pitchFamily="50" charset="-128"/>
              </a:rPr>
              <a:t>達成後、ユーザーの皆さんには、割引などが適用される「アプリ限定クーポン」を発行します。</a:t>
            </a:r>
          </a:p>
        </p:txBody>
      </p:sp>
    </p:spTree>
    <p:extLst>
      <p:ext uri="{BB962C8B-B14F-4D97-AF65-F5344CB8AC3E}">
        <p14:creationId xmlns:p14="http://schemas.microsoft.com/office/powerpoint/2010/main" val="2621382819"/>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200" dirty="0" smtClean="0">
            <a:latin typeface="BIZ UDPゴシック" panose="020B0400000000000000" pitchFamily="50" charset="-128"/>
            <a:ea typeface="BIZ UDP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04DD3A60A610D4C9BE63F058C993A6C" ma:contentTypeVersion="7" ma:contentTypeDescription="新しいドキュメントを作成します。" ma:contentTypeScope="" ma:versionID="a0472384b332c1c29b79537e8ad3f475">
  <xsd:schema xmlns:xsd="http://www.w3.org/2001/XMLSchema" xmlns:xs="http://www.w3.org/2001/XMLSchema" xmlns:p="http://schemas.microsoft.com/office/2006/metadata/properties" xmlns:ns2="717bd74e-d557-48a6-99b9-1f03b558f154" targetNamespace="http://schemas.microsoft.com/office/2006/metadata/properties" ma:root="true" ma:fieldsID="2441e66b5e46f2e678f1e1e42ef69532" ns2:_="">
    <xsd:import namespace="717bd74e-d557-48a6-99b9-1f03b558f15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7bd74e-d557-48a6-99b9-1f03b558f1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37DCF49-0BFB-42F8-BA5A-1CBC9094ACE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7bd74e-d557-48a6-99b9-1f03b558f1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51DEEA7-2BFE-44FF-9D2E-8C22A7746523}">
  <ds:schemaRefs>
    <ds:schemaRef ds:uri="http://schemas.microsoft.com/sharepoint/v3/contenttype/forms"/>
  </ds:schemaRefs>
</ds:datastoreItem>
</file>

<file path=customXml/itemProps3.xml><?xml version="1.0" encoding="utf-8"?>
<ds:datastoreItem xmlns:ds="http://schemas.openxmlformats.org/officeDocument/2006/customXml" ds:itemID="{88B6BDDC-B542-485D-BB91-A1D48A96663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149</TotalTime>
  <Words>1515</Words>
  <Application>Microsoft Office PowerPoint</Application>
  <PresentationFormat>A4 Paper (210x297 mm)</PresentationFormat>
  <Paragraphs>161</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テーマ</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miyagi hajime</dc:creator>
  <cp:lastModifiedBy>miyagi hajime</cp:lastModifiedBy>
  <cp:revision>54</cp:revision>
  <cp:lastPrinted>2021-04-13T09:48:41Z</cp:lastPrinted>
  <dcterms:created xsi:type="dcterms:W3CDTF">2021-04-13T07:30:52Z</dcterms:created>
  <dcterms:modified xsi:type="dcterms:W3CDTF">2026-01-26T09:30:33Z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0x010100604DD3A60A610D4C9BE63F058C993A6C</vt:lpwstr>
  </property>
</Properties>
</file>