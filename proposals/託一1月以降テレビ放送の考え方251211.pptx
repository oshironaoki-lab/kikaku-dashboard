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sldIdLst>
    <p:sldId id="256" r:id="rId2"/>
    <p:sldId id="257" r:id="rId3"/>
    <p:sldId id="258" r:id="rId4"/>
    <p:sldId id="259" r:id="rId5"/>
    <p:sldId id="260" r:id="rId6"/>
    <p:sldId id="261" r:id="rId7"/>
    <p:sldId id="263" r:id="rId8"/>
    <p:sldId id="262" r:id="rId9"/>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0" autoAdjust="0"/>
    <p:restoredTop sz="93526" autoAdjust="0"/>
  </p:normalViewPr>
  <p:slideViewPr>
    <p:cSldViewPr snapToGrid="0">
      <p:cViewPr varScale="1">
        <p:scale>
          <a:sx n="59" d="100"/>
          <a:sy n="59" d="100"/>
        </p:scale>
        <p:origin x="82"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665517-B8B5-900A-801B-D4A47734CBB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CF9164E-E2F0-59B1-7E2D-4960EA7EAD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53E9FA7-A9DA-9033-932B-E240431D5089}"/>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EC14BDFC-E4C9-7D45-D1A2-7084A204CDD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139420B-027B-70B5-0FB8-BF595B73F419}"/>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1328335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E58758-4FAF-2C43-FDCD-AFFB49201F9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FD88B0B-DC4E-413D-90FB-F16AE94BEFB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442D2E7-9662-90B7-BD53-4B2F87350A21}"/>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5F8C93B0-53C1-454C-455F-32C4AF83C1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7204FD9-FAA3-A357-ABC6-718EDA80E140}"/>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2646304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D6AB65-6A6F-F9B4-60CB-9545F897BAC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FECF184-CE44-AEBB-113C-16F5728A80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F4C6F2E-4B0D-5D1C-6B4B-D61B6E604C40}"/>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7C5C0F83-ED5E-D7C9-E294-550CCC160CB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193D0BB-2155-C753-E010-FA431FA36142}"/>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1476057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D2FF80-FA94-ABB7-0B2E-BE62711D59F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7E7F4E2-FEFD-12E9-5523-7FF23AB2FFE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F7F5E4C-D795-BCB1-3188-91081D3079A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9B28DBF-D09A-77A6-02CB-FDBFB5E24CDA}"/>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6" name="フッター プレースホルダー 5">
            <a:extLst>
              <a:ext uri="{FF2B5EF4-FFF2-40B4-BE49-F238E27FC236}">
                <a16:creationId xmlns:a16="http://schemas.microsoft.com/office/drawing/2014/main" id="{5C3100EB-291E-73F6-225F-D1E1F5F4970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A90D7A4-A720-1FCE-A26A-7C65B742779D}"/>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177460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49BC43-ECB6-0880-674F-5AF5F0A2A57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8AD159A-8E67-5123-B1D7-CDA7BE7CF1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0DC0E7-85A0-1F44-6AB0-822DCCDE467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21351CE-0CC0-368E-0B7A-E89911474F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25E66A6-0F84-B834-80FA-BF84F05DB54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CA2D898-28EC-2694-7E33-7D34739F0208}"/>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8" name="フッター プレースホルダー 7">
            <a:extLst>
              <a:ext uri="{FF2B5EF4-FFF2-40B4-BE49-F238E27FC236}">
                <a16:creationId xmlns:a16="http://schemas.microsoft.com/office/drawing/2014/main" id="{4F24CA68-3FF7-4328-9754-730D065B5FD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981307A-0FB0-287D-00CA-7E19D6A733C4}"/>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1904574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C7958B-0E74-5875-AF89-A2AD2AC3512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C486FAF-1362-B26A-5538-D217E2788401}"/>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4" name="フッター プレースホルダー 3">
            <a:extLst>
              <a:ext uri="{FF2B5EF4-FFF2-40B4-BE49-F238E27FC236}">
                <a16:creationId xmlns:a16="http://schemas.microsoft.com/office/drawing/2014/main" id="{3E437F93-88FA-060A-4E6A-20C86E0A4DE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C1AEDB8-8F7D-EDFF-19CA-00B240200370}"/>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2555457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5F81EDF-601F-24B5-F2A4-01D7C6612FED}"/>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3" name="フッター プレースホルダー 2">
            <a:extLst>
              <a:ext uri="{FF2B5EF4-FFF2-40B4-BE49-F238E27FC236}">
                <a16:creationId xmlns:a16="http://schemas.microsoft.com/office/drawing/2014/main" id="{B615F430-487C-177D-E2C9-A0928C73A1C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A0CB434-14AB-6918-DD96-35FC2B2DBEC2}"/>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31060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75A861-B786-13E5-731F-B4EFD1F31EA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48B293B-B1BC-D37B-689F-E00758F538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0B16EA6-E668-0B6B-D377-78F10DACA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267ABF2-18E8-542E-7360-BDAA34DEB65A}"/>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6" name="フッター プレースホルダー 5">
            <a:extLst>
              <a:ext uri="{FF2B5EF4-FFF2-40B4-BE49-F238E27FC236}">
                <a16:creationId xmlns:a16="http://schemas.microsoft.com/office/drawing/2014/main" id="{35F9D6E7-30AE-4673-DAC7-B4ED64B536E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A0C5BA4-A541-D9A5-D130-D60646D70123}"/>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1347693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AB295E-5A1C-A570-4008-D25869BA32C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64C39E8-FE5B-51B3-F0DA-5B855C38F2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1612735-CF13-3CE0-53E5-864E480030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07D1809-0CF9-B026-DB9D-2E537AE58B3C}"/>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6" name="フッター プレースホルダー 5">
            <a:extLst>
              <a:ext uri="{FF2B5EF4-FFF2-40B4-BE49-F238E27FC236}">
                <a16:creationId xmlns:a16="http://schemas.microsoft.com/office/drawing/2014/main" id="{9CFBD0D5-BD92-F7CD-B3C5-AFB8610749A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D290D2D-BF49-2F06-C19D-0C9D4D138FD3}"/>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1205432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BD821F-FFFC-7738-6A99-20BAD7C27CF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5992DF9-0C7B-4185-DAF6-191820A6236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D8D7D6F-AAC2-A376-D462-E589A00FD1A7}"/>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71CAA38B-6926-185C-694D-0B5EA54BE9B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5CE3589-E66A-81DC-B18A-A128555726FB}"/>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1579990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7B1F88D1-D543-F966-8802-F6CF98818F32}"/>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E43800E-3607-D4F0-ECFD-60A8E0D74C3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3C957FD-350C-F818-3530-FD28AB79CEC3}"/>
              </a:ext>
            </a:extLst>
          </p:cNvPr>
          <p:cNvSpPr>
            <a:spLocks noGrp="1"/>
          </p:cNvSpPr>
          <p:nvPr>
            <p:ph type="dt" sz="half" idx="10"/>
          </p:nvPr>
        </p:nvSpPr>
        <p:spPr/>
        <p:txBody>
          <a:bodyPr/>
          <a:lstStyle/>
          <a:p>
            <a:fld id="{D810B0CF-F2E4-45F9-BF09-73F8D3742396}"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8C37D05C-3516-AE70-F729-6A5262DEFC6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C2FC2EB-52DA-BDE1-1928-75EB05DE921E}"/>
              </a:ext>
            </a:extLst>
          </p:cNvPr>
          <p:cNvSpPr>
            <a:spLocks noGrp="1"/>
          </p:cNvSpPr>
          <p:nvPr>
            <p:ph type="sldNum" sz="quarter" idx="12"/>
          </p:nvPr>
        </p:nvSpPr>
        <p:spPr/>
        <p:txBody>
          <a:body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162741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44467C5-9217-0049-D1A4-8463F573C6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7200A60-3BCB-9AE2-FFEE-D6F7942E1A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AD6DD1-FDB5-BF93-C5FF-B553C978AB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10B0CF-F2E4-45F9-BF09-73F8D3742396}"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462A65B7-0CF0-9BF9-70F4-275B2119F9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C772669-13AC-07EA-B38D-E10FDCFDC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12A6DD-32D5-4448-A8A3-29409F11AE70}" type="slidenum">
              <a:rPr kumimoji="1" lang="ja-JP" altLang="en-US" smtClean="0"/>
              <a:t>‹#›</a:t>
            </a:fld>
            <a:endParaRPr kumimoji="1" lang="ja-JP" altLang="en-US"/>
          </a:p>
        </p:txBody>
      </p:sp>
    </p:spTree>
    <p:extLst>
      <p:ext uri="{BB962C8B-B14F-4D97-AF65-F5344CB8AC3E}">
        <p14:creationId xmlns:p14="http://schemas.microsoft.com/office/powerpoint/2010/main" val="2385208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FFDDE51-806A-4E1F-CB87-0452B76E2511}"/>
              </a:ext>
            </a:extLst>
          </p:cNvPr>
          <p:cNvSpPr txBox="1"/>
          <p:nvPr/>
        </p:nvSpPr>
        <p:spPr>
          <a:xfrm>
            <a:off x="3833209" y="2720485"/>
            <a:ext cx="4453463" cy="954107"/>
          </a:xfrm>
          <a:prstGeom prst="rect">
            <a:avLst/>
          </a:prstGeom>
          <a:noFill/>
        </p:spPr>
        <p:txBody>
          <a:bodyPr wrap="none" rtlCol="0">
            <a:spAutoFit/>
          </a:bodyPr>
          <a:lstStyle/>
          <a:p>
            <a:pPr algn="ctr"/>
            <a:r>
              <a:rPr lang="en-US" altLang="ja-JP" sz="2800" dirty="0">
                <a:latin typeface="BIZ UDPゴシック" panose="020B0400000000000000" pitchFamily="50" charset="-128"/>
                <a:ea typeface="BIZ UDPゴシック" panose="020B0400000000000000" pitchFamily="50" charset="-128"/>
              </a:rPr>
              <a:t>2026</a:t>
            </a:r>
            <a:r>
              <a:rPr lang="ja-JP" altLang="en-US" sz="2800" dirty="0">
                <a:latin typeface="BIZ UDPゴシック" panose="020B0400000000000000" pitchFamily="50" charset="-128"/>
                <a:ea typeface="BIZ UDPゴシック" panose="020B0400000000000000" pitchFamily="50" charset="-128"/>
              </a:rPr>
              <a:t>年</a:t>
            </a:r>
            <a:r>
              <a:rPr lang="en-US" altLang="ja-JP" sz="2800" dirty="0">
                <a:latin typeface="BIZ UDPゴシック" panose="020B0400000000000000" pitchFamily="50" charset="-128"/>
                <a:ea typeface="BIZ UDPゴシック" panose="020B0400000000000000" pitchFamily="50" charset="-128"/>
              </a:rPr>
              <a:t>1</a:t>
            </a:r>
            <a:r>
              <a:rPr lang="ja-JP" altLang="en-US" sz="2800" dirty="0">
                <a:latin typeface="BIZ UDPゴシック" panose="020B0400000000000000" pitchFamily="50" charset="-128"/>
                <a:ea typeface="BIZ UDPゴシック" panose="020B0400000000000000" pitchFamily="50" charset="-128"/>
              </a:rPr>
              <a:t>月以降～</a:t>
            </a:r>
            <a:endParaRPr lang="en-US" altLang="ja-JP" sz="2800" dirty="0">
              <a:latin typeface="BIZ UDPゴシック" panose="020B0400000000000000" pitchFamily="50" charset="-128"/>
              <a:ea typeface="BIZ UDPゴシック" panose="020B0400000000000000" pitchFamily="50" charset="-128"/>
            </a:endParaRPr>
          </a:p>
          <a:p>
            <a:pPr algn="ctr"/>
            <a:r>
              <a:rPr lang="ja-JP" altLang="en-US" sz="2800" dirty="0">
                <a:latin typeface="BIZ UDPゴシック" panose="020B0400000000000000" pitchFamily="50" charset="-128"/>
                <a:ea typeface="BIZ UDPゴシック" panose="020B0400000000000000" pitchFamily="50" charset="-128"/>
              </a:rPr>
              <a:t>放送手法のご提案について</a:t>
            </a:r>
            <a:endParaRPr kumimoji="1" lang="ja-JP" altLang="en-US" sz="2800" dirty="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7B23EFB1-CB49-84A4-617E-719914A75898}"/>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8DD6807-9288-6DAB-ADC7-2C35D34767A0}"/>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166475D-D1AC-6777-D4A5-0B78F9B59A8D}"/>
              </a:ext>
            </a:extLst>
          </p:cNvPr>
          <p:cNvSpPr txBox="1"/>
          <p:nvPr/>
        </p:nvSpPr>
        <p:spPr>
          <a:xfrm>
            <a:off x="332509" y="299258"/>
            <a:ext cx="2185214" cy="369332"/>
          </a:xfrm>
          <a:prstGeom prst="rect">
            <a:avLst/>
          </a:prstGeom>
          <a:noFill/>
        </p:spPr>
        <p:txBody>
          <a:bodyPr wrap="none" rtlCol="0">
            <a:spAutoFit/>
          </a:bodyPr>
          <a:lstStyle/>
          <a:p>
            <a:r>
              <a:rPr kumimoji="1" lang="ja-JP" altLang="en-US" u="sng" dirty="0">
                <a:latin typeface="BIZ UDPゴシック" panose="020B0400000000000000" pitchFamily="50" charset="-128"/>
                <a:ea typeface="BIZ UDPゴシック" panose="020B0400000000000000" pitchFamily="50" charset="-128"/>
              </a:rPr>
              <a:t>託一株式会社　御中</a:t>
            </a:r>
          </a:p>
        </p:txBody>
      </p:sp>
      <p:pic>
        <p:nvPicPr>
          <p:cNvPr id="9" name="図 8">
            <a:extLst>
              <a:ext uri="{FF2B5EF4-FFF2-40B4-BE49-F238E27FC236}">
                <a16:creationId xmlns:a16="http://schemas.microsoft.com/office/drawing/2014/main" id="{F47F41DD-AEF8-33B6-C18E-DD77142BE6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3711" y="5710538"/>
            <a:ext cx="764652" cy="478872"/>
          </a:xfrm>
          <a:prstGeom prst="rect">
            <a:avLst/>
          </a:prstGeom>
        </p:spPr>
      </p:pic>
      <p:sp>
        <p:nvSpPr>
          <p:cNvPr id="10" name="テキスト ボックス 9">
            <a:extLst>
              <a:ext uri="{FF2B5EF4-FFF2-40B4-BE49-F238E27FC236}">
                <a16:creationId xmlns:a16="http://schemas.microsoft.com/office/drawing/2014/main" id="{BE2CB421-FE2D-ABEB-FD38-08D63B784B2A}"/>
              </a:ext>
            </a:extLst>
          </p:cNvPr>
          <p:cNvSpPr txBox="1"/>
          <p:nvPr/>
        </p:nvSpPr>
        <p:spPr>
          <a:xfrm>
            <a:off x="4941851" y="6371613"/>
            <a:ext cx="2582617" cy="261610"/>
          </a:xfrm>
          <a:prstGeom prst="rect">
            <a:avLst/>
          </a:prstGeom>
          <a:noFill/>
        </p:spPr>
        <p:txBody>
          <a:bodyPr wrap="square" rtlCol="0">
            <a:spAutoFit/>
          </a:bodyPr>
          <a:lstStyle/>
          <a:p>
            <a:pPr algn="ctr"/>
            <a:r>
              <a:rPr lang="ja-JP" altLang="en-US" sz="1100" dirty="0">
                <a:latin typeface="BIZ UDPゴシック" panose="020B0400000000000000" pitchFamily="50" charset="-128"/>
                <a:ea typeface="BIZ UDPゴシック" panose="020B0400000000000000" pitchFamily="50" charset="-128"/>
              </a:rPr>
              <a:t>株式会社 宣伝</a:t>
            </a:r>
            <a:endParaRPr kumimoji="1" lang="ja-JP" altLang="en-US" sz="1100"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2EC89ED6-33C9-9BA9-AA83-FBA686484077}"/>
              </a:ext>
            </a:extLst>
          </p:cNvPr>
          <p:cNvSpPr txBox="1"/>
          <p:nvPr/>
        </p:nvSpPr>
        <p:spPr>
          <a:xfrm>
            <a:off x="4768624" y="3856795"/>
            <a:ext cx="2582617" cy="246221"/>
          </a:xfrm>
          <a:prstGeom prst="rect">
            <a:avLst/>
          </a:prstGeom>
          <a:noFill/>
        </p:spPr>
        <p:txBody>
          <a:bodyPr wrap="square" rtlCol="0">
            <a:spAutoFit/>
          </a:bodyPr>
          <a:lstStyle/>
          <a:p>
            <a:pPr algn="ctr"/>
            <a:r>
              <a:rPr lang="en-US" altLang="ja-JP" sz="1000" dirty="0">
                <a:latin typeface="BIZ UDPゴシック" panose="020B0400000000000000" pitchFamily="50" charset="-128"/>
                <a:ea typeface="BIZ UDPゴシック" panose="020B0400000000000000" pitchFamily="50" charset="-128"/>
              </a:rPr>
              <a:t>2025.12.11</a:t>
            </a:r>
          </a:p>
        </p:txBody>
      </p:sp>
    </p:spTree>
    <p:extLst>
      <p:ext uri="{BB962C8B-B14F-4D97-AF65-F5344CB8AC3E}">
        <p14:creationId xmlns:p14="http://schemas.microsoft.com/office/powerpoint/2010/main" val="2281013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1800493"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＞＞現状の整理</a:t>
            </a:r>
          </a:p>
        </p:txBody>
      </p:sp>
      <p:sp>
        <p:nvSpPr>
          <p:cNvPr id="5" name="テキスト ボックス 4">
            <a:extLst>
              <a:ext uri="{FF2B5EF4-FFF2-40B4-BE49-F238E27FC236}">
                <a16:creationId xmlns:a16="http://schemas.microsoft.com/office/drawing/2014/main" id="{E5607FAA-1F02-307B-E39F-A54B54FC3316}"/>
              </a:ext>
            </a:extLst>
          </p:cNvPr>
          <p:cNvSpPr txBox="1"/>
          <p:nvPr/>
        </p:nvSpPr>
        <p:spPr>
          <a:xfrm>
            <a:off x="500150" y="729550"/>
            <a:ext cx="11222928" cy="2123658"/>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 </a:t>
            </a:r>
            <a:r>
              <a:rPr lang="ja-JP" altLang="en-US" sz="1600" dirty="0">
                <a:latin typeface="BIZ UDPゴシック" panose="020B0400000000000000" pitchFamily="50" charset="-128"/>
                <a:ea typeface="BIZ UDPゴシック" panose="020B0400000000000000" pitchFamily="50" charset="-128"/>
              </a:rPr>
              <a:t>事前に頂いた</a:t>
            </a:r>
            <a:r>
              <a:rPr lang="en-US" altLang="ja-JP" sz="1600" dirty="0">
                <a:latin typeface="BIZ UDPゴシック" panose="020B0400000000000000" pitchFamily="50" charset="-128"/>
                <a:ea typeface="BIZ UDPゴシック" panose="020B0400000000000000" pitchFamily="50" charset="-128"/>
              </a:rPr>
              <a:t>9</a:t>
            </a:r>
            <a:r>
              <a:rPr lang="ja-JP" altLang="en-US" sz="1600" dirty="0">
                <a:latin typeface="BIZ UDPゴシック" panose="020B0400000000000000" pitchFamily="50" charset="-128"/>
                <a:ea typeface="BIZ UDPゴシック" panose="020B0400000000000000" pitchFamily="50" charset="-128"/>
              </a:rPr>
              <a:t>月、</a:t>
            </a:r>
            <a:r>
              <a:rPr lang="en-US" altLang="ja-JP" sz="1600" dirty="0">
                <a:latin typeface="BIZ UDPゴシック" panose="020B0400000000000000" pitchFamily="50" charset="-128"/>
                <a:ea typeface="BIZ UDPゴシック" panose="020B0400000000000000" pitchFamily="50" charset="-128"/>
              </a:rPr>
              <a:t>10</a:t>
            </a:r>
            <a:r>
              <a:rPr lang="ja-JP" altLang="en-US" sz="1600" dirty="0">
                <a:latin typeface="BIZ UDPゴシック" panose="020B0400000000000000" pitchFamily="50" charset="-128"/>
                <a:ea typeface="BIZ UDPゴシック" panose="020B0400000000000000" pitchFamily="50" charset="-128"/>
              </a:rPr>
              <a:t>月の放送確認書を元に「アクチュアル（事後評価）」を実施し、</a:t>
            </a:r>
            <a:r>
              <a:rPr kumimoji="1" lang="ja-JP" altLang="en-US" sz="1600" dirty="0">
                <a:latin typeface="BIZ UDPゴシック" panose="020B0400000000000000" pitchFamily="50" charset="-128"/>
                <a:ea typeface="BIZ UDPゴシック" panose="020B0400000000000000" pitchFamily="50" charset="-128"/>
              </a:rPr>
              <a:t>現状の放送内容についての棚卸を実施致しました。</a:t>
            </a:r>
            <a:endParaRPr kumimoji="1" lang="en-US" altLang="ja-JP" sz="1600"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r>
              <a:rPr kumimoji="1" lang="ja-JP" altLang="en-US" sz="1600" dirty="0">
                <a:latin typeface="BIZ UDPゴシック" panose="020B0400000000000000" pitchFamily="50" charset="-128"/>
                <a:ea typeface="BIZ UDPゴシック" panose="020B0400000000000000" pitchFamily="50" charset="-128"/>
              </a:rPr>
              <a:t>＜受領した放送確認書＞</a:t>
            </a:r>
            <a:endParaRPr kumimoji="1"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 </a:t>
            </a:r>
            <a:r>
              <a:rPr lang="en-US" altLang="ja-JP" sz="1600" dirty="0">
                <a:latin typeface="BIZ UDPゴシック" panose="020B0400000000000000" pitchFamily="50" charset="-128"/>
                <a:ea typeface="BIZ UDPゴシック" panose="020B0400000000000000" pitchFamily="50" charset="-128"/>
              </a:rPr>
              <a:t>9</a:t>
            </a:r>
            <a:r>
              <a:rPr lang="ja-JP" altLang="en-US" sz="1600" dirty="0">
                <a:latin typeface="BIZ UDPゴシック" panose="020B0400000000000000" pitchFamily="50" charset="-128"/>
                <a:ea typeface="BIZ UDPゴシック" panose="020B0400000000000000" pitchFamily="50" charset="-128"/>
              </a:rPr>
              <a:t>月分　（ </a:t>
            </a:r>
            <a:r>
              <a:rPr lang="en-US" altLang="ja-JP" sz="1600" dirty="0">
                <a:latin typeface="BIZ UDPゴシック" panose="020B0400000000000000" pitchFamily="50" charset="-128"/>
                <a:ea typeface="BIZ UDPゴシック" panose="020B0400000000000000" pitchFamily="50" charset="-128"/>
              </a:rPr>
              <a:t>RBC</a:t>
            </a:r>
            <a:r>
              <a:rPr lang="ja-JP" altLang="en-US" sz="1600" dirty="0">
                <a:latin typeface="BIZ UDPゴシック" panose="020B0400000000000000" pitchFamily="50" charset="-128"/>
                <a:ea typeface="BIZ UDPゴシック" panose="020B0400000000000000" pitchFamily="50" charset="-128"/>
              </a:rPr>
              <a:t>：琉球放送　）　</a:t>
            </a:r>
            <a:r>
              <a:rPr lang="en-US" altLang="ja-JP" sz="1600" dirty="0">
                <a:latin typeface="BIZ UDPゴシック" panose="020B0400000000000000" pitchFamily="50" charset="-128"/>
                <a:ea typeface="BIZ UDPゴシック" panose="020B0400000000000000" pitchFamily="50" charset="-128"/>
              </a:rPr>
              <a:t>※15</a:t>
            </a:r>
            <a:r>
              <a:rPr lang="ja-JP" altLang="en-US" sz="1600" dirty="0">
                <a:latin typeface="BIZ UDPゴシック" panose="020B0400000000000000" pitchFamily="50" charset="-128"/>
                <a:ea typeface="BIZ UDPゴシック" panose="020B0400000000000000" pitchFamily="50" charset="-128"/>
              </a:rPr>
              <a:t>秒</a:t>
            </a:r>
            <a:r>
              <a:rPr lang="en-US" altLang="ja-JP" sz="1600" dirty="0">
                <a:latin typeface="BIZ UDPゴシック" panose="020B0400000000000000" pitchFamily="50" charset="-128"/>
                <a:ea typeface="BIZ UDPゴシック" panose="020B0400000000000000" pitchFamily="50" charset="-128"/>
              </a:rPr>
              <a:t>CM</a:t>
            </a:r>
            <a:r>
              <a:rPr lang="ja-JP" altLang="en-US" sz="1600" dirty="0">
                <a:latin typeface="BIZ UDPゴシック" panose="020B0400000000000000" pitchFamily="50" charset="-128"/>
                <a:ea typeface="BIZ UDPゴシック" panose="020B0400000000000000" pitchFamily="50" charset="-128"/>
              </a:rPr>
              <a:t>枠</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・１０月分　（　</a:t>
            </a:r>
            <a:r>
              <a:rPr lang="en-US" altLang="ja-JP" sz="1600" dirty="0">
                <a:latin typeface="BIZ UDPゴシック" panose="020B0400000000000000" pitchFamily="50" charset="-128"/>
                <a:ea typeface="BIZ UDPゴシック" panose="020B0400000000000000" pitchFamily="50" charset="-128"/>
              </a:rPr>
              <a:t>OTV</a:t>
            </a:r>
            <a:r>
              <a:rPr lang="ja-JP" altLang="en-US" sz="1600" dirty="0">
                <a:latin typeface="BIZ UDPゴシック" panose="020B0400000000000000" pitchFamily="50" charset="-128"/>
                <a:ea typeface="BIZ UDPゴシック" panose="020B0400000000000000" pitchFamily="50" charset="-128"/>
              </a:rPr>
              <a:t>：沖縄テレビ放送　）　</a:t>
            </a:r>
            <a:r>
              <a:rPr lang="en-US" altLang="ja-JP" sz="1600" dirty="0">
                <a:latin typeface="BIZ UDPゴシック" panose="020B0400000000000000" pitchFamily="50" charset="-128"/>
                <a:ea typeface="BIZ UDPゴシック" panose="020B0400000000000000" pitchFamily="50" charset="-128"/>
              </a:rPr>
              <a:t>※15</a:t>
            </a:r>
            <a:r>
              <a:rPr lang="ja-JP" altLang="en-US" sz="1600" dirty="0">
                <a:latin typeface="BIZ UDPゴシック" panose="020B0400000000000000" pitchFamily="50" charset="-128"/>
                <a:ea typeface="BIZ UDPゴシック" panose="020B0400000000000000" pitchFamily="50" charset="-128"/>
              </a:rPr>
              <a:t>秒</a:t>
            </a:r>
            <a:r>
              <a:rPr lang="en-US" altLang="ja-JP" sz="1600" dirty="0">
                <a:latin typeface="BIZ UDPゴシック" panose="020B0400000000000000" pitchFamily="50" charset="-128"/>
                <a:ea typeface="BIZ UDPゴシック" panose="020B0400000000000000" pitchFamily="50" charset="-128"/>
              </a:rPr>
              <a:t>CM</a:t>
            </a:r>
            <a:r>
              <a:rPr lang="ja-JP" altLang="en-US" sz="1600" dirty="0">
                <a:latin typeface="BIZ UDPゴシック" panose="020B0400000000000000" pitchFamily="50" charset="-128"/>
                <a:ea typeface="BIZ UDPゴシック" panose="020B0400000000000000" pitchFamily="50" charset="-128"/>
              </a:rPr>
              <a:t>枠</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上記の放送確認書を元に、各年代の視聴率について以下の通り取りまとめをしております。</a:t>
            </a:r>
            <a:endParaRPr lang="en-US" altLang="ja-JP" sz="1600" dirty="0">
              <a:latin typeface="BIZ UDPゴシック" panose="020B0400000000000000" pitchFamily="50" charset="-128"/>
              <a:ea typeface="BIZ UDPゴシック" panose="020B0400000000000000" pitchFamily="50" charset="-128"/>
            </a:endParaRPr>
          </a:p>
          <a:p>
            <a:r>
              <a:rPr lang="en-US" altLang="ja-JP" sz="1600" dirty="0">
                <a:latin typeface="BIZ UDPゴシック" panose="020B0400000000000000" pitchFamily="50" charset="-128"/>
                <a:ea typeface="BIZ UDPゴシック" panose="020B0400000000000000" pitchFamily="50" charset="-128"/>
              </a:rPr>
              <a:t>※</a:t>
            </a:r>
            <a:r>
              <a:rPr lang="ja-JP" altLang="en-US" sz="1600" dirty="0">
                <a:latin typeface="BIZ UDPゴシック" panose="020B0400000000000000" pitchFamily="50" charset="-128"/>
                <a:ea typeface="BIZ UDPゴシック" panose="020B0400000000000000" pitchFamily="50" charset="-128"/>
              </a:rPr>
              <a:t>詳細については別紙を参照</a:t>
            </a:r>
            <a:endParaRPr lang="en-US" altLang="ja-JP" sz="1600" dirty="0">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7EB42643-F398-57BD-D52F-D9774B74135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36BD1D2-2A8C-8D7F-AEBF-9CBD1069F1C1}"/>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10">
            <a:extLst>
              <a:ext uri="{FF2B5EF4-FFF2-40B4-BE49-F238E27FC236}">
                <a16:creationId xmlns:a16="http://schemas.microsoft.com/office/drawing/2014/main" id="{AEDA3085-9D26-282F-BC2C-13DFCB544DB3}"/>
              </a:ext>
            </a:extLst>
          </p:cNvPr>
          <p:cNvSpPr>
            <a:spLocks noGrp="1"/>
          </p:cNvSpPr>
          <p:nvPr>
            <p:ph type="sldNum" sz="quarter" idx="12"/>
          </p:nvPr>
        </p:nvSpPr>
        <p:spPr>
          <a:xfrm>
            <a:off x="9326880" y="6371613"/>
            <a:ext cx="2743200" cy="365125"/>
          </a:xfrm>
        </p:spPr>
        <p:txBody>
          <a:bodyPr/>
          <a:lstStyle/>
          <a:p>
            <a:fld id="{5A968F70-849A-4002-AAE1-AF06B930E453}" type="slidenum">
              <a:rPr kumimoji="1" lang="ja-JP" altLang="en-US" smtClean="0"/>
              <a:t>1</a:t>
            </a:fld>
            <a:endParaRPr kumimoji="1" lang="ja-JP" altLang="en-US"/>
          </a:p>
        </p:txBody>
      </p:sp>
      <p:pic>
        <p:nvPicPr>
          <p:cNvPr id="15" name="図 14">
            <a:extLst>
              <a:ext uri="{FF2B5EF4-FFF2-40B4-BE49-F238E27FC236}">
                <a16:creationId xmlns:a16="http://schemas.microsoft.com/office/drawing/2014/main" id="{D45011FA-5FDC-906A-89B1-1D100D4F4705}"/>
              </a:ext>
            </a:extLst>
          </p:cNvPr>
          <p:cNvPicPr>
            <a:picLocks noChangeAspect="1"/>
          </p:cNvPicPr>
          <p:nvPr/>
        </p:nvPicPr>
        <p:blipFill>
          <a:blip r:embed="rId2"/>
          <a:stretch>
            <a:fillRect/>
          </a:stretch>
        </p:blipFill>
        <p:spPr>
          <a:xfrm>
            <a:off x="500149" y="3069168"/>
            <a:ext cx="10960913" cy="2585323"/>
          </a:xfrm>
          <a:prstGeom prst="rect">
            <a:avLst/>
          </a:prstGeom>
        </p:spPr>
      </p:pic>
      <p:sp>
        <p:nvSpPr>
          <p:cNvPr id="16" name="テキスト ボックス 15">
            <a:extLst>
              <a:ext uri="{FF2B5EF4-FFF2-40B4-BE49-F238E27FC236}">
                <a16:creationId xmlns:a16="http://schemas.microsoft.com/office/drawing/2014/main" id="{D052BCE6-2BA3-BE34-F0D5-79ED5F11CB76}"/>
              </a:ext>
            </a:extLst>
          </p:cNvPr>
          <p:cNvSpPr txBox="1"/>
          <p:nvPr/>
        </p:nvSpPr>
        <p:spPr>
          <a:xfrm>
            <a:off x="500149" y="6111240"/>
            <a:ext cx="11222928" cy="369332"/>
          </a:xfrm>
          <a:prstGeom prst="rect">
            <a:avLst/>
          </a:prstGeom>
          <a:noFill/>
        </p:spPr>
        <p:txBody>
          <a:bodyPr wrap="square" rtlCol="0">
            <a:spAutoFit/>
          </a:bodyPr>
          <a:lstStyle/>
          <a:p>
            <a:pPr algn="ctr"/>
            <a:r>
              <a:rPr lang="en-US" altLang="ja-JP" dirty="0">
                <a:highlight>
                  <a:srgbClr val="FFFF00"/>
                </a:highlight>
                <a:latin typeface="BIZ UDPゴシック" panose="020B0400000000000000" pitchFamily="50" charset="-128"/>
                <a:ea typeface="BIZ UDPゴシック" panose="020B0400000000000000" pitchFamily="50" charset="-128"/>
              </a:rPr>
              <a:t>34</a:t>
            </a:r>
            <a:r>
              <a:rPr lang="ja-JP" altLang="en-US" dirty="0">
                <a:highlight>
                  <a:srgbClr val="FFFF00"/>
                </a:highlight>
                <a:latin typeface="BIZ UDPゴシック" panose="020B0400000000000000" pitchFamily="50" charset="-128"/>
                <a:ea typeface="BIZ UDPゴシック" panose="020B0400000000000000" pitchFamily="50" charset="-128"/>
              </a:rPr>
              <a:t>歳以下の視聴率は</a:t>
            </a:r>
            <a:r>
              <a:rPr lang="en-US" altLang="ja-JP" dirty="0">
                <a:highlight>
                  <a:srgbClr val="FFFF00"/>
                </a:highlight>
                <a:latin typeface="BIZ UDPゴシック" panose="020B0400000000000000" pitchFamily="50" charset="-128"/>
                <a:ea typeface="BIZ UDPゴシック" panose="020B0400000000000000" pitchFamily="50" charset="-128"/>
              </a:rPr>
              <a:t>OTV</a:t>
            </a:r>
            <a:r>
              <a:rPr lang="ja-JP" altLang="en-US" dirty="0">
                <a:highlight>
                  <a:srgbClr val="FFFF00"/>
                </a:highlight>
                <a:latin typeface="BIZ UDPゴシック" panose="020B0400000000000000" pitchFamily="50" charset="-128"/>
                <a:ea typeface="BIZ UDPゴシック" panose="020B0400000000000000" pitchFamily="50" charset="-128"/>
              </a:rPr>
              <a:t>が上回るも、ターゲット視聴率、総合視聴率については</a:t>
            </a:r>
            <a:r>
              <a:rPr lang="en-US" altLang="ja-JP" dirty="0">
                <a:highlight>
                  <a:srgbClr val="FFFF00"/>
                </a:highlight>
                <a:latin typeface="BIZ UDPゴシック" panose="020B0400000000000000" pitchFamily="50" charset="-128"/>
                <a:ea typeface="BIZ UDPゴシック" panose="020B0400000000000000" pitchFamily="50" charset="-128"/>
              </a:rPr>
              <a:t>RBC</a:t>
            </a:r>
            <a:r>
              <a:rPr lang="ja-JP" altLang="en-US" dirty="0">
                <a:highlight>
                  <a:srgbClr val="FFFF00"/>
                </a:highlight>
                <a:latin typeface="BIZ UDPゴシック" panose="020B0400000000000000" pitchFamily="50" charset="-128"/>
                <a:ea typeface="BIZ UDPゴシック" panose="020B0400000000000000" pitchFamily="50" charset="-128"/>
              </a:rPr>
              <a:t>が強い結果に。</a:t>
            </a:r>
            <a:endParaRPr lang="en-US" altLang="ja-JP" dirty="0">
              <a:highlight>
                <a:srgbClr val="FFFF00"/>
              </a:highlight>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91378534-D3EC-677E-1550-7943240D372C}"/>
              </a:ext>
            </a:extLst>
          </p:cNvPr>
          <p:cNvSpPr txBox="1"/>
          <p:nvPr/>
        </p:nvSpPr>
        <p:spPr>
          <a:xfrm>
            <a:off x="131454" y="5492346"/>
            <a:ext cx="5964546" cy="430887"/>
          </a:xfrm>
          <a:prstGeom prst="rect">
            <a:avLst/>
          </a:prstGeom>
          <a:solidFill>
            <a:schemeClr val="accent2"/>
          </a:solidFill>
        </p:spPr>
        <p:txBody>
          <a:bodyPr wrap="square" rtlCol="0">
            <a:spAutoFit/>
          </a:bodyPr>
          <a:lstStyle/>
          <a:p>
            <a:pPr algn="ctr"/>
            <a:r>
              <a:rPr lang="ja-JP" altLang="en-US" sz="1100" b="1" dirty="0">
                <a:solidFill>
                  <a:schemeClr val="bg1"/>
                </a:solidFill>
                <a:latin typeface="BIZ UDPゴシック" panose="020B0400000000000000" pitchFamily="50" charset="-128"/>
                <a:ea typeface="BIZ UDPゴシック" panose="020B0400000000000000" pitchFamily="50" charset="-128"/>
              </a:rPr>
              <a:t>男性</a:t>
            </a:r>
            <a:r>
              <a:rPr lang="en-US" altLang="ja-JP" sz="1100" b="1" dirty="0">
                <a:solidFill>
                  <a:schemeClr val="bg1"/>
                </a:solidFill>
                <a:latin typeface="BIZ UDPゴシック" panose="020B0400000000000000" pitchFamily="50" charset="-128"/>
                <a:ea typeface="BIZ UDPゴシック" panose="020B0400000000000000" pitchFamily="50" charset="-128"/>
              </a:rPr>
              <a:t>35</a:t>
            </a:r>
            <a:r>
              <a:rPr lang="ja-JP" altLang="en-US" sz="1100" b="1" dirty="0">
                <a:solidFill>
                  <a:schemeClr val="bg1"/>
                </a:solidFill>
                <a:latin typeface="BIZ UDPゴシック" panose="020B0400000000000000" pitchFamily="50" charset="-128"/>
                <a:ea typeface="BIZ UDPゴシック" panose="020B0400000000000000" pitchFamily="50" charset="-128"/>
              </a:rPr>
              <a:t>歳ー</a:t>
            </a:r>
            <a:r>
              <a:rPr lang="en-US" altLang="ja-JP" sz="1100" b="1" dirty="0">
                <a:solidFill>
                  <a:schemeClr val="bg1"/>
                </a:solidFill>
                <a:latin typeface="BIZ UDPゴシック" panose="020B0400000000000000" pitchFamily="50" charset="-128"/>
                <a:ea typeface="BIZ UDPゴシック" panose="020B0400000000000000" pitchFamily="50" charset="-128"/>
              </a:rPr>
              <a:t>65</a:t>
            </a:r>
            <a:r>
              <a:rPr lang="ja-JP" altLang="en-US" sz="1100" b="1" dirty="0">
                <a:solidFill>
                  <a:schemeClr val="bg1"/>
                </a:solidFill>
                <a:latin typeface="BIZ UDPゴシック" panose="020B0400000000000000" pitchFamily="50" charset="-128"/>
                <a:ea typeface="BIZ UDPゴシック" panose="020B0400000000000000" pitchFamily="50" charset="-128"/>
              </a:rPr>
              <a:t>歳以上平均で　２１８．１３ポイント⇒　延べ約　</a:t>
            </a:r>
            <a:r>
              <a:rPr lang="en-US" altLang="ja-JP" sz="1100" b="1" dirty="0">
                <a:solidFill>
                  <a:schemeClr val="bg1"/>
                </a:solidFill>
                <a:latin typeface="BIZ UDPゴシック" panose="020B0400000000000000" pitchFamily="50" charset="-128"/>
                <a:ea typeface="BIZ UDPゴシック" panose="020B0400000000000000" pitchFamily="50" charset="-128"/>
              </a:rPr>
              <a:t>3,053,821</a:t>
            </a:r>
            <a:r>
              <a:rPr lang="ja-JP" altLang="en-US" sz="1100" b="1" dirty="0">
                <a:solidFill>
                  <a:schemeClr val="bg1"/>
                </a:solidFill>
                <a:latin typeface="BIZ UDPゴシック" panose="020B0400000000000000" pitchFamily="50" charset="-128"/>
                <a:ea typeface="BIZ UDPゴシック" panose="020B0400000000000000" pitchFamily="50" charset="-128"/>
              </a:rPr>
              <a:t>人へのリーチ差</a:t>
            </a:r>
            <a:endParaRPr lang="en-US" altLang="ja-JP" sz="1100" b="1" dirty="0">
              <a:solidFill>
                <a:schemeClr val="bg1"/>
              </a:solidFill>
              <a:latin typeface="BIZ UDPゴシック" panose="020B0400000000000000" pitchFamily="50" charset="-128"/>
              <a:ea typeface="BIZ UDPゴシック" panose="020B0400000000000000" pitchFamily="50" charset="-128"/>
            </a:endParaRPr>
          </a:p>
          <a:p>
            <a:pPr algn="ctr"/>
            <a:r>
              <a:rPr lang="ja-JP" altLang="en-US" sz="1100" b="1" dirty="0">
                <a:solidFill>
                  <a:schemeClr val="bg1"/>
                </a:solidFill>
                <a:latin typeface="BIZ UDPゴシック" panose="020B0400000000000000" pitchFamily="50" charset="-128"/>
                <a:ea typeface="BIZ UDPゴシック" panose="020B0400000000000000" pitchFamily="50" charset="-128"/>
              </a:rPr>
              <a:t>女性</a:t>
            </a:r>
            <a:r>
              <a:rPr lang="en-US" altLang="ja-JP" sz="1100" b="1" dirty="0">
                <a:solidFill>
                  <a:schemeClr val="bg1"/>
                </a:solidFill>
                <a:latin typeface="BIZ UDPゴシック" panose="020B0400000000000000" pitchFamily="50" charset="-128"/>
                <a:ea typeface="BIZ UDPゴシック" panose="020B0400000000000000" pitchFamily="50" charset="-128"/>
              </a:rPr>
              <a:t>35</a:t>
            </a:r>
            <a:r>
              <a:rPr lang="ja-JP" altLang="en-US" sz="1100" b="1" dirty="0">
                <a:solidFill>
                  <a:schemeClr val="bg1"/>
                </a:solidFill>
                <a:latin typeface="BIZ UDPゴシック" panose="020B0400000000000000" pitchFamily="50" charset="-128"/>
                <a:ea typeface="BIZ UDPゴシック" panose="020B0400000000000000" pitchFamily="50" charset="-128"/>
              </a:rPr>
              <a:t>歳ー</a:t>
            </a:r>
            <a:r>
              <a:rPr lang="en-US" altLang="ja-JP" sz="1100" b="1" dirty="0">
                <a:solidFill>
                  <a:schemeClr val="bg1"/>
                </a:solidFill>
                <a:latin typeface="BIZ UDPゴシック" panose="020B0400000000000000" pitchFamily="50" charset="-128"/>
                <a:ea typeface="BIZ UDPゴシック" panose="020B0400000000000000" pitchFamily="50" charset="-128"/>
              </a:rPr>
              <a:t>65</a:t>
            </a:r>
            <a:r>
              <a:rPr lang="ja-JP" altLang="en-US" sz="1100" b="1" dirty="0">
                <a:solidFill>
                  <a:schemeClr val="bg1"/>
                </a:solidFill>
                <a:latin typeface="BIZ UDPゴシック" panose="020B0400000000000000" pitchFamily="50" charset="-128"/>
                <a:ea typeface="BIZ UDPゴシック" panose="020B0400000000000000" pitchFamily="50" charset="-128"/>
              </a:rPr>
              <a:t>歳以上平均で　１３９．８３ポイント⇒　延べ約　</a:t>
            </a:r>
            <a:r>
              <a:rPr lang="en-US" altLang="ja-JP" sz="1100" b="1" dirty="0">
                <a:solidFill>
                  <a:schemeClr val="bg1"/>
                </a:solidFill>
                <a:latin typeface="BIZ UDPゴシック" panose="020B0400000000000000" pitchFamily="50" charset="-128"/>
                <a:ea typeface="BIZ UDPゴシック" panose="020B0400000000000000" pitchFamily="50" charset="-128"/>
              </a:rPr>
              <a:t>1,957,620</a:t>
            </a:r>
            <a:r>
              <a:rPr lang="ja-JP" altLang="en-US" sz="1100" b="1" dirty="0">
                <a:solidFill>
                  <a:schemeClr val="bg1"/>
                </a:solidFill>
                <a:latin typeface="BIZ UDPゴシック" panose="020B0400000000000000" pitchFamily="50" charset="-128"/>
                <a:ea typeface="BIZ UDPゴシック" panose="020B0400000000000000" pitchFamily="50" charset="-128"/>
              </a:rPr>
              <a:t>人へのリーチ差</a:t>
            </a:r>
            <a:endParaRPr lang="en-US" altLang="ja-JP" sz="1100" b="1" dirty="0">
              <a:solidFill>
                <a:schemeClr val="bg1"/>
              </a:solidFill>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57028B3F-5837-5629-F8A8-57A7898FF51A}"/>
              </a:ext>
            </a:extLst>
          </p:cNvPr>
          <p:cNvSpPr txBox="1"/>
          <p:nvPr/>
        </p:nvSpPr>
        <p:spPr>
          <a:xfrm>
            <a:off x="3199802" y="3870447"/>
            <a:ext cx="4374478" cy="261610"/>
          </a:xfrm>
          <a:prstGeom prst="rect">
            <a:avLst/>
          </a:prstGeom>
          <a:noFill/>
        </p:spPr>
        <p:txBody>
          <a:bodyPr wrap="square" rtlCol="0">
            <a:spAutoFit/>
          </a:bodyPr>
          <a:lstStyle/>
          <a:p>
            <a:r>
              <a:rPr kumimoji="1" lang="en-US" altLang="ja-JP" sz="1050" dirty="0">
                <a:solidFill>
                  <a:schemeClr val="accent1"/>
                </a:solidFill>
                <a:latin typeface="BIZ UDPゴシック" panose="020B0400000000000000" pitchFamily="50" charset="-128"/>
                <a:ea typeface="BIZ UDPゴシック" panose="020B0400000000000000" pitchFamily="50" charset="-128"/>
              </a:rPr>
              <a:t>※</a:t>
            </a:r>
            <a:r>
              <a:rPr kumimoji="1" lang="ja-JP" altLang="en-US" sz="1050" dirty="0">
                <a:solidFill>
                  <a:schemeClr val="accent1"/>
                </a:solidFill>
                <a:latin typeface="BIZ UDPゴシック" panose="020B0400000000000000" pitchFamily="50" charset="-128"/>
                <a:ea typeface="BIZ UDPゴシック" panose="020B0400000000000000" pitchFamily="50" charset="-128"/>
              </a:rPr>
              <a:t>　コスト取得時 </a:t>
            </a:r>
            <a:r>
              <a:rPr kumimoji="1" lang="en-US" altLang="ja-JP" sz="1050" dirty="0">
                <a:solidFill>
                  <a:schemeClr val="accent1"/>
                </a:solidFill>
                <a:latin typeface="BIZ UDPゴシック" panose="020B0400000000000000" pitchFamily="50" charset="-128"/>
                <a:ea typeface="BIZ UDPゴシック" panose="020B0400000000000000" pitchFamily="50" charset="-128"/>
              </a:rPr>
              <a:t>350.26</a:t>
            </a:r>
            <a:r>
              <a:rPr lang="ja-JP" altLang="en-US" sz="1050" dirty="0">
                <a:solidFill>
                  <a:schemeClr val="accent1"/>
                </a:solidFill>
                <a:latin typeface="BIZ UDPゴシック" panose="020B0400000000000000" pitchFamily="50" charset="-128"/>
                <a:ea typeface="BIZ UDPゴシック" panose="020B0400000000000000" pitchFamily="50" charset="-128"/>
              </a:rPr>
              <a:t>、　１１７％</a:t>
            </a:r>
            <a:endParaRPr lang="en-US" altLang="ja-JP" sz="1050" dirty="0">
              <a:solidFill>
                <a:schemeClr val="accent1"/>
              </a:solidFill>
              <a:latin typeface="BIZ UDPゴシック" panose="020B0400000000000000" pitchFamily="50" charset="-128"/>
              <a:ea typeface="BIZ UDPゴシック" panose="020B0400000000000000" pitchFamily="50" charset="-128"/>
            </a:endParaRPr>
          </a:p>
        </p:txBody>
      </p:sp>
      <p:sp>
        <p:nvSpPr>
          <p:cNvPr id="19" name="楕円 18">
            <a:extLst>
              <a:ext uri="{FF2B5EF4-FFF2-40B4-BE49-F238E27FC236}">
                <a16:creationId xmlns:a16="http://schemas.microsoft.com/office/drawing/2014/main" id="{E111FB77-B2AB-5B1B-2E23-13264070B6BE}"/>
              </a:ext>
            </a:extLst>
          </p:cNvPr>
          <p:cNvSpPr/>
          <p:nvPr/>
        </p:nvSpPr>
        <p:spPr>
          <a:xfrm>
            <a:off x="4069080" y="3508510"/>
            <a:ext cx="739140" cy="289560"/>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B086DFA2-FFE0-8351-F63F-74ABE9C6F5D4}"/>
              </a:ext>
            </a:extLst>
          </p:cNvPr>
          <p:cNvSpPr/>
          <p:nvPr/>
        </p:nvSpPr>
        <p:spPr>
          <a:xfrm>
            <a:off x="4069080" y="4864232"/>
            <a:ext cx="739140" cy="289560"/>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3EE08122-1D19-7EED-850E-D4B5F24FED3E}"/>
              </a:ext>
            </a:extLst>
          </p:cNvPr>
          <p:cNvSpPr txBox="1"/>
          <p:nvPr/>
        </p:nvSpPr>
        <p:spPr>
          <a:xfrm>
            <a:off x="3199802" y="5210994"/>
            <a:ext cx="4374478" cy="261610"/>
          </a:xfrm>
          <a:prstGeom prst="rect">
            <a:avLst/>
          </a:prstGeom>
          <a:noFill/>
        </p:spPr>
        <p:txBody>
          <a:bodyPr wrap="square" rtlCol="0">
            <a:spAutoFit/>
          </a:bodyPr>
          <a:lstStyle/>
          <a:p>
            <a:r>
              <a:rPr kumimoji="1" lang="en-US" altLang="ja-JP" sz="1050" dirty="0">
                <a:solidFill>
                  <a:schemeClr val="accent1"/>
                </a:solidFill>
                <a:latin typeface="BIZ UDPゴシック" panose="020B0400000000000000" pitchFamily="50" charset="-128"/>
                <a:ea typeface="BIZ UDPゴシック" panose="020B0400000000000000" pitchFamily="50" charset="-128"/>
              </a:rPr>
              <a:t>※</a:t>
            </a:r>
            <a:r>
              <a:rPr kumimoji="1" lang="ja-JP" altLang="en-US" sz="1050" dirty="0">
                <a:solidFill>
                  <a:schemeClr val="accent1"/>
                </a:solidFill>
                <a:latin typeface="BIZ UDPゴシック" panose="020B0400000000000000" pitchFamily="50" charset="-128"/>
                <a:ea typeface="BIZ UDPゴシック" panose="020B0400000000000000" pitchFamily="50" charset="-128"/>
              </a:rPr>
              <a:t>　コスト取得時 ３００．</a:t>
            </a:r>
            <a:r>
              <a:rPr kumimoji="1" lang="en-US" altLang="ja-JP" sz="1050" dirty="0">
                <a:solidFill>
                  <a:schemeClr val="accent1"/>
                </a:solidFill>
                <a:latin typeface="BIZ UDPゴシック" panose="020B0400000000000000" pitchFamily="50" charset="-128"/>
                <a:ea typeface="BIZ UDPゴシック" panose="020B0400000000000000" pitchFamily="50" charset="-128"/>
              </a:rPr>
              <a:t>75</a:t>
            </a:r>
            <a:r>
              <a:rPr lang="ja-JP" altLang="en-US" sz="1050" dirty="0">
                <a:solidFill>
                  <a:schemeClr val="accent1"/>
                </a:solidFill>
                <a:latin typeface="BIZ UDPゴシック" panose="020B0400000000000000" pitchFamily="50" charset="-128"/>
                <a:ea typeface="BIZ UDPゴシック" panose="020B0400000000000000" pitchFamily="50" charset="-128"/>
              </a:rPr>
              <a:t>、　１００．４％</a:t>
            </a:r>
            <a:endParaRPr lang="en-US" altLang="ja-JP" sz="1050" dirty="0">
              <a:solidFill>
                <a:schemeClr val="accent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9878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1800493"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＞＞現状の整理</a:t>
            </a:r>
          </a:p>
        </p:txBody>
      </p:sp>
      <p:sp>
        <p:nvSpPr>
          <p:cNvPr id="8" name="正方形/長方形 7">
            <a:extLst>
              <a:ext uri="{FF2B5EF4-FFF2-40B4-BE49-F238E27FC236}">
                <a16:creationId xmlns:a16="http://schemas.microsoft.com/office/drawing/2014/main" id="{7EB42643-F398-57BD-D52F-D9774B74135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36BD1D2-2A8C-8D7F-AEBF-9CBD1069F1C1}"/>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10">
            <a:extLst>
              <a:ext uri="{FF2B5EF4-FFF2-40B4-BE49-F238E27FC236}">
                <a16:creationId xmlns:a16="http://schemas.microsoft.com/office/drawing/2014/main" id="{AEDA3085-9D26-282F-BC2C-13DFCB544DB3}"/>
              </a:ext>
            </a:extLst>
          </p:cNvPr>
          <p:cNvSpPr>
            <a:spLocks noGrp="1"/>
          </p:cNvSpPr>
          <p:nvPr>
            <p:ph type="sldNum" sz="quarter" idx="12"/>
          </p:nvPr>
        </p:nvSpPr>
        <p:spPr>
          <a:xfrm>
            <a:off x="9326880" y="6371613"/>
            <a:ext cx="2743200" cy="365125"/>
          </a:xfrm>
        </p:spPr>
        <p:txBody>
          <a:bodyPr/>
          <a:lstStyle/>
          <a:p>
            <a:fld id="{5A968F70-849A-4002-AAE1-AF06B930E453}" type="slidenum">
              <a:rPr kumimoji="1" lang="ja-JP" altLang="en-US" smtClean="0"/>
              <a:t>2</a:t>
            </a:fld>
            <a:endParaRPr kumimoji="1" lang="ja-JP" altLang="en-US"/>
          </a:p>
        </p:txBody>
      </p:sp>
      <p:sp>
        <p:nvSpPr>
          <p:cNvPr id="2" name="テキスト ボックス 1">
            <a:extLst>
              <a:ext uri="{FF2B5EF4-FFF2-40B4-BE49-F238E27FC236}">
                <a16:creationId xmlns:a16="http://schemas.microsoft.com/office/drawing/2014/main" id="{03257F61-267B-C490-AB77-95361B481A7F}"/>
              </a:ext>
            </a:extLst>
          </p:cNvPr>
          <p:cNvSpPr txBox="1"/>
          <p:nvPr/>
        </p:nvSpPr>
        <p:spPr>
          <a:xfrm>
            <a:off x="500150" y="729550"/>
            <a:ext cx="11295610" cy="1323439"/>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 ターゲットに対して視聴率の強い</a:t>
            </a:r>
            <a:r>
              <a:rPr kumimoji="1" lang="en-US" altLang="ja-JP" sz="1600" dirty="0">
                <a:latin typeface="BIZ UDPゴシック" panose="020B0400000000000000" pitchFamily="50" charset="-128"/>
                <a:ea typeface="BIZ UDPゴシック" panose="020B0400000000000000" pitchFamily="50" charset="-128"/>
              </a:rPr>
              <a:t>RBC</a:t>
            </a:r>
            <a:r>
              <a:rPr kumimoji="1" lang="ja-JP" altLang="en-US" sz="1600" dirty="0">
                <a:latin typeface="BIZ UDPゴシック" panose="020B0400000000000000" pitchFamily="50" charset="-128"/>
                <a:ea typeface="BIZ UDPゴシック" panose="020B0400000000000000" pitchFamily="50" charset="-128"/>
              </a:rPr>
              <a:t>ですが、番組提供を軸に構成されている為、以下の通り検討余地があります。</a:t>
            </a:r>
            <a:endParaRPr kumimoji="1" lang="en-US" altLang="ja-JP" sz="1600"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r>
              <a:rPr kumimoji="1" lang="ja-JP" altLang="en-US" sz="1600" dirty="0">
                <a:latin typeface="BIZ UDPゴシック" panose="020B0400000000000000" pitchFamily="50" charset="-128"/>
                <a:ea typeface="BIZ UDPゴシック" panose="020B0400000000000000" pitchFamily="50" charset="-128"/>
              </a:rPr>
              <a:t>＜検討可能な内容＞</a:t>
            </a:r>
            <a:endParaRPr kumimoji="1"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① 番組提供枠の為、決まった番組内での</a:t>
            </a:r>
            <a:r>
              <a:rPr lang="en-US" altLang="ja-JP" sz="1600" dirty="0">
                <a:latin typeface="BIZ UDPゴシック" panose="020B0400000000000000" pitchFamily="50" charset="-128"/>
                <a:ea typeface="BIZ UDPゴシック" panose="020B0400000000000000" pitchFamily="50" charset="-128"/>
              </a:rPr>
              <a:t>CM</a:t>
            </a:r>
            <a:r>
              <a:rPr lang="ja-JP" altLang="en-US" sz="1600" dirty="0">
                <a:latin typeface="BIZ UDPゴシック" panose="020B0400000000000000" pitchFamily="50" charset="-128"/>
                <a:ea typeface="BIZ UDPゴシック" panose="020B0400000000000000" pitchFamily="50" charset="-128"/>
              </a:rPr>
              <a:t>放送となり視聴者が固定される。（対象に対して浸透しやすいメリットはあり）</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② 現在の提供枠が</a:t>
            </a:r>
            <a:r>
              <a:rPr lang="en-US" altLang="ja-JP" sz="1600" dirty="0">
                <a:latin typeface="BIZ UDPゴシック" panose="020B0400000000000000" pitchFamily="50" charset="-128"/>
                <a:ea typeface="BIZ UDPゴシック" panose="020B0400000000000000" pitchFamily="50" charset="-128"/>
              </a:rPr>
              <a:t>A</a:t>
            </a:r>
            <a:r>
              <a:rPr lang="ja-JP" altLang="en-US" sz="1600" dirty="0">
                <a:latin typeface="BIZ UDPゴシック" panose="020B0400000000000000" pitchFamily="50" charset="-128"/>
                <a:ea typeface="BIZ UDPゴシック" panose="020B0400000000000000" pitchFamily="50" charset="-128"/>
              </a:rPr>
              <a:t>タイムの放送枠が無く、土日の放送枠が無い為働き世代に対してさらにアプローチできる可能性がある。</a:t>
            </a:r>
            <a:endParaRPr lang="en-US" altLang="ja-JP" sz="1600" dirty="0">
              <a:latin typeface="BIZ UDPゴシック" panose="020B0400000000000000" pitchFamily="50" charset="-128"/>
              <a:ea typeface="BIZ UDPゴシック" panose="020B0400000000000000" pitchFamily="50" charset="-128"/>
            </a:endParaRPr>
          </a:p>
        </p:txBody>
      </p:sp>
      <p:pic>
        <p:nvPicPr>
          <p:cNvPr id="6" name="図 5" descr="タイムライン が含まれている画像&#10;&#10;AI 生成コンテンツは誤りを含む可能性があります。">
            <a:extLst>
              <a:ext uri="{FF2B5EF4-FFF2-40B4-BE49-F238E27FC236}">
                <a16:creationId xmlns:a16="http://schemas.microsoft.com/office/drawing/2014/main" id="{24265E41-4520-49BA-FE21-E8C943C210BD}"/>
              </a:ext>
            </a:extLst>
          </p:cNvPr>
          <p:cNvPicPr>
            <a:picLocks noChangeAspect="1"/>
          </p:cNvPicPr>
          <p:nvPr/>
        </p:nvPicPr>
        <p:blipFill>
          <a:blip r:embed="rId2"/>
          <a:stretch>
            <a:fillRect/>
          </a:stretch>
        </p:blipFill>
        <p:spPr>
          <a:xfrm>
            <a:off x="984578" y="2194910"/>
            <a:ext cx="5201062" cy="4289188"/>
          </a:xfrm>
          <a:prstGeom prst="rect">
            <a:avLst/>
          </a:prstGeom>
        </p:spPr>
      </p:pic>
      <p:pic>
        <p:nvPicPr>
          <p:cNvPr id="11" name="図 10" descr="カレンダー&#10;&#10;AI 生成コンテンツは誤りを含む可能性があります。">
            <a:extLst>
              <a:ext uri="{FF2B5EF4-FFF2-40B4-BE49-F238E27FC236}">
                <a16:creationId xmlns:a16="http://schemas.microsoft.com/office/drawing/2014/main" id="{B3E09BD8-6718-A9D0-5C3B-17ABC6EE19D8}"/>
              </a:ext>
            </a:extLst>
          </p:cNvPr>
          <p:cNvPicPr>
            <a:picLocks noChangeAspect="1"/>
          </p:cNvPicPr>
          <p:nvPr/>
        </p:nvPicPr>
        <p:blipFill>
          <a:blip r:embed="rId3"/>
          <a:stretch>
            <a:fillRect/>
          </a:stretch>
        </p:blipFill>
        <p:spPr>
          <a:xfrm>
            <a:off x="6320378" y="3368091"/>
            <a:ext cx="5201062" cy="3095871"/>
          </a:xfrm>
          <a:prstGeom prst="rect">
            <a:avLst/>
          </a:prstGeom>
        </p:spPr>
      </p:pic>
      <p:sp>
        <p:nvSpPr>
          <p:cNvPr id="12" name="正方形/長方形 11">
            <a:extLst>
              <a:ext uri="{FF2B5EF4-FFF2-40B4-BE49-F238E27FC236}">
                <a16:creationId xmlns:a16="http://schemas.microsoft.com/office/drawing/2014/main" id="{2888D829-E7DA-D3CE-4B24-2A48A7F606AF}"/>
              </a:ext>
            </a:extLst>
          </p:cNvPr>
          <p:cNvSpPr/>
          <p:nvPr/>
        </p:nvSpPr>
        <p:spPr>
          <a:xfrm>
            <a:off x="984578" y="3080036"/>
            <a:ext cx="3191182" cy="2743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34711648-077D-CEA6-A7A6-E7B4DBBBE307}"/>
              </a:ext>
            </a:extLst>
          </p:cNvPr>
          <p:cNvSpPr/>
          <p:nvPr/>
        </p:nvSpPr>
        <p:spPr>
          <a:xfrm>
            <a:off x="964258" y="4517676"/>
            <a:ext cx="3191182" cy="965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D10106EE-F994-7A86-1F9E-F299743E51CA}"/>
              </a:ext>
            </a:extLst>
          </p:cNvPr>
          <p:cNvSpPr/>
          <p:nvPr/>
        </p:nvSpPr>
        <p:spPr>
          <a:xfrm>
            <a:off x="1255776" y="5132356"/>
            <a:ext cx="566928" cy="2743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40750E1A-9E37-A2D7-B972-0FC1CA61B7D3}"/>
              </a:ext>
            </a:extLst>
          </p:cNvPr>
          <p:cNvSpPr/>
          <p:nvPr/>
        </p:nvSpPr>
        <p:spPr>
          <a:xfrm>
            <a:off x="1255776" y="5436510"/>
            <a:ext cx="566928" cy="2743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27314AD8-5D79-E99A-8041-D2D96D48DEC4}"/>
              </a:ext>
            </a:extLst>
          </p:cNvPr>
          <p:cNvSpPr/>
          <p:nvPr/>
        </p:nvSpPr>
        <p:spPr>
          <a:xfrm>
            <a:off x="1849538" y="5123582"/>
            <a:ext cx="566928" cy="2743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9EE8D86A-EBB1-75CE-2685-45EE404F5847}"/>
              </a:ext>
            </a:extLst>
          </p:cNvPr>
          <p:cNvSpPr/>
          <p:nvPr/>
        </p:nvSpPr>
        <p:spPr>
          <a:xfrm>
            <a:off x="1849538" y="5427736"/>
            <a:ext cx="566928" cy="2743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608D1E63-09AA-D4F5-B873-E957E212D42A}"/>
              </a:ext>
            </a:extLst>
          </p:cNvPr>
          <p:cNvSpPr/>
          <p:nvPr/>
        </p:nvSpPr>
        <p:spPr>
          <a:xfrm>
            <a:off x="2404200" y="5677122"/>
            <a:ext cx="566928" cy="2743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446BAA06-C069-441C-D338-DF11AB5DCCBB}"/>
              </a:ext>
            </a:extLst>
          </p:cNvPr>
          <p:cNvSpPr/>
          <p:nvPr/>
        </p:nvSpPr>
        <p:spPr>
          <a:xfrm>
            <a:off x="3572245" y="5132356"/>
            <a:ext cx="566928" cy="544766"/>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1FC9F01C-304A-AC6D-44A6-EA8D5C829573}"/>
              </a:ext>
            </a:extLst>
          </p:cNvPr>
          <p:cNvSpPr/>
          <p:nvPr/>
        </p:nvSpPr>
        <p:spPr>
          <a:xfrm>
            <a:off x="6320378" y="4471310"/>
            <a:ext cx="2630582" cy="361326"/>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EFE77C04-9C09-3A17-5BEE-E45C1BC2F0A4}"/>
              </a:ext>
            </a:extLst>
          </p:cNvPr>
          <p:cNvSpPr/>
          <p:nvPr/>
        </p:nvSpPr>
        <p:spPr>
          <a:xfrm>
            <a:off x="8920909" y="4882970"/>
            <a:ext cx="566928" cy="283653"/>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C8751C60-CD0F-49F7-4BB8-25BD3F1881B0}"/>
              </a:ext>
            </a:extLst>
          </p:cNvPr>
          <p:cNvSpPr/>
          <p:nvPr/>
        </p:nvSpPr>
        <p:spPr>
          <a:xfrm>
            <a:off x="7169012" y="4916026"/>
            <a:ext cx="566928" cy="361326"/>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B5E881A6-7F4B-C886-54D5-46ECAF8959C2}"/>
              </a:ext>
            </a:extLst>
          </p:cNvPr>
          <p:cNvSpPr/>
          <p:nvPr/>
        </p:nvSpPr>
        <p:spPr>
          <a:xfrm>
            <a:off x="7735940" y="5355454"/>
            <a:ext cx="566928" cy="361326"/>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D98132FF-39FE-F418-D924-6ABDF7784001}"/>
              </a:ext>
            </a:extLst>
          </p:cNvPr>
          <p:cNvSpPr/>
          <p:nvPr/>
        </p:nvSpPr>
        <p:spPr>
          <a:xfrm>
            <a:off x="4348065" y="2444621"/>
            <a:ext cx="1764303" cy="4019341"/>
          </a:xfrm>
          <a:prstGeom prst="rect">
            <a:avLst/>
          </a:prstGeom>
          <a:noFill/>
          <a:ln w="762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F9635DA0-28D0-23F2-77EF-E1BE01AAA6D0}"/>
              </a:ext>
            </a:extLst>
          </p:cNvPr>
          <p:cNvSpPr/>
          <p:nvPr/>
        </p:nvSpPr>
        <p:spPr>
          <a:xfrm>
            <a:off x="9718430" y="3340621"/>
            <a:ext cx="1764303" cy="3123341"/>
          </a:xfrm>
          <a:prstGeom prst="rect">
            <a:avLst/>
          </a:prstGeom>
          <a:noFill/>
          <a:ln w="762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2D8BD925-DE02-2CE4-3A40-05E6B4FF9E2F}"/>
              </a:ext>
            </a:extLst>
          </p:cNvPr>
          <p:cNvSpPr/>
          <p:nvPr/>
        </p:nvSpPr>
        <p:spPr>
          <a:xfrm>
            <a:off x="6320378" y="3368091"/>
            <a:ext cx="3167459" cy="1086200"/>
          </a:xfrm>
          <a:prstGeom prst="rect">
            <a:avLst/>
          </a:prstGeom>
          <a:noFill/>
          <a:ln w="762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847CD832-248C-625E-9B3D-662E6C369D00}"/>
              </a:ext>
            </a:extLst>
          </p:cNvPr>
          <p:cNvSpPr txBox="1"/>
          <p:nvPr/>
        </p:nvSpPr>
        <p:spPr>
          <a:xfrm>
            <a:off x="6647337" y="2554381"/>
            <a:ext cx="4607246" cy="338554"/>
          </a:xfrm>
          <a:prstGeom prst="rect">
            <a:avLst/>
          </a:prstGeom>
          <a:noFill/>
        </p:spPr>
        <p:txBody>
          <a:bodyPr wrap="square" rtlCol="0">
            <a:spAutoFit/>
          </a:bodyPr>
          <a:lstStyle/>
          <a:p>
            <a:pPr algn="ctr"/>
            <a:r>
              <a:rPr kumimoji="1" lang="ja-JP" altLang="en-US" sz="1600" dirty="0">
                <a:solidFill>
                  <a:srgbClr val="FF0000"/>
                </a:solidFill>
                <a:highlight>
                  <a:srgbClr val="FFFF00"/>
                </a:highlight>
                <a:latin typeface="BIZ UDPゴシック" panose="020B0400000000000000" pitchFamily="50" charset="-128"/>
                <a:ea typeface="BIZ UDPゴシック" panose="020B0400000000000000" pitchFamily="50" charset="-128"/>
              </a:rPr>
              <a:t>この時間帯でのオンエアは拾えていない状況</a:t>
            </a:r>
            <a:endParaRPr lang="en-US" altLang="ja-JP" sz="1600" dirty="0">
              <a:solidFill>
                <a:srgbClr val="FF0000"/>
              </a:solidFill>
              <a:highlight>
                <a:srgbClr val="FFFF00"/>
              </a:highlight>
              <a:latin typeface="BIZ UDPゴシック" panose="020B0400000000000000" pitchFamily="50" charset="-128"/>
              <a:ea typeface="BIZ UDPゴシック" panose="020B0400000000000000" pitchFamily="50" charset="-128"/>
            </a:endParaRPr>
          </a:p>
        </p:txBody>
      </p:sp>
      <p:cxnSp>
        <p:nvCxnSpPr>
          <p:cNvPr id="31" name="直線コネクタ 30">
            <a:extLst>
              <a:ext uri="{FF2B5EF4-FFF2-40B4-BE49-F238E27FC236}">
                <a16:creationId xmlns:a16="http://schemas.microsoft.com/office/drawing/2014/main" id="{4D280E10-4026-0E0A-33F7-69E83F8C5834}"/>
              </a:ext>
            </a:extLst>
          </p:cNvPr>
          <p:cNvCxnSpPr/>
          <p:nvPr/>
        </p:nvCxnSpPr>
        <p:spPr>
          <a:xfrm flipV="1">
            <a:off x="6147955" y="2723658"/>
            <a:ext cx="499382" cy="169277"/>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01584AC9-2548-7155-AA99-BDD13D759168}"/>
              </a:ext>
            </a:extLst>
          </p:cNvPr>
          <p:cNvCxnSpPr>
            <a:cxnSpLocks/>
          </p:cNvCxnSpPr>
          <p:nvPr/>
        </p:nvCxnSpPr>
        <p:spPr>
          <a:xfrm flipV="1">
            <a:off x="7735940" y="2988119"/>
            <a:ext cx="283464" cy="281598"/>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967F5767-FA3D-1CA0-3909-006634327FBD}"/>
              </a:ext>
            </a:extLst>
          </p:cNvPr>
          <p:cNvCxnSpPr>
            <a:cxnSpLocks/>
            <a:endCxn id="27" idx="0"/>
          </p:cNvCxnSpPr>
          <p:nvPr/>
        </p:nvCxnSpPr>
        <p:spPr>
          <a:xfrm>
            <a:off x="9939337" y="3039793"/>
            <a:ext cx="661245" cy="300828"/>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8490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3392275"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＞＞放送方法のご提案について</a:t>
            </a:r>
          </a:p>
        </p:txBody>
      </p:sp>
      <p:sp>
        <p:nvSpPr>
          <p:cNvPr id="5" name="テキスト ボックス 4">
            <a:extLst>
              <a:ext uri="{FF2B5EF4-FFF2-40B4-BE49-F238E27FC236}">
                <a16:creationId xmlns:a16="http://schemas.microsoft.com/office/drawing/2014/main" id="{E5607FAA-1F02-307B-E39F-A54B54FC3316}"/>
              </a:ext>
            </a:extLst>
          </p:cNvPr>
          <p:cNvSpPr txBox="1"/>
          <p:nvPr/>
        </p:nvSpPr>
        <p:spPr>
          <a:xfrm>
            <a:off x="500150" y="729550"/>
            <a:ext cx="11222928" cy="2800767"/>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 </a:t>
            </a:r>
            <a:r>
              <a:rPr lang="ja-JP" altLang="en-US" sz="1600" dirty="0">
                <a:latin typeface="BIZ UDPゴシック" panose="020B0400000000000000" pitchFamily="50" charset="-128"/>
                <a:ea typeface="BIZ UDPゴシック" panose="020B0400000000000000" pitchFamily="50" charset="-128"/>
              </a:rPr>
              <a:t>かなり良い条件を提示いただいている</a:t>
            </a:r>
            <a:r>
              <a:rPr lang="en-US" altLang="ja-JP" sz="1600" dirty="0">
                <a:latin typeface="BIZ UDPゴシック" panose="020B0400000000000000" pitchFamily="50" charset="-128"/>
                <a:ea typeface="BIZ UDPゴシック" panose="020B0400000000000000" pitchFamily="50" charset="-128"/>
              </a:rPr>
              <a:t>RBC</a:t>
            </a:r>
            <a:r>
              <a:rPr lang="ja-JP" altLang="en-US" sz="1600" dirty="0">
                <a:latin typeface="BIZ UDPゴシック" panose="020B0400000000000000" pitchFamily="50" charset="-128"/>
                <a:ea typeface="BIZ UDPゴシック" panose="020B0400000000000000" pitchFamily="50" charset="-128"/>
              </a:rPr>
              <a:t>を軸に構築し、オンエアが届いていない時間帯でも獲得できるように、</a:t>
            </a:r>
            <a:endParaRPr lang="en-US" altLang="ja-JP" sz="1600" dirty="0">
              <a:latin typeface="BIZ UDPゴシック" panose="020B0400000000000000" pitchFamily="50" charset="-128"/>
              <a:ea typeface="BIZ UDPゴシック" panose="020B0400000000000000" pitchFamily="50" charset="-128"/>
            </a:endParaRPr>
          </a:p>
          <a:p>
            <a:r>
              <a:rPr lang="en-US" altLang="ja-JP" sz="1600" dirty="0">
                <a:latin typeface="BIZ UDPゴシック" panose="020B0400000000000000" pitchFamily="50" charset="-128"/>
                <a:ea typeface="BIZ UDPゴシック" panose="020B0400000000000000" pitchFamily="50" charset="-128"/>
              </a:rPr>
              <a:t>RBC</a:t>
            </a:r>
            <a:r>
              <a:rPr lang="ja-JP" altLang="en-US" sz="1600" dirty="0">
                <a:latin typeface="BIZ UDPゴシック" panose="020B0400000000000000" pitchFamily="50" charset="-128"/>
                <a:ea typeface="BIZ UDPゴシック" panose="020B0400000000000000" pitchFamily="50" charset="-128"/>
              </a:rPr>
              <a:t>のタイム中心の構成、</a:t>
            </a:r>
            <a:r>
              <a:rPr lang="en-US" altLang="ja-JP" sz="1600" dirty="0">
                <a:latin typeface="BIZ UDPゴシック" panose="020B0400000000000000" pitchFamily="50" charset="-128"/>
                <a:ea typeface="BIZ UDPゴシック" panose="020B0400000000000000" pitchFamily="50" charset="-128"/>
              </a:rPr>
              <a:t>QAB</a:t>
            </a:r>
            <a:r>
              <a:rPr lang="ja-JP" altLang="en-US" sz="1600" dirty="0">
                <a:latin typeface="BIZ UDPゴシック" panose="020B0400000000000000" pitchFamily="50" charset="-128"/>
                <a:ea typeface="BIZ UDPゴシック" panose="020B0400000000000000" pitchFamily="50" charset="-128"/>
              </a:rPr>
              <a:t>及び</a:t>
            </a:r>
            <a:r>
              <a:rPr lang="en-US" altLang="ja-JP" sz="1600" dirty="0">
                <a:latin typeface="BIZ UDPゴシック" panose="020B0400000000000000" pitchFamily="50" charset="-128"/>
                <a:ea typeface="BIZ UDPゴシック" panose="020B0400000000000000" pitchFamily="50" charset="-128"/>
              </a:rPr>
              <a:t>OTV</a:t>
            </a:r>
            <a:r>
              <a:rPr lang="ja-JP" altLang="en-US" sz="1600" dirty="0">
                <a:latin typeface="BIZ UDPゴシック" panose="020B0400000000000000" pitchFamily="50" charset="-128"/>
                <a:ea typeface="BIZ UDPゴシック" panose="020B0400000000000000" pitchFamily="50" charset="-128"/>
              </a:rPr>
              <a:t>のスポット中心の構成で展開を行うご提案となります。</a:t>
            </a:r>
            <a:endParaRPr lang="en-US" altLang="ja-JP" sz="1600"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条件面に優れている</a:t>
            </a:r>
            <a:r>
              <a:rPr lang="en-US" altLang="ja-JP" sz="1600" dirty="0">
                <a:latin typeface="BIZ UDPゴシック" panose="020B0400000000000000" pitchFamily="50" charset="-128"/>
                <a:ea typeface="BIZ UDPゴシック" panose="020B0400000000000000" pitchFamily="50" charset="-128"/>
              </a:rPr>
              <a:t>RBC</a:t>
            </a:r>
            <a:r>
              <a:rPr lang="ja-JP" altLang="en-US" sz="1600" dirty="0">
                <a:latin typeface="BIZ UDPゴシック" panose="020B0400000000000000" pitchFamily="50" charset="-128"/>
                <a:ea typeface="BIZ UDPゴシック" panose="020B0400000000000000" pitchFamily="50" charset="-128"/>
              </a:rPr>
              <a:t>より他局に予算を分散する事により、獲得視聴率については若干減少すると思われますが、</a:t>
            </a:r>
            <a:endParaRPr lang="en-US" altLang="ja-JP" sz="1600" dirty="0">
              <a:latin typeface="BIZ UDPゴシック" panose="020B0400000000000000" pitchFamily="50" charset="-128"/>
              <a:ea typeface="BIZ UDPゴシック" panose="020B0400000000000000" pitchFamily="50" charset="-128"/>
            </a:endParaRPr>
          </a:p>
          <a:p>
            <a:r>
              <a:rPr lang="en-US" altLang="ja-JP" sz="1600" dirty="0">
                <a:latin typeface="BIZ UDPゴシック" panose="020B0400000000000000" pitchFamily="50" charset="-128"/>
                <a:ea typeface="BIZ UDPゴシック" panose="020B0400000000000000" pitchFamily="50" charset="-128"/>
              </a:rPr>
              <a:t>CM</a:t>
            </a:r>
            <a:r>
              <a:rPr lang="ja-JP" altLang="en-US" sz="1600" dirty="0">
                <a:latin typeface="BIZ UDPゴシック" panose="020B0400000000000000" pitchFamily="50" charset="-128"/>
                <a:ea typeface="BIZ UDPゴシック" panose="020B0400000000000000" pitchFamily="50" charset="-128"/>
              </a:rPr>
              <a:t>視聴の時間帯を広く獲得する事により高い視聴率を維持しながらも新たな層へのアプローチについても広げていきたいと考えております。</a:t>
            </a:r>
            <a:endParaRPr lang="en-US" altLang="ja-JP" sz="1600"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　</a:t>
            </a:r>
            <a:r>
              <a:rPr lang="en-US" altLang="ja-JP" sz="1600" dirty="0">
                <a:latin typeface="BIZ UDPゴシック" panose="020B0400000000000000" pitchFamily="50" charset="-128"/>
                <a:ea typeface="BIZ UDPゴシック" panose="020B0400000000000000" pitchFamily="50" charset="-128"/>
              </a:rPr>
              <a:t>CM</a:t>
            </a:r>
            <a:r>
              <a:rPr lang="ja-JP" altLang="en-US" sz="1600" dirty="0">
                <a:latin typeface="BIZ UDPゴシック" panose="020B0400000000000000" pitchFamily="50" charset="-128"/>
                <a:ea typeface="BIZ UDPゴシック" panose="020B0400000000000000" pitchFamily="50" charset="-128"/>
              </a:rPr>
              <a:t>発注予算計画　＞</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① </a:t>
            </a:r>
            <a:r>
              <a:rPr lang="en-US" altLang="ja-JP" sz="1600" dirty="0">
                <a:latin typeface="BIZ UDPゴシック" panose="020B0400000000000000" pitchFamily="50" charset="-128"/>
                <a:ea typeface="BIZ UDPゴシック" panose="020B0400000000000000" pitchFamily="50" charset="-128"/>
              </a:rPr>
              <a:t>50</a:t>
            </a:r>
            <a:r>
              <a:rPr lang="ja-JP" altLang="en-US" sz="1600" dirty="0">
                <a:latin typeface="BIZ UDPゴシック" panose="020B0400000000000000" pitchFamily="50" charset="-128"/>
                <a:ea typeface="BIZ UDPゴシック" panose="020B0400000000000000" pitchFamily="50" charset="-128"/>
              </a:rPr>
              <a:t>万にて</a:t>
            </a:r>
            <a:r>
              <a:rPr lang="en-US" altLang="ja-JP" sz="1600" dirty="0">
                <a:latin typeface="BIZ UDPゴシック" panose="020B0400000000000000" pitchFamily="50" charset="-128"/>
                <a:ea typeface="BIZ UDPゴシック" panose="020B0400000000000000" pitchFamily="50" charset="-128"/>
              </a:rPr>
              <a:t>RBC</a:t>
            </a:r>
            <a:r>
              <a:rPr lang="ja-JP" altLang="en-US" sz="1600" dirty="0">
                <a:latin typeface="BIZ UDPゴシック" panose="020B0400000000000000" pitchFamily="50" charset="-128"/>
                <a:ea typeface="BIZ UDPゴシック" panose="020B0400000000000000" pitchFamily="50" charset="-128"/>
              </a:rPr>
              <a:t>より良い条件を入手（半年契約）番組提供枠を中心に</a:t>
            </a:r>
            <a:r>
              <a:rPr lang="en-US" altLang="ja-JP" sz="1600" dirty="0">
                <a:latin typeface="BIZ UDPゴシック" panose="020B0400000000000000" pitchFamily="50" charset="-128"/>
                <a:ea typeface="BIZ UDPゴシック" panose="020B0400000000000000" pitchFamily="50" charset="-128"/>
              </a:rPr>
              <a:t>CM</a:t>
            </a:r>
            <a:r>
              <a:rPr lang="ja-JP" altLang="en-US" sz="1600" dirty="0">
                <a:latin typeface="BIZ UDPゴシック" panose="020B0400000000000000" pitchFamily="50" charset="-128"/>
                <a:ea typeface="BIZ UDPゴシック" panose="020B0400000000000000" pitchFamily="50" charset="-128"/>
              </a:rPr>
              <a:t>をオンエア</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② </a:t>
            </a:r>
            <a:r>
              <a:rPr lang="en-US" altLang="ja-JP" sz="1600" dirty="0">
                <a:latin typeface="BIZ UDPゴシック" panose="020B0400000000000000" pitchFamily="50" charset="-128"/>
                <a:ea typeface="BIZ UDPゴシック" panose="020B0400000000000000" pitchFamily="50" charset="-128"/>
              </a:rPr>
              <a:t>QAB</a:t>
            </a:r>
            <a:r>
              <a:rPr lang="ja-JP" altLang="en-US" sz="1600" dirty="0">
                <a:latin typeface="BIZ UDPゴシック" panose="020B0400000000000000" pitchFamily="50" charset="-128"/>
                <a:ea typeface="BIZ UDPゴシック" panose="020B0400000000000000" pitchFamily="50" charset="-128"/>
              </a:rPr>
              <a:t>、</a:t>
            </a:r>
            <a:r>
              <a:rPr lang="en-US" altLang="ja-JP" sz="1600" dirty="0">
                <a:latin typeface="BIZ UDPゴシック" panose="020B0400000000000000" pitchFamily="50" charset="-128"/>
                <a:ea typeface="BIZ UDPゴシック" panose="020B0400000000000000" pitchFamily="50" charset="-128"/>
              </a:rPr>
              <a:t>OTV</a:t>
            </a:r>
            <a:r>
              <a:rPr lang="ja-JP" altLang="en-US" sz="1600" dirty="0">
                <a:latin typeface="BIZ UDPゴシック" panose="020B0400000000000000" pitchFamily="50" charset="-128"/>
                <a:ea typeface="BIZ UDPゴシック" panose="020B0400000000000000" pitchFamily="50" charset="-128"/>
              </a:rPr>
              <a:t>にてスポットのオンエアを実施。より視聴率が高い局へ発注移行</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③ </a:t>
            </a:r>
            <a:r>
              <a:rPr lang="en-US" altLang="ja-JP" sz="1600" dirty="0">
                <a:latin typeface="BIZ UDPゴシック" panose="020B0400000000000000" pitchFamily="50" charset="-128"/>
                <a:ea typeface="BIZ UDPゴシック" panose="020B0400000000000000" pitchFamily="50" charset="-128"/>
              </a:rPr>
              <a:t>5</a:t>
            </a:r>
            <a:r>
              <a:rPr lang="ja-JP" altLang="en-US" sz="1600" dirty="0">
                <a:latin typeface="BIZ UDPゴシック" panose="020B0400000000000000" pitchFamily="50" charset="-128"/>
                <a:ea typeface="BIZ UDPゴシック" panose="020B0400000000000000" pitchFamily="50" charset="-128"/>
              </a:rPr>
              <a:t>秒</a:t>
            </a:r>
            <a:r>
              <a:rPr lang="en-US" altLang="ja-JP" sz="1600" dirty="0">
                <a:latin typeface="BIZ UDPゴシック" panose="020B0400000000000000" pitchFamily="50" charset="-128"/>
                <a:ea typeface="BIZ UDPゴシック" panose="020B0400000000000000" pitchFamily="50" charset="-128"/>
              </a:rPr>
              <a:t>CM</a:t>
            </a:r>
            <a:r>
              <a:rPr lang="ja-JP" altLang="en-US" sz="1600" dirty="0">
                <a:latin typeface="BIZ UDPゴシック" panose="020B0400000000000000" pitchFamily="50" charset="-128"/>
                <a:ea typeface="BIZ UDPゴシック" panose="020B0400000000000000" pitchFamily="50" charset="-128"/>
              </a:rPr>
              <a:t>予算枠については今後検討、</a:t>
            </a:r>
            <a:r>
              <a:rPr lang="en-US" altLang="ja-JP" sz="1600" dirty="0">
                <a:latin typeface="BIZ UDPゴシック" panose="020B0400000000000000" pitchFamily="50" charset="-128"/>
                <a:ea typeface="BIZ UDPゴシック" panose="020B0400000000000000" pitchFamily="50" charset="-128"/>
              </a:rPr>
              <a:t>QAB</a:t>
            </a:r>
            <a:r>
              <a:rPr lang="ja-JP" altLang="en-US" sz="1600" dirty="0">
                <a:latin typeface="BIZ UDPゴシック" panose="020B0400000000000000" pitchFamily="50" charset="-128"/>
                <a:ea typeface="BIZ UDPゴシック" panose="020B0400000000000000" pitchFamily="50" charset="-128"/>
              </a:rPr>
              <a:t>については</a:t>
            </a:r>
            <a:r>
              <a:rPr lang="en-US" altLang="ja-JP" sz="1600" dirty="0">
                <a:latin typeface="BIZ UDPゴシック" panose="020B0400000000000000" pitchFamily="50" charset="-128"/>
                <a:ea typeface="BIZ UDPゴシック" panose="020B0400000000000000" pitchFamily="50" charset="-128"/>
              </a:rPr>
              <a:t>40</a:t>
            </a:r>
            <a:r>
              <a:rPr lang="ja-JP" altLang="en-US" sz="1600" dirty="0">
                <a:latin typeface="BIZ UDPゴシック" panose="020B0400000000000000" pitchFamily="50" charset="-128"/>
                <a:ea typeface="BIZ UDPゴシック" panose="020B0400000000000000" pitchFamily="50" charset="-128"/>
              </a:rPr>
              <a:t>万プランの内容が良い為１～</a:t>
            </a:r>
            <a:r>
              <a:rPr lang="en-US" altLang="ja-JP" sz="1600" dirty="0">
                <a:latin typeface="BIZ UDPゴシック" panose="020B0400000000000000" pitchFamily="50" charset="-128"/>
                <a:ea typeface="BIZ UDPゴシック" panose="020B0400000000000000" pitchFamily="50" charset="-128"/>
              </a:rPr>
              <a:t>3</a:t>
            </a:r>
            <a:r>
              <a:rPr lang="ja-JP" altLang="en-US" sz="1600" dirty="0">
                <a:latin typeface="BIZ UDPゴシック" panose="020B0400000000000000" pitchFamily="50" charset="-128"/>
                <a:ea typeface="BIZ UDPゴシック" panose="020B0400000000000000" pitchFamily="50" charset="-128"/>
              </a:rPr>
              <a:t>月期で</a:t>
            </a:r>
            <a:r>
              <a:rPr lang="en-US" altLang="ja-JP" sz="1600" dirty="0">
                <a:latin typeface="BIZ UDPゴシック" panose="020B0400000000000000" pitchFamily="50" charset="-128"/>
                <a:ea typeface="BIZ UDPゴシック" panose="020B0400000000000000" pitchFamily="50" charset="-128"/>
              </a:rPr>
              <a:t>5</a:t>
            </a:r>
            <a:r>
              <a:rPr lang="ja-JP" altLang="en-US" sz="1600" dirty="0">
                <a:latin typeface="BIZ UDPゴシック" panose="020B0400000000000000" pitchFamily="50" charset="-128"/>
                <a:ea typeface="BIZ UDPゴシック" panose="020B0400000000000000" pitchFamily="50" charset="-128"/>
              </a:rPr>
              <a:t>秒枠予算を充当し検証</a:t>
            </a:r>
            <a:endParaRPr lang="en-US" altLang="ja-JP" sz="1600" dirty="0">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7EB42643-F398-57BD-D52F-D9774B74135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36BD1D2-2A8C-8D7F-AEBF-9CBD1069F1C1}"/>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10">
            <a:extLst>
              <a:ext uri="{FF2B5EF4-FFF2-40B4-BE49-F238E27FC236}">
                <a16:creationId xmlns:a16="http://schemas.microsoft.com/office/drawing/2014/main" id="{AEDA3085-9D26-282F-BC2C-13DFCB544DB3}"/>
              </a:ext>
            </a:extLst>
          </p:cNvPr>
          <p:cNvSpPr>
            <a:spLocks noGrp="1"/>
          </p:cNvSpPr>
          <p:nvPr>
            <p:ph type="sldNum" sz="quarter" idx="12"/>
          </p:nvPr>
        </p:nvSpPr>
        <p:spPr>
          <a:xfrm>
            <a:off x="9326880" y="6371613"/>
            <a:ext cx="2743200" cy="365125"/>
          </a:xfrm>
        </p:spPr>
        <p:txBody>
          <a:bodyPr/>
          <a:lstStyle/>
          <a:p>
            <a:fld id="{5A968F70-849A-4002-AAE1-AF06B930E453}" type="slidenum">
              <a:rPr kumimoji="1" lang="ja-JP" altLang="en-US" smtClean="0"/>
              <a:t>3</a:t>
            </a:fld>
            <a:endParaRPr kumimoji="1" lang="ja-JP" altLang="en-US"/>
          </a:p>
        </p:txBody>
      </p:sp>
      <p:pic>
        <p:nvPicPr>
          <p:cNvPr id="3" name="図 2">
            <a:extLst>
              <a:ext uri="{FF2B5EF4-FFF2-40B4-BE49-F238E27FC236}">
                <a16:creationId xmlns:a16="http://schemas.microsoft.com/office/drawing/2014/main" id="{D01D9500-B429-C8F1-C6E7-56FAED26603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32509" y="3946941"/>
            <a:ext cx="11501599" cy="2017471"/>
          </a:xfrm>
          <a:prstGeom prst="rect">
            <a:avLst/>
          </a:prstGeom>
        </p:spPr>
      </p:pic>
      <p:sp>
        <p:nvSpPr>
          <p:cNvPr id="6" name="正方形/長方形 5">
            <a:extLst>
              <a:ext uri="{FF2B5EF4-FFF2-40B4-BE49-F238E27FC236}">
                <a16:creationId xmlns:a16="http://schemas.microsoft.com/office/drawing/2014/main" id="{35610BFF-5ACC-E2BC-56A3-97246BD0007B}"/>
              </a:ext>
            </a:extLst>
          </p:cNvPr>
          <p:cNvSpPr/>
          <p:nvPr/>
        </p:nvSpPr>
        <p:spPr>
          <a:xfrm>
            <a:off x="2682240" y="5340209"/>
            <a:ext cx="1645920" cy="4211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C3B1C47A-CF8A-DE67-E6B1-A12E3DC53909}"/>
              </a:ext>
            </a:extLst>
          </p:cNvPr>
          <p:cNvSpPr/>
          <p:nvPr/>
        </p:nvSpPr>
        <p:spPr>
          <a:xfrm>
            <a:off x="4328160" y="4745849"/>
            <a:ext cx="1661160" cy="4211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B1CD3860-9E6B-38B8-5A1E-8A5FEF09321F}"/>
              </a:ext>
            </a:extLst>
          </p:cNvPr>
          <p:cNvCxnSpPr>
            <a:stCxn id="6" idx="3"/>
          </p:cNvCxnSpPr>
          <p:nvPr/>
        </p:nvCxnSpPr>
        <p:spPr>
          <a:xfrm>
            <a:off x="4328160" y="5550788"/>
            <a:ext cx="518160" cy="71349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直線コネクタ 12">
            <a:extLst>
              <a:ext uri="{FF2B5EF4-FFF2-40B4-BE49-F238E27FC236}">
                <a16:creationId xmlns:a16="http://schemas.microsoft.com/office/drawing/2014/main" id="{3ADCE885-ECEF-125B-8600-6E7E80269BE1}"/>
              </a:ext>
            </a:extLst>
          </p:cNvPr>
          <p:cNvCxnSpPr>
            <a:cxnSpLocks/>
          </p:cNvCxnSpPr>
          <p:nvPr/>
        </p:nvCxnSpPr>
        <p:spPr>
          <a:xfrm>
            <a:off x="4648200" y="5167007"/>
            <a:ext cx="193040" cy="10922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4C8768B2-256A-13FB-164D-4EDF9F0B56BA}"/>
              </a:ext>
            </a:extLst>
          </p:cNvPr>
          <p:cNvSpPr txBox="1"/>
          <p:nvPr/>
        </p:nvSpPr>
        <p:spPr>
          <a:xfrm>
            <a:off x="4892247" y="6074871"/>
            <a:ext cx="2486583" cy="584775"/>
          </a:xfrm>
          <a:prstGeom prst="rect">
            <a:avLst/>
          </a:prstGeom>
          <a:noFill/>
        </p:spPr>
        <p:txBody>
          <a:bodyPr wrap="square" rtlCol="0">
            <a:spAutoFit/>
          </a:bodyPr>
          <a:lstStyle/>
          <a:p>
            <a:r>
              <a:rPr kumimoji="1" lang="ja-JP" altLang="en-US" sz="1600" dirty="0">
                <a:solidFill>
                  <a:srgbClr val="FF0000"/>
                </a:solidFill>
                <a:latin typeface="BIZ UDPゴシック" panose="020B0400000000000000" pitchFamily="50" charset="-128"/>
                <a:ea typeface="BIZ UDPゴシック" panose="020B0400000000000000" pitchFamily="50" charset="-128"/>
              </a:rPr>
              <a:t>アクチュアル（事後評価）</a:t>
            </a:r>
            <a:endParaRPr kumimoji="1" lang="en-US" altLang="ja-JP" sz="1600" dirty="0">
              <a:solidFill>
                <a:srgbClr val="FF0000"/>
              </a:solidFill>
              <a:latin typeface="BIZ UDPゴシック" panose="020B0400000000000000" pitchFamily="50" charset="-128"/>
              <a:ea typeface="BIZ UDPゴシック" panose="020B0400000000000000" pitchFamily="50" charset="-128"/>
            </a:endParaRPr>
          </a:p>
          <a:p>
            <a:r>
              <a:rPr lang="ja-JP" altLang="en-US" sz="1600" dirty="0">
                <a:solidFill>
                  <a:srgbClr val="FF0000"/>
                </a:solidFill>
                <a:latin typeface="BIZ UDPゴシック" panose="020B0400000000000000" pitchFamily="50" charset="-128"/>
                <a:ea typeface="BIZ UDPゴシック" panose="020B0400000000000000" pitchFamily="50" charset="-128"/>
              </a:rPr>
              <a:t>効果測定対象期間</a:t>
            </a:r>
            <a:endParaRPr lang="en-US" altLang="ja-JP" sz="1600" dirty="0">
              <a:solidFill>
                <a:srgbClr val="FF0000"/>
              </a:solidFill>
              <a:latin typeface="BIZ UDPゴシック" panose="020B0400000000000000" pitchFamily="50" charset="-128"/>
              <a:ea typeface="BIZ UDPゴシック" panose="020B0400000000000000" pitchFamily="50" charset="-128"/>
            </a:endParaRPr>
          </a:p>
        </p:txBody>
      </p:sp>
      <p:sp>
        <p:nvSpPr>
          <p:cNvPr id="21" name="正方形/長方形 20">
            <a:extLst>
              <a:ext uri="{FF2B5EF4-FFF2-40B4-BE49-F238E27FC236}">
                <a16:creationId xmlns:a16="http://schemas.microsoft.com/office/drawing/2014/main" id="{A78642E3-419E-CD99-9EEB-D767E04F1CDE}"/>
              </a:ext>
            </a:extLst>
          </p:cNvPr>
          <p:cNvSpPr/>
          <p:nvPr/>
        </p:nvSpPr>
        <p:spPr>
          <a:xfrm>
            <a:off x="6811347" y="4745849"/>
            <a:ext cx="5022761" cy="1212083"/>
          </a:xfrm>
          <a:prstGeom prst="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06E7277F-DE5E-B8EC-1562-B67D7552B98C}"/>
              </a:ext>
            </a:extLst>
          </p:cNvPr>
          <p:cNvSpPr txBox="1"/>
          <p:nvPr/>
        </p:nvSpPr>
        <p:spPr>
          <a:xfrm>
            <a:off x="7096922" y="5047821"/>
            <a:ext cx="2486583" cy="584775"/>
          </a:xfrm>
          <a:prstGeom prst="rect">
            <a:avLst/>
          </a:prstGeom>
          <a:solidFill>
            <a:schemeClr val="bg1"/>
          </a:solidFill>
        </p:spPr>
        <p:txBody>
          <a:bodyPr wrap="square" rtlCol="0">
            <a:spAutoFit/>
          </a:bodyPr>
          <a:lstStyle/>
          <a:p>
            <a:pPr algn="ctr"/>
            <a:r>
              <a:rPr kumimoji="1" lang="ja-JP" altLang="en-US" sz="1600" dirty="0">
                <a:solidFill>
                  <a:srgbClr val="FF0000"/>
                </a:solidFill>
                <a:latin typeface="BIZ UDPゴシック" panose="020B0400000000000000" pitchFamily="50" charset="-128"/>
                <a:ea typeface="BIZ UDPゴシック" panose="020B0400000000000000" pitchFamily="50" charset="-128"/>
              </a:rPr>
              <a:t>効果測定期間を元に、</a:t>
            </a:r>
            <a:endParaRPr kumimoji="1" lang="en-US" altLang="ja-JP" sz="1600" dirty="0">
              <a:solidFill>
                <a:srgbClr val="FF0000"/>
              </a:solidFill>
              <a:latin typeface="BIZ UDPゴシック" panose="020B0400000000000000" pitchFamily="50" charset="-128"/>
              <a:ea typeface="BIZ UDPゴシック" panose="020B0400000000000000" pitchFamily="50" charset="-128"/>
            </a:endParaRPr>
          </a:p>
          <a:p>
            <a:pPr algn="ctr"/>
            <a:r>
              <a:rPr lang="ja-JP" altLang="en-US" sz="1600" dirty="0">
                <a:solidFill>
                  <a:srgbClr val="FF0000"/>
                </a:solidFill>
                <a:latin typeface="BIZ UDPゴシック" panose="020B0400000000000000" pitchFamily="50" charset="-128"/>
                <a:ea typeface="BIZ UDPゴシック" panose="020B0400000000000000" pitchFamily="50" charset="-128"/>
              </a:rPr>
              <a:t>オンエアの検証を実施</a:t>
            </a:r>
            <a:endParaRPr lang="en-US" altLang="ja-JP" sz="1600" dirty="0">
              <a:solidFill>
                <a:srgbClr val="FF0000"/>
              </a:solidFill>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B8F4C46E-095D-44DC-7504-F67AC5C60BC2}"/>
              </a:ext>
            </a:extLst>
          </p:cNvPr>
          <p:cNvSpPr/>
          <p:nvPr/>
        </p:nvSpPr>
        <p:spPr>
          <a:xfrm>
            <a:off x="6811347" y="4175892"/>
            <a:ext cx="5022761" cy="550400"/>
          </a:xfrm>
          <a:prstGeom prst="rect">
            <a:avLst/>
          </a:prstGeom>
          <a:solidFill>
            <a:schemeClr val="accent6">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91A037A1-953D-BD6F-25DD-448FAC4C87C2}"/>
              </a:ext>
            </a:extLst>
          </p:cNvPr>
          <p:cNvSpPr txBox="1"/>
          <p:nvPr/>
        </p:nvSpPr>
        <p:spPr>
          <a:xfrm>
            <a:off x="7096922" y="4284542"/>
            <a:ext cx="3521315" cy="338554"/>
          </a:xfrm>
          <a:prstGeom prst="rect">
            <a:avLst/>
          </a:prstGeom>
          <a:solidFill>
            <a:schemeClr val="bg1"/>
          </a:solidFill>
        </p:spPr>
        <p:txBody>
          <a:bodyPr wrap="square" rtlCol="0">
            <a:spAutoFit/>
          </a:bodyPr>
          <a:lstStyle/>
          <a:p>
            <a:pPr algn="ctr"/>
            <a:r>
              <a:rPr kumimoji="1" lang="ja-JP" altLang="en-US" sz="1600" dirty="0">
                <a:solidFill>
                  <a:srgbClr val="FF0000"/>
                </a:solidFill>
                <a:latin typeface="BIZ UDPゴシック" panose="020B0400000000000000" pitchFamily="50" charset="-128"/>
                <a:ea typeface="BIZ UDPゴシック" panose="020B0400000000000000" pitchFamily="50" charset="-128"/>
              </a:rPr>
              <a:t>他局の視聴率をみながら継続判断</a:t>
            </a:r>
            <a:endParaRPr lang="en-US" altLang="ja-JP" sz="1600" dirty="0">
              <a:solidFill>
                <a:srgbClr val="FF0000"/>
              </a:solidFill>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3AB617CB-C5CD-664D-433C-9409AE8B3AC5}"/>
              </a:ext>
            </a:extLst>
          </p:cNvPr>
          <p:cNvSpPr txBox="1"/>
          <p:nvPr/>
        </p:nvSpPr>
        <p:spPr>
          <a:xfrm>
            <a:off x="500150" y="3526165"/>
            <a:ext cx="11222928" cy="338554"/>
          </a:xfrm>
          <a:prstGeom prst="rect">
            <a:avLst/>
          </a:prstGeom>
          <a:noFill/>
        </p:spPr>
        <p:txBody>
          <a:bodyPr wrap="square" rtlCol="0">
            <a:spAutoFit/>
          </a:bodyPr>
          <a:lstStyle/>
          <a:p>
            <a:r>
              <a:rPr kumimoji="1" lang="ja-JP" altLang="en-US" sz="1600" b="1" dirty="0">
                <a:latin typeface="BIZ UDPゴシック" panose="020B0400000000000000" pitchFamily="50" charset="-128"/>
                <a:ea typeface="BIZ UDPゴシック" panose="020B0400000000000000" pitchFamily="50" charset="-128"/>
              </a:rPr>
              <a:t>＜予算配分（案）＞</a:t>
            </a:r>
            <a:endParaRPr lang="en-US" altLang="ja-JP" sz="1600" b="1"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72001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3392275"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＞＞放送方法のご提案について</a:t>
            </a:r>
          </a:p>
        </p:txBody>
      </p:sp>
      <p:sp>
        <p:nvSpPr>
          <p:cNvPr id="5" name="テキスト ボックス 4">
            <a:extLst>
              <a:ext uri="{FF2B5EF4-FFF2-40B4-BE49-F238E27FC236}">
                <a16:creationId xmlns:a16="http://schemas.microsoft.com/office/drawing/2014/main" id="{E5607FAA-1F02-307B-E39F-A54B54FC3316}"/>
              </a:ext>
            </a:extLst>
          </p:cNvPr>
          <p:cNvSpPr txBox="1"/>
          <p:nvPr/>
        </p:nvSpPr>
        <p:spPr>
          <a:xfrm>
            <a:off x="500150" y="729550"/>
            <a:ext cx="11569930" cy="1077218"/>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 軸となる</a:t>
            </a:r>
            <a:r>
              <a:rPr kumimoji="1" lang="en-US" altLang="ja-JP" sz="1600" dirty="0">
                <a:latin typeface="BIZ UDPゴシック" panose="020B0400000000000000" pitchFamily="50" charset="-128"/>
                <a:ea typeface="BIZ UDPゴシック" panose="020B0400000000000000" pitchFamily="50" charset="-128"/>
              </a:rPr>
              <a:t>RBC</a:t>
            </a:r>
            <a:r>
              <a:rPr kumimoji="1" lang="ja-JP" altLang="en-US" sz="1600" dirty="0">
                <a:latin typeface="BIZ UDPゴシック" panose="020B0400000000000000" pitchFamily="50" charset="-128"/>
                <a:ea typeface="BIZ UDPゴシック" panose="020B0400000000000000" pitchFamily="50" charset="-128"/>
              </a:rPr>
              <a:t>の放送案について</a:t>
            </a:r>
            <a:endParaRPr kumimoji="1" lang="en-US" altLang="ja-JP" sz="1600"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① 朝・夜のターゲット視聴が高いニュース帯の枠を月～金で確保（ </a:t>
            </a:r>
            <a:r>
              <a:rPr lang="en-US" altLang="ja-JP" sz="1600" dirty="0">
                <a:latin typeface="BIZ UDPゴシック" panose="020B0400000000000000" pitchFamily="50" charset="-128"/>
                <a:ea typeface="BIZ UDPゴシック" panose="020B0400000000000000" pitchFamily="50" charset="-128"/>
              </a:rPr>
              <a:t>THE TIME,</a:t>
            </a:r>
            <a:r>
              <a:rPr lang="ja-JP" altLang="en-US" sz="1600" dirty="0">
                <a:latin typeface="BIZ UDPゴシック" panose="020B0400000000000000" pitchFamily="50" charset="-128"/>
                <a:ea typeface="BIZ UDPゴシック" panose="020B0400000000000000" pitchFamily="50" charset="-128"/>
              </a:rPr>
              <a:t>　</a:t>
            </a:r>
            <a:r>
              <a:rPr lang="en-US" altLang="ja-JP" sz="1600" dirty="0">
                <a:latin typeface="BIZ UDPゴシック" panose="020B0400000000000000" pitchFamily="50" charset="-128"/>
                <a:ea typeface="BIZ UDPゴシック" panose="020B0400000000000000" pitchFamily="50" charset="-128"/>
              </a:rPr>
              <a:t>news23</a:t>
            </a:r>
            <a:r>
              <a:rPr lang="ja-JP" altLang="en-US" sz="1600" dirty="0">
                <a:latin typeface="BIZ UDPゴシック" panose="020B0400000000000000" pitchFamily="50" charset="-128"/>
                <a:ea typeface="BIZ UDPゴシック" panose="020B0400000000000000" pitchFamily="50" charset="-128"/>
              </a:rPr>
              <a:t>）</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② その他ターゲット視聴率が高い番組から確保（　なんでも鑑定団（再放送）、しゃべくり</a:t>
            </a:r>
            <a:r>
              <a:rPr lang="en-US" altLang="ja-JP" sz="1600" dirty="0">
                <a:latin typeface="BIZ UDPゴシック" panose="020B0400000000000000" pitchFamily="50" charset="-128"/>
                <a:ea typeface="BIZ UDPゴシック" panose="020B0400000000000000" pitchFamily="50" charset="-128"/>
              </a:rPr>
              <a:t>007</a:t>
            </a:r>
            <a:r>
              <a:rPr lang="ja-JP" altLang="en-US" sz="1600" dirty="0">
                <a:latin typeface="BIZ UDPゴシック" panose="020B0400000000000000" pitchFamily="50" charset="-128"/>
                <a:ea typeface="BIZ UDPゴシック" panose="020B0400000000000000" pitchFamily="50" charset="-128"/>
              </a:rPr>
              <a:t>、家ついて行って、いいですか？）</a:t>
            </a:r>
            <a:endParaRPr lang="en-US" altLang="ja-JP" sz="1600" dirty="0">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7EB42643-F398-57BD-D52F-D9774B74135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36BD1D2-2A8C-8D7F-AEBF-9CBD1069F1C1}"/>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10">
            <a:extLst>
              <a:ext uri="{FF2B5EF4-FFF2-40B4-BE49-F238E27FC236}">
                <a16:creationId xmlns:a16="http://schemas.microsoft.com/office/drawing/2014/main" id="{AEDA3085-9D26-282F-BC2C-13DFCB544DB3}"/>
              </a:ext>
            </a:extLst>
          </p:cNvPr>
          <p:cNvSpPr>
            <a:spLocks noGrp="1"/>
          </p:cNvSpPr>
          <p:nvPr>
            <p:ph type="sldNum" sz="quarter" idx="12"/>
          </p:nvPr>
        </p:nvSpPr>
        <p:spPr>
          <a:xfrm>
            <a:off x="9326880" y="6371613"/>
            <a:ext cx="2743200" cy="365125"/>
          </a:xfrm>
        </p:spPr>
        <p:txBody>
          <a:bodyPr/>
          <a:lstStyle/>
          <a:p>
            <a:fld id="{5A968F70-849A-4002-AAE1-AF06B930E453}" type="slidenum">
              <a:rPr kumimoji="1" lang="ja-JP" altLang="en-US" smtClean="0"/>
              <a:t>4</a:t>
            </a:fld>
            <a:endParaRPr kumimoji="1" lang="ja-JP" altLang="en-US"/>
          </a:p>
        </p:txBody>
      </p:sp>
      <p:pic>
        <p:nvPicPr>
          <p:cNvPr id="2" name="図 1" descr="タイムライン が含まれている画像&#10;&#10;AI 生成コンテンツは誤りを含む可能性があります。">
            <a:extLst>
              <a:ext uri="{FF2B5EF4-FFF2-40B4-BE49-F238E27FC236}">
                <a16:creationId xmlns:a16="http://schemas.microsoft.com/office/drawing/2014/main" id="{1A709475-3F07-17AA-E4F4-71FF30B7D66B}"/>
              </a:ext>
            </a:extLst>
          </p:cNvPr>
          <p:cNvPicPr>
            <a:picLocks noChangeAspect="1"/>
          </p:cNvPicPr>
          <p:nvPr/>
        </p:nvPicPr>
        <p:blipFill>
          <a:blip r:embed="rId2"/>
          <a:stretch>
            <a:fillRect/>
          </a:stretch>
        </p:blipFill>
        <p:spPr>
          <a:xfrm>
            <a:off x="984578" y="2194910"/>
            <a:ext cx="5201062" cy="4289188"/>
          </a:xfrm>
          <a:prstGeom prst="rect">
            <a:avLst/>
          </a:prstGeom>
        </p:spPr>
      </p:pic>
      <p:pic>
        <p:nvPicPr>
          <p:cNvPr id="11" name="図 10" descr="カレンダー&#10;&#10;AI 生成コンテンツは誤りを含む可能性があります。">
            <a:extLst>
              <a:ext uri="{FF2B5EF4-FFF2-40B4-BE49-F238E27FC236}">
                <a16:creationId xmlns:a16="http://schemas.microsoft.com/office/drawing/2014/main" id="{10E9B27E-53D9-DB07-61BF-6E3FA8A35FCF}"/>
              </a:ext>
            </a:extLst>
          </p:cNvPr>
          <p:cNvPicPr>
            <a:picLocks noChangeAspect="1"/>
          </p:cNvPicPr>
          <p:nvPr/>
        </p:nvPicPr>
        <p:blipFill>
          <a:blip r:embed="rId3"/>
          <a:stretch>
            <a:fillRect/>
          </a:stretch>
        </p:blipFill>
        <p:spPr>
          <a:xfrm>
            <a:off x="6320378" y="3368091"/>
            <a:ext cx="5201062" cy="3095871"/>
          </a:xfrm>
          <a:prstGeom prst="rect">
            <a:avLst/>
          </a:prstGeom>
        </p:spPr>
      </p:pic>
      <p:sp>
        <p:nvSpPr>
          <p:cNvPr id="14" name="正方形/長方形 13">
            <a:extLst>
              <a:ext uri="{FF2B5EF4-FFF2-40B4-BE49-F238E27FC236}">
                <a16:creationId xmlns:a16="http://schemas.microsoft.com/office/drawing/2014/main" id="{FAF39820-3E65-E828-C78B-FF22ACFEC7A1}"/>
              </a:ext>
            </a:extLst>
          </p:cNvPr>
          <p:cNvSpPr/>
          <p:nvPr/>
        </p:nvSpPr>
        <p:spPr>
          <a:xfrm>
            <a:off x="984578" y="3080036"/>
            <a:ext cx="3191182" cy="2743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112F1EBC-242D-9238-FAC1-AD2644ADC33E}"/>
              </a:ext>
            </a:extLst>
          </p:cNvPr>
          <p:cNvSpPr/>
          <p:nvPr/>
        </p:nvSpPr>
        <p:spPr>
          <a:xfrm>
            <a:off x="1255776" y="5132356"/>
            <a:ext cx="566928" cy="2743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C2B7EB1E-D42E-07D3-5118-73E61042982B}"/>
              </a:ext>
            </a:extLst>
          </p:cNvPr>
          <p:cNvSpPr/>
          <p:nvPr/>
        </p:nvSpPr>
        <p:spPr>
          <a:xfrm>
            <a:off x="1849538" y="5427736"/>
            <a:ext cx="566928" cy="274320"/>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922D32A1-6D48-1440-E79E-027D826F5AD3}"/>
              </a:ext>
            </a:extLst>
          </p:cNvPr>
          <p:cNvSpPr/>
          <p:nvPr/>
        </p:nvSpPr>
        <p:spPr>
          <a:xfrm>
            <a:off x="6320378" y="4471310"/>
            <a:ext cx="2630582" cy="361326"/>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A691EA32-5128-A37C-A1AC-F554C9421D01}"/>
              </a:ext>
            </a:extLst>
          </p:cNvPr>
          <p:cNvSpPr/>
          <p:nvPr/>
        </p:nvSpPr>
        <p:spPr>
          <a:xfrm>
            <a:off x="8920909" y="4882970"/>
            <a:ext cx="566928" cy="283653"/>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7E00375F-FAA3-2A26-8BF6-5FA557700B73}"/>
              </a:ext>
            </a:extLst>
          </p:cNvPr>
          <p:cNvSpPr/>
          <p:nvPr/>
        </p:nvSpPr>
        <p:spPr>
          <a:xfrm>
            <a:off x="7169012" y="4916026"/>
            <a:ext cx="566928" cy="361326"/>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75B18E91-2295-0ACC-6FF1-3F1DE8301167}"/>
              </a:ext>
            </a:extLst>
          </p:cNvPr>
          <p:cNvSpPr/>
          <p:nvPr/>
        </p:nvSpPr>
        <p:spPr>
          <a:xfrm>
            <a:off x="6286860" y="4454291"/>
            <a:ext cx="2664100" cy="378345"/>
          </a:xfrm>
          <a:prstGeom prst="rect">
            <a:avLst/>
          </a:prstGeom>
          <a:noFill/>
          <a:ln w="762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5A47D3D1-1B50-C599-609F-FCAD329E544F}"/>
              </a:ext>
            </a:extLst>
          </p:cNvPr>
          <p:cNvSpPr/>
          <p:nvPr/>
        </p:nvSpPr>
        <p:spPr>
          <a:xfrm>
            <a:off x="8857340" y="4867615"/>
            <a:ext cx="630497" cy="361326"/>
          </a:xfrm>
          <a:prstGeom prst="rect">
            <a:avLst/>
          </a:prstGeom>
          <a:noFill/>
          <a:ln w="762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コネクタ 27">
            <a:extLst>
              <a:ext uri="{FF2B5EF4-FFF2-40B4-BE49-F238E27FC236}">
                <a16:creationId xmlns:a16="http://schemas.microsoft.com/office/drawing/2014/main" id="{B4B446C5-AC99-DC22-D3A9-A0E090C8C559}"/>
              </a:ext>
            </a:extLst>
          </p:cNvPr>
          <p:cNvCxnSpPr>
            <a:cxnSpLocks/>
            <a:endCxn id="24" idx="0"/>
          </p:cNvCxnSpPr>
          <p:nvPr/>
        </p:nvCxnSpPr>
        <p:spPr>
          <a:xfrm flipH="1">
            <a:off x="7618910" y="2576281"/>
            <a:ext cx="329527" cy="187801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A3972213-0C10-CBF8-7837-116B90729A7B}"/>
              </a:ext>
            </a:extLst>
          </p:cNvPr>
          <p:cNvCxnSpPr>
            <a:cxnSpLocks/>
            <a:endCxn id="27" idx="0"/>
          </p:cNvCxnSpPr>
          <p:nvPr/>
        </p:nvCxnSpPr>
        <p:spPr>
          <a:xfrm>
            <a:off x="7948437" y="2598578"/>
            <a:ext cx="1224152" cy="226903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DE50D071-75BE-45B9-3B12-38B6B68A1BC1}"/>
              </a:ext>
            </a:extLst>
          </p:cNvPr>
          <p:cNvSpPr txBox="1"/>
          <p:nvPr/>
        </p:nvSpPr>
        <p:spPr>
          <a:xfrm>
            <a:off x="6826305" y="1956527"/>
            <a:ext cx="5201062" cy="584775"/>
          </a:xfrm>
          <a:prstGeom prst="rect">
            <a:avLst/>
          </a:prstGeom>
          <a:noFill/>
        </p:spPr>
        <p:txBody>
          <a:bodyPr wrap="square" rtlCol="0">
            <a:spAutoFit/>
          </a:bodyPr>
          <a:lstStyle/>
          <a:p>
            <a:r>
              <a:rPr lang="en-US" altLang="ja-JP" sz="1600" dirty="0">
                <a:solidFill>
                  <a:srgbClr val="FF0000"/>
                </a:solidFill>
                <a:latin typeface="BIZ UDPゴシック" panose="020B0400000000000000" pitchFamily="50" charset="-128"/>
                <a:ea typeface="BIZ UDPゴシック" panose="020B0400000000000000" pitchFamily="50" charset="-128"/>
              </a:rPr>
              <a:t>※</a:t>
            </a:r>
            <a:r>
              <a:rPr lang="ja-JP" altLang="en-US" sz="1600" dirty="0">
                <a:solidFill>
                  <a:srgbClr val="FF0000"/>
                </a:solidFill>
                <a:latin typeface="BIZ UDPゴシック" panose="020B0400000000000000" pitchFamily="50" charset="-128"/>
                <a:ea typeface="BIZ UDPゴシック" panose="020B0400000000000000" pitchFamily="50" charset="-128"/>
              </a:rPr>
              <a:t>特に</a:t>
            </a:r>
            <a:r>
              <a:rPr lang="en-US" altLang="ja-JP" sz="1600" dirty="0">
                <a:solidFill>
                  <a:srgbClr val="FF0000"/>
                </a:solidFill>
                <a:latin typeface="BIZ UDPゴシック" panose="020B0400000000000000" pitchFamily="50" charset="-128"/>
                <a:ea typeface="BIZ UDPゴシック" panose="020B0400000000000000" pitchFamily="50" charset="-128"/>
              </a:rPr>
              <a:t>news23</a:t>
            </a:r>
            <a:r>
              <a:rPr lang="ja-JP" altLang="en-US" sz="1600" dirty="0">
                <a:solidFill>
                  <a:srgbClr val="FF0000"/>
                </a:solidFill>
                <a:latin typeface="BIZ UDPゴシック" panose="020B0400000000000000" pitchFamily="50" charset="-128"/>
                <a:ea typeface="BIZ UDPゴシック" panose="020B0400000000000000" pitchFamily="50" charset="-128"/>
              </a:rPr>
              <a:t>枠は高視聴率と合わせて、</a:t>
            </a:r>
            <a:endParaRPr lang="en-US" altLang="ja-JP" sz="1600" dirty="0">
              <a:solidFill>
                <a:srgbClr val="FF0000"/>
              </a:solidFill>
              <a:latin typeface="BIZ UDPゴシック" panose="020B0400000000000000" pitchFamily="50" charset="-128"/>
              <a:ea typeface="BIZ UDPゴシック" panose="020B0400000000000000" pitchFamily="50" charset="-128"/>
            </a:endParaRPr>
          </a:p>
          <a:p>
            <a:r>
              <a:rPr lang="ja-JP" altLang="en-US" sz="1600" dirty="0">
                <a:solidFill>
                  <a:srgbClr val="FF0000"/>
                </a:solidFill>
                <a:latin typeface="BIZ UDPゴシック" panose="020B0400000000000000" pitchFamily="50" charset="-128"/>
                <a:ea typeface="BIZ UDPゴシック" panose="020B0400000000000000" pitchFamily="50" charset="-128"/>
              </a:rPr>
              <a:t>通常提供売り出し値が</a:t>
            </a:r>
            <a:r>
              <a:rPr lang="en-US" altLang="ja-JP" sz="1600" dirty="0">
                <a:solidFill>
                  <a:srgbClr val="FF0000"/>
                </a:solidFill>
                <a:latin typeface="BIZ UDPゴシック" panose="020B0400000000000000" pitchFamily="50" charset="-128"/>
                <a:ea typeface="BIZ UDPゴシック" panose="020B0400000000000000" pitchFamily="50" charset="-128"/>
              </a:rPr>
              <a:t>45</a:t>
            </a:r>
            <a:r>
              <a:rPr lang="ja-JP" altLang="en-US" sz="1600" dirty="0">
                <a:solidFill>
                  <a:srgbClr val="FF0000"/>
                </a:solidFill>
                <a:latin typeface="BIZ UDPゴシック" panose="020B0400000000000000" pitchFamily="50" charset="-128"/>
                <a:ea typeface="BIZ UDPゴシック" panose="020B0400000000000000" pitchFamily="50" charset="-128"/>
              </a:rPr>
              <a:t>万と好条件。</a:t>
            </a:r>
            <a:endParaRPr lang="en-US" altLang="ja-JP" sz="1600" dirty="0">
              <a:solidFill>
                <a:srgbClr val="FF0000"/>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9DEA8D01-59DA-32D2-6BA1-91AA48EF8981}"/>
              </a:ext>
            </a:extLst>
          </p:cNvPr>
          <p:cNvSpPr txBox="1"/>
          <p:nvPr/>
        </p:nvSpPr>
        <p:spPr>
          <a:xfrm>
            <a:off x="9326880" y="850768"/>
            <a:ext cx="2288106" cy="338554"/>
          </a:xfrm>
          <a:prstGeom prst="rect">
            <a:avLst/>
          </a:prstGeom>
          <a:solidFill>
            <a:srgbClr val="FF0000"/>
          </a:solidFill>
        </p:spPr>
        <p:txBody>
          <a:bodyPr wrap="square" rtlCol="0">
            <a:spAutoFit/>
          </a:bodyPr>
          <a:lstStyle/>
          <a:p>
            <a:pPr algn="ctr"/>
            <a:r>
              <a:rPr kumimoji="1" lang="en-US" altLang="ja-JP" sz="1600" b="1" dirty="0">
                <a:solidFill>
                  <a:schemeClr val="bg1"/>
                </a:solidFill>
                <a:latin typeface="BIZ UDPゴシック" panose="020B0400000000000000" pitchFamily="50" charset="-128"/>
                <a:ea typeface="BIZ UDPゴシック" panose="020B0400000000000000" pitchFamily="50" charset="-128"/>
              </a:rPr>
              <a:t>RBC</a:t>
            </a:r>
            <a:r>
              <a:rPr kumimoji="1" lang="ja-JP" altLang="en-US" sz="1600" b="1" dirty="0">
                <a:solidFill>
                  <a:schemeClr val="bg1"/>
                </a:solidFill>
                <a:latin typeface="BIZ UDPゴシック" panose="020B0400000000000000" pitchFamily="50" charset="-128"/>
                <a:ea typeface="BIZ UDPゴシック" panose="020B0400000000000000" pitchFamily="50" charset="-128"/>
              </a:rPr>
              <a:t>　</a:t>
            </a:r>
            <a:r>
              <a:rPr kumimoji="1" lang="en-US" altLang="ja-JP" sz="1600" b="1" dirty="0">
                <a:solidFill>
                  <a:schemeClr val="bg1"/>
                </a:solidFill>
                <a:latin typeface="BIZ UDPゴシック" panose="020B0400000000000000" pitchFamily="50" charset="-128"/>
                <a:ea typeface="BIZ UDPゴシック" panose="020B0400000000000000" pitchFamily="50" charset="-128"/>
              </a:rPr>
              <a:t>50</a:t>
            </a:r>
            <a:r>
              <a:rPr kumimoji="1" lang="ja-JP" altLang="en-US" sz="1600" b="1" dirty="0">
                <a:solidFill>
                  <a:schemeClr val="bg1"/>
                </a:solidFill>
                <a:latin typeface="BIZ UDPゴシック" panose="020B0400000000000000" pitchFamily="50" charset="-128"/>
                <a:ea typeface="BIZ UDPゴシック" panose="020B0400000000000000" pitchFamily="50" charset="-128"/>
              </a:rPr>
              <a:t>万プラン</a:t>
            </a:r>
            <a:endParaRPr lang="en-US" altLang="ja-JP" sz="1600" b="1" dirty="0">
              <a:solidFill>
                <a:schemeClr val="bg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524910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3392275"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＞＞放送方法のご提案について</a:t>
            </a:r>
          </a:p>
        </p:txBody>
      </p:sp>
      <p:sp>
        <p:nvSpPr>
          <p:cNvPr id="5" name="テキスト ボックス 4">
            <a:extLst>
              <a:ext uri="{FF2B5EF4-FFF2-40B4-BE49-F238E27FC236}">
                <a16:creationId xmlns:a16="http://schemas.microsoft.com/office/drawing/2014/main" id="{E5607FAA-1F02-307B-E39F-A54B54FC3316}"/>
              </a:ext>
            </a:extLst>
          </p:cNvPr>
          <p:cNvSpPr txBox="1"/>
          <p:nvPr/>
        </p:nvSpPr>
        <p:spPr>
          <a:xfrm>
            <a:off x="500150" y="729550"/>
            <a:ext cx="11569930" cy="1077218"/>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 スポット実施となる</a:t>
            </a:r>
            <a:r>
              <a:rPr kumimoji="1" lang="en-US" altLang="ja-JP" sz="1600" dirty="0">
                <a:latin typeface="BIZ UDPゴシック" panose="020B0400000000000000" pitchFamily="50" charset="-128"/>
                <a:ea typeface="BIZ UDPゴシック" panose="020B0400000000000000" pitchFamily="50" charset="-128"/>
              </a:rPr>
              <a:t>QAB</a:t>
            </a:r>
            <a:r>
              <a:rPr kumimoji="1" lang="ja-JP" altLang="en-US" sz="1600" dirty="0">
                <a:latin typeface="BIZ UDPゴシック" panose="020B0400000000000000" pitchFamily="50" charset="-128"/>
                <a:ea typeface="BIZ UDPゴシック" panose="020B0400000000000000" pitchFamily="50" charset="-128"/>
              </a:rPr>
              <a:t>放送案について</a:t>
            </a:r>
            <a:endParaRPr kumimoji="1" lang="en-US" altLang="ja-JP" sz="1600"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① 掛率取得　（</a:t>
            </a:r>
            <a:r>
              <a:rPr lang="en-US" altLang="ja-JP" sz="1600" dirty="0">
                <a:latin typeface="BIZ UDPゴシック" panose="020B0400000000000000" pitchFamily="50" charset="-128"/>
                <a:ea typeface="BIZ UDPゴシック" panose="020B0400000000000000" pitchFamily="50" charset="-128"/>
              </a:rPr>
              <a:t>A</a:t>
            </a:r>
            <a:r>
              <a:rPr lang="ja-JP" altLang="en-US" sz="1600" dirty="0">
                <a:latin typeface="BIZ UDPゴシック" panose="020B0400000000000000" pitchFamily="50" charset="-128"/>
                <a:ea typeface="BIZ UDPゴシック" panose="020B0400000000000000" pitchFamily="50" charset="-128"/>
              </a:rPr>
              <a:t>タイム</a:t>
            </a:r>
            <a:r>
              <a:rPr lang="en-US" altLang="ja-JP" sz="1600" dirty="0">
                <a:latin typeface="BIZ UDPゴシック" panose="020B0400000000000000" pitchFamily="50" charset="-128"/>
                <a:ea typeface="BIZ UDPゴシック" panose="020B0400000000000000" pitchFamily="50" charset="-128"/>
              </a:rPr>
              <a:t>4</a:t>
            </a:r>
            <a:r>
              <a:rPr lang="ja-JP" altLang="en-US" sz="1600" dirty="0">
                <a:latin typeface="BIZ UDPゴシック" panose="020B0400000000000000" pitchFamily="50" charset="-128"/>
                <a:ea typeface="BIZ UDPゴシック" panose="020B0400000000000000" pitchFamily="50" charset="-128"/>
              </a:rPr>
              <a:t>本、</a:t>
            </a:r>
            <a:r>
              <a:rPr lang="en-US" altLang="ja-JP" sz="1600" dirty="0">
                <a:latin typeface="BIZ UDPゴシック" panose="020B0400000000000000" pitchFamily="50" charset="-128"/>
                <a:ea typeface="BIZ UDPゴシック" panose="020B0400000000000000" pitchFamily="50" charset="-128"/>
              </a:rPr>
              <a:t>SB8</a:t>
            </a:r>
            <a:r>
              <a:rPr lang="ja-JP" altLang="en-US" sz="1600" dirty="0">
                <a:latin typeface="BIZ UDPゴシック" panose="020B0400000000000000" pitchFamily="50" charset="-128"/>
                <a:ea typeface="BIZ UDPゴシック" panose="020B0400000000000000" pitchFamily="50" charset="-128"/>
              </a:rPr>
              <a:t>本、</a:t>
            </a:r>
            <a:r>
              <a:rPr lang="en-US" altLang="ja-JP" sz="1600" dirty="0">
                <a:latin typeface="BIZ UDPゴシック" panose="020B0400000000000000" pitchFamily="50" charset="-128"/>
                <a:ea typeface="BIZ UDPゴシック" panose="020B0400000000000000" pitchFamily="50" charset="-128"/>
              </a:rPr>
              <a:t>B20</a:t>
            </a:r>
            <a:r>
              <a:rPr lang="ja-JP" altLang="en-US" sz="1600" dirty="0">
                <a:latin typeface="BIZ UDPゴシック" panose="020B0400000000000000" pitchFamily="50" charset="-128"/>
                <a:ea typeface="BIZ UDPゴシック" panose="020B0400000000000000" pitchFamily="50" charset="-128"/>
              </a:rPr>
              <a:t>本　計</a:t>
            </a:r>
            <a:r>
              <a:rPr lang="en-US" altLang="ja-JP" sz="1600" dirty="0">
                <a:latin typeface="BIZ UDPゴシック" panose="020B0400000000000000" pitchFamily="50" charset="-128"/>
                <a:ea typeface="BIZ UDPゴシック" panose="020B0400000000000000" pitchFamily="50" charset="-128"/>
              </a:rPr>
              <a:t>32</a:t>
            </a:r>
            <a:r>
              <a:rPr lang="ja-JP" altLang="en-US" sz="1600" dirty="0">
                <a:latin typeface="BIZ UDPゴシック" panose="020B0400000000000000" pitchFamily="50" charset="-128"/>
                <a:ea typeface="BIZ UDPゴシック" panose="020B0400000000000000" pitchFamily="50" charset="-128"/>
              </a:rPr>
              <a:t>本）</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② 上記本数の中から（</a:t>
            </a:r>
            <a:r>
              <a:rPr lang="en-US" altLang="ja-JP" sz="1600" dirty="0">
                <a:latin typeface="BIZ UDPゴシック" panose="020B0400000000000000" pitchFamily="50" charset="-128"/>
                <a:ea typeface="BIZ UDPゴシック" panose="020B0400000000000000" pitchFamily="50" charset="-128"/>
              </a:rPr>
              <a:t>7</a:t>
            </a:r>
            <a:r>
              <a:rPr lang="ja-JP" altLang="en-US" sz="1600" dirty="0">
                <a:latin typeface="BIZ UDPゴシック" panose="020B0400000000000000" pitchFamily="50" charset="-128"/>
                <a:ea typeface="BIZ UDPゴシック" panose="020B0400000000000000" pitchFamily="50" charset="-128"/>
              </a:rPr>
              <a:t>本は視聴率の高い以下の番組から取得）下記図の通り</a:t>
            </a:r>
            <a:endParaRPr lang="en-US" altLang="ja-JP" sz="1600" dirty="0">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7EB42643-F398-57BD-D52F-D9774B74135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36BD1D2-2A8C-8D7F-AEBF-9CBD1069F1C1}"/>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10">
            <a:extLst>
              <a:ext uri="{FF2B5EF4-FFF2-40B4-BE49-F238E27FC236}">
                <a16:creationId xmlns:a16="http://schemas.microsoft.com/office/drawing/2014/main" id="{AEDA3085-9D26-282F-BC2C-13DFCB544DB3}"/>
              </a:ext>
            </a:extLst>
          </p:cNvPr>
          <p:cNvSpPr>
            <a:spLocks noGrp="1"/>
          </p:cNvSpPr>
          <p:nvPr>
            <p:ph type="sldNum" sz="quarter" idx="12"/>
          </p:nvPr>
        </p:nvSpPr>
        <p:spPr>
          <a:xfrm>
            <a:off x="9326880" y="6371613"/>
            <a:ext cx="2743200" cy="365125"/>
          </a:xfrm>
        </p:spPr>
        <p:txBody>
          <a:bodyPr/>
          <a:lstStyle/>
          <a:p>
            <a:fld id="{5A968F70-849A-4002-AAE1-AF06B930E453}" type="slidenum">
              <a:rPr kumimoji="1" lang="ja-JP" altLang="en-US" smtClean="0"/>
              <a:t>5</a:t>
            </a:fld>
            <a:endParaRPr kumimoji="1" lang="ja-JP" altLang="en-US"/>
          </a:p>
        </p:txBody>
      </p:sp>
      <p:pic>
        <p:nvPicPr>
          <p:cNvPr id="2" name="図 1">
            <a:extLst>
              <a:ext uri="{FF2B5EF4-FFF2-40B4-BE49-F238E27FC236}">
                <a16:creationId xmlns:a16="http://schemas.microsoft.com/office/drawing/2014/main" id="{1A709475-3F07-17AA-E4F4-71FF30B7D66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84578" y="2320168"/>
            <a:ext cx="5201062" cy="4038671"/>
          </a:xfrm>
          <a:prstGeom prst="rect">
            <a:avLst/>
          </a:prstGeom>
        </p:spPr>
      </p:pic>
      <p:pic>
        <p:nvPicPr>
          <p:cNvPr id="11" name="図 10">
            <a:extLst>
              <a:ext uri="{FF2B5EF4-FFF2-40B4-BE49-F238E27FC236}">
                <a16:creationId xmlns:a16="http://schemas.microsoft.com/office/drawing/2014/main" id="{10E9B27E-53D9-DB07-61BF-6E3FA8A35F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20378" y="3466060"/>
            <a:ext cx="5201062" cy="2899933"/>
          </a:xfrm>
          <a:prstGeom prst="rect">
            <a:avLst/>
          </a:prstGeom>
        </p:spPr>
      </p:pic>
      <p:sp>
        <p:nvSpPr>
          <p:cNvPr id="14" name="正方形/長方形 13">
            <a:extLst>
              <a:ext uri="{FF2B5EF4-FFF2-40B4-BE49-F238E27FC236}">
                <a16:creationId xmlns:a16="http://schemas.microsoft.com/office/drawing/2014/main" id="{FAF39820-3E65-E828-C78B-FF22ACFEC7A1}"/>
              </a:ext>
            </a:extLst>
          </p:cNvPr>
          <p:cNvSpPr/>
          <p:nvPr/>
        </p:nvSpPr>
        <p:spPr>
          <a:xfrm>
            <a:off x="1179650" y="2913888"/>
            <a:ext cx="3191182" cy="292608"/>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9DEA8D01-59DA-32D2-6BA1-91AA48EF8981}"/>
              </a:ext>
            </a:extLst>
          </p:cNvPr>
          <p:cNvSpPr txBox="1"/>
          <p:nvPr/>
        </p:nvSpPr>
        <p:spPr>
          <a:xfrm>
            <a:off x="9326880" y="850768"/>
            <a:ext cx="2288106" cy="338554"/>
          </a:xfrm>
          <a:prstGeom prst="rect">
            <a:avLst/>
          </a:prstGeom>
          <a:solidFill>
            <a:srgbClr val="FF0000"/>
          </a:solidFill>
        </p:spPr>
        <p:txBody>
          <a:bodyPr wrap="square" rtlCol="0">
            <a:spAutoFit/>
          </a:bodyPr>
          <a:lstStyle/>
          <a:p>
            <a:pPr algn="ctr"/>
            <a:r>
              <a:rPr lang="en-US" altLang="ja-JP" sz="1600" b="1" dirty="0">
                <a:solidFill>
                  <a:schemeClr val="bg1"/>
                </a:solidFill>
                <a:latin typeface="BIZ UDPゴシック" panose="020B0400000000000000" pitchFamily="50" charset="-128"/>
                <a:ea typeface="BIZ UDPゴシック" panose="020B0400000000000000" pitchFamily="50" charset="-128"/>
              </a:rPr>
              <a:t>QAB</a:t>
            </a:r>
            <a:r>
              <a:rPr kumimoji="1" lang="ja-JP" altLang="en-US" sz="1600" b="1" dirty="0">
                <a:solidFill>
                  <a:schemeClr val="bg1"/>
                </a:solidFill>
                <a:latin typeface="BIZ UDPゴシック" panose="020B0400000000000000" pitchFamily="50" charset="-128"/>
                <a:ea typeface="BIZ UDPゴシック" panose="020B0400000000000000" pitchFamily="50" charset="-128"/>
              </a:rPr>
              <a:t>　</a:t>
            </a:r>
            <a:r>
              <a:rPr lang="ja-JP" altLang="en-US" sz="1600" b="1" dirty="0">
                <a:solidFill>
                  <a:schemeClr val="bg1"/>
                </a:solidFill>
                <a:latin typeface="BIZ UDPゴシック" panose="020B0400000000000000" pitchFamily="50" charset="-128"/>
                <a:ea typeface="BIZ UDPゴシック" panose="020B0400000000000000" pitchFamily="50" charset="-128"/>
              </a:rPr>
              <a:t>４０</a:t>
            </a:r>
            <a:r>
              <a:rPr kumimoji="1" lang="ja-JP" altLang="en-US" sz="1600" b="1" dirty="0">
                <a:solidFill>
                  <a:schemeClr val="bg1"/>
                </a:solidFill>
                <a:latin typeface="BIZ UDPゴシック" panose="020B0400000000000000" pitchFamily="50" charset="-128"/>
                <a:ea typeface="BIZ UDPゴシック" panose="020B0400000000000000" pitchFamily="50" charset="-128"/>
              </a:rPr>
              <a:t>万プラン</a:t>
            </a:r>
            <a:endParaRPr lang="en-US" altLang="ja-JP" sz="1600" b="1" dirty="0">
              <a:solidFill>
                <a:schemeClr val="bg1"/>
              </a:solidFill>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96855D1A-496F-BBD8-DE95-6D72AA40BAC3}"/>
              </a:ext>
            </a:extLst>
          </p:cNvPr>
          <p:cNvSpPr/>
          <p:nvPr/>
        </p:nvSpPr>
        <p:spPr>
          <a:xfrm>
            <a:off x="1179650" y="3253495"/>
            <a:ext cx="3191182" cy="292608"/>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2CD79B1-5F76-B26C-ADC3-2768DDF60121}"/>
              </a:ext>
            </a:extLst>
          </p:cNvPr>
          <p:cNvSpPr/>
          <p:nvPr/>
        </p:nvSpPr>
        <p:spPr>
          <a:xfrm>
            <a:off x="1179650" y="4119024"/>
            <a:ext cx="3191182" cy="292608"/>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F4BD451-4028-0A87-6E6A-8993D6B5698C}"/>
              </a:ext>
            </a:extLst>
          </p:cNvPr>
          <p:cNvSpPr/>
          <p:nvPr/>
        </p:nvSpPr>
        <p:spPr>
          <a:xfrm>
            <a:off x="1179650" y="4984552"/>
            <a:ext cx="3191182" cy="258007"/>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B458EE4A-AECF-BFB3-07FD-DDE472DEEC0F}"/>
              </a:ext>
            </a:extLst>
          </p:cNvPr>
          <p:cNvSpPr/>
          <p:nvPr/>
        </p:nvSpPr>
        <p:spPr>
          <a:xfrm>
            <a:off x="6492429" y="4339503"/>
            <a:ext cx="3191182" cy="258007"/>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98364237-D866-C6B2-D3CD-16C3992C08C6}"/>
              </a:ext>
            </a:extLst>
          </p:cNvPr>
          <p:cNvSpPr/>
          <p:nvPr/>
        </p:nvSpPr>
        <p:spPr>
          <a:xfrm>
            <a:off x="9683611" y="4204879"/>
            <a:ext cx="831989" cy="348833"/>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967FEEB-40C0-830D-6656-56DC5E627207}"/>
              </a:ext>
            </a:extLst>
          </p:cNvPr>
          <p:cNvSpPr/>
          <p:nvPr/>
        </p:nvSpPr>
        <p:spPr>
          <a:xfrm>
            <a:off x="10515600" y="3964414"/>
            <a:ext cx="831989" cy="375089"/>
          </a:xfrm>
          <a:prstGeom prst="rect">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308216CE-F0EB-3851-ED4D-2FF66F2BAF55}"/>
              </a:ext>
            </a:extLst>
          </p:cNvPr>
          <p:cNvSpPr txBox="1"/>
          <p:nvPr/>
        </p:nvSpPr>
        <p:spPr>
          <a:xfrm>
            <a:off x="6285115" y="2202500"/>
            <a:ext cx="5407249" cy="1277273"/>
          </a:xfrm>
          <a:prstGeom prst="rect">
            <a:avLst/>
          </a:prstGeom>
          <a:noFill/>
        </p:spPr>
        <p:txBody>
          <a:bodyPr wrap="none" rtlCol="0">
            <a:spAutoFit/>
          </a:bodyPr>
          <a:lstStyle/>
          <a:p>
            <a:pPr fontAlgn="base"/>
            <a:r>
              <a:rPr lang="en-US" altLang="ja-JP" sz="1100" dirty="0">
                <a:highlight>
                  <a:srgbClr val="FFFF00"/>
                </a:highlight>
                <a:latin typeface="BIZ UDPゴシック" panose="020B0400000000000000" pitchFamily="50" charset="-128"/>
                <a:ea typeface="BIZ UDPゴシック" panose="020B0400000000000000" pitchFamily="50" charset="-128"/>
              </a:rPr>
              <a:t>A</a:t>
            </a:r>
            <a:r>
              <a:rPr lang="ja-JP" altLang="en-US" sz="1100" dirty="0">
                <a:highlight>
                  <a:srgbClr val="FFFF00"/>
                </a:highlight>
                <a:latin typeface="BIZ UDPゴシック" panose="020B0400000000000000" pitchFamily="50" charset="-128"/>
                <a:ea typeface="BIZ UDPゴシック" panose="020B0400000000000000" pitchFamily="50" charset="-128"/>
              </a:rPr>
              <a:t>タイム（以下の①～③からいづれか</a:t>
            </a:r>
            <a:r>
              <a:rPr lang="ja-JP" altLang="en-US" sz="1100" b="1" dirty="0">
                <a:solidFill>
                  <a:srgbClr val="FF0000"/>
                </a:solidFill>
                <a:highlight>
                  <a:srgbClr val="FFFF00"/>
                </a:highlight>
                <a:latin typeface="BIZ UDPゴシック" panose="020B0400000000000000" pitchFamily="50" charset="-128"/>
                <a:ea typeface="BIZ UDPゴシック" panose="020B0400000000000000" pitchFamily="50" charset="-128"/>
              </a:rPr>
              <a:t>月で</a:t>
            </a:r>
            <a:r>
              <a:rPr lang="en-US" altLang="ja-JP" sz="1100" b="1" dirty="0">
                <a:solidFill>
                  <a:srgbClr val="FF0000"/>
                </a:solidFill>
                <a:highlight>
                  <a:srgbClr val="FFFF00"/>
                </a:highlight>
                <a:latin typeface="BIZ UDPゴシック" panose="020B0400000000000000" pitchFamily="50" charset="-128"/>
                <a:ea typeface="BIZ UDPゴシック" panose="020B0400000000000000" pitchFamily="50" charset="-128"/>
              </a:rPr>
              <a:t>2</a:t>
            </a:r>
            <a:r>
              <a:rPr lang="ja-JP" altLang="en-US" sz="1100" b="1" dirty="0">
                <a:solidFill>
                  <a:srgbClr val="FF0000"/>
                </a:solidFill>
                <a:highlight>
                  <a:srgbClr val="FFFF00"/>
                </a:highlight>
                <a:latin typeface="BIZ UDPゴシック" panose="020B0400000000000000" pitchFamily="50" charset="-128"/>
                <a:ea typeface="BIZ UDPゴシック" panose="020B0400000000000000" pitchFamily="50" charset="-128"/>
              </a:rPr>
              <a:t>回</a:t>
            </a:r>
            <a:r>
              <a:rPr lang="ja-JP" altLang="en-US" sz="1100" dirty="0">
                <a:highlight>
                  <a:srgbClr val="FFFF00"/>
                </a:highlight>
                <a:latin typeface="BIZ UDPゴシック" panose="020B0400000000000000" pitchFamily="50" charset="-128"/>
                <a:ea typeface="BIZ UDPゴシック" panose="020B0400000000000000" pitchFamily="50" charset="-128"/>
              </a:rPr>
              <a:t>取得）</a:t>
            </a:r>
            <a:endParaRPr lang="en-US" altLang="ja-JP" sz="1100" dirty="0">
              <a:highlight>
                <a:srgbClr val="FFFF00"/>
              </a:highlight>
              <a:latin typeface="BIZ UDPゴシック" panose="020B0400000000000000" pitchFamily="50" charset="-128"/>
              <a:ea typeface="BIZ UDPゴシック" panose="020B0400000000000000" pitchFamily="50" charset="-128"/>
            </a:endParaRPr>
          </a:p>
          <a:p>
            <a:pPr fontAlgn="base"/>
            <a:r>
              <a:rPr lang="ja-JP" altLang="en-US" sz="1100" dirty="0">
                <a:latin typeface="BIZ UDPゴシック" panose="020B0400000000000000" pitchFamily="50" charset="-128"/>
                <a:ea typeface="BIZ UDPゴシック" panose="020B0400000000000000" pitchFamily="50" charset="-128"/>
              </a:rPr>
              <a:t>　①平日：報道ステーション</a:t>
            </a:r>
          </a:p>
          <a:p>
            <a:pPr fontAlgn="base"/>
            <a:r>
              <a:rPr lang="ja-JP" altLang="en-US" sz="1100" dirty="0">
                <a:latin typeface="BIZ UDPゴシック" panose="020B0400000000000000" pitchFamily="50" charset="-128"/>
                <a:ea typeface="BIZ UDPゴシック" panose="020B0400000000000000" pitchFamily="50" charset="-128"/>
              </a:rPr>
              <a:t>　②土曜日：池上彰のニュース</a:t>
            </a:r>
            <a:r>
              <a:rPr lang="en-US" altLang="ja-JP" sz="1100" dirty="0">
                <a:latin typeface="BIZ UDPゴシック" panose="020B0400000000000000" pitchFamily="50" charset="-128"/>
                <a:ea typeface="BIZ UDPゴシック" panose="020B0400000000000000" pitchFamily="50" charset="-128"/>
              </a:rPr>
              <a:t>or</a:t>
            </a:r>
            <a:r>
              <a:rPr lang="ja-JP" altLang="en-US" sz="1100" dirty="0">
                <a:latin typeface="BIZ UDPゴシック" panose="020B0400000000000000" pitchFamily="50" charset="-128"/>
                <a:ea typeface="BIZ UDPゴシック" panose="020B0400000000000000" pitchFamily="50" charset="-128"/>
              </a:rPr>
              <a:t>サタデーステーション</a:t>
            </a:r>
          </a:p>
          <a:p>
            <a:pPr fontAlgn="base"/>
            <a:r>
              <a:rPr lang="ja-JP" altLang="en-US" sz="1100" dirty="0">
                <a:latin typeface="BIZ UDPゴシック" panose="020B0400000000000000" pitchFamily="50" charset="-128"/>
                <a:ea typeface="BIZ UDPゴシック" panose="020B0400000000000000" pitchFamily="50" charset="-128"/>
              </a:rPr>
              <a:t>　③日曜日：ポツンと一軒家</a:t>
            </a:r>
            <a:r>
              <a:rPr lang="en-US" altLang="ja-JP" sz="1100" dirty="0">
                <a:latin typeface="BIZ UDPゴシック" panose="020B0400000000000000" pitchFamily="50" charset="-128"/>
                <a:ea typeface="BIZ UDPゴシック" panose="020B0400000000000000" pitchFamily="50" charset="-128"/>
              </a:rPr>
              <a:t>or</a:t>
            </a:r>
            <a:r>
              <a:rPr lang="ja-JP" altLang="en-US" sz="1100" dirty="0">
                <a:latin typeface="BIZ UDPゴシック" panose="020B0400000000000000" pitchFamily="50" charset="-128"/>
                <a:ea typeface="BIZ UDPゴシック" panose="020B0400000000000000" pitchFamily="50" charset="-128"/>
              </a:rPr>
              <a:t>ナニコレ珍百景</a:t>
            </a:r>
          </a:p>
          <a:p>
            <a:pPr fontAlgn="base"/>
            <a:r>
              <a:rPr lang="en-US" altLang="ja-JP" sz="1100" dirty="0">
                <a:highlight>
                  <a:srgbClr val="FFFF00"/>
                </a:highlight>
                <a:latin typeface="BIZ UDPゴシック" panose="020B0400000000000000" pitchFamily="50" charset="-128"/>
                <a:ea typeface="BIZ UDPゴシック" panose="020B0400000000000000" pitchFamily="50" charset="-128"/>
              </a:rPr>
              <a:t>SB</a:t>
            </a:r>
            <a:r>
              <a:rPr lang="ja-JP" altLang="en-US" sz="1100" dirty="0">
                <a:highlight>
                  <a:srgbClr val="FFFF00"/>
                </a:highlight>
                <a:latin typeface="BIZ UDPゴシック" panose="020B0400000000000000" pitchFamily="50" charset="-128"/>
                <a:ea typeface="BIZ UDPゴシック" panose="020B0400000000000000" pitchFamily="50" charset="-128"/>
              </a:rPr>
              <a:t>タイム：①平日：モーニングショー</a:t>
            </a:r>
            <a:r>
              <a:rPr lang="en-US" altLang="ja-JP" sz="1100" dirty="0">
                <a:highlight>
                  <a:srgbClr val="FFFF00"/>
                </a:highlight>
                <a:latin typeface="BIZ UDPゴシック" panose="020B0400000000000000" pitchFamily="50" charset="-128"/>
                <a:ea typeface="BIZ UDPゴシック" panose="020B0400000000000000" pitchFamily="50" charset="-128"/>
              </a:rPr>
              <a:t>×</a:t>
            </a:r>
            <a:r>
              <a:rPr lang="ja-JP" altLang="en-US" sz="1100" b="1" dirty="0">
                <a:solidFill>
                  <a:srgbClr val="FF0000"/>
                </a:solidFill>
                <a:highlight>
                  <a:srgbClr val="FFFF00"/>
                </a:highlight>
                <a:latin typeface="BIZ UDPゴシック" panose="020B0400000000000000" pitchFamily="50" charset="-128"/>
                <a:ea typeface="BIZ UDPゴシック" panose="020B0400000000000000" pitchFamily="50" charset="-128"/>
              </a:rPr>
              <a:t>月で１回</a:t>
            </a:r>
            <a:r>
              <a:rPr lang="en-US" altLang="ja-JP" sz="1100" b="1" dirty="0">
                <a:highlight>
                  <a:srgbClr val="FFFF00"/>
                </a:highlight>
                <a:latin typeface="BIZ UDPゴシック" panose="020B0400000000000000" pitchFamily="50" charset="-128"/>
                <a:ea typeface="BIZ UDPゴシック" panose="020B0400000000000000" pitchFamily="50" charset="-128"/>
              </a:rPr>
              <a:t>/</a:t>
            </a:r>
            <a:r>
              <a:rPr lang="ja-JP" altLang="en-US" sz="1100" dirty="0">
                <a:highlight>
                  <a:srgbClr val="FFFF00"/>
                </a:highlight>
                <a:latin typeface="BIZ UDPゴシック" panose="020B0400000000000000" pitchFamily="50" charset="-128"/>
                <a:ea typeface="BIZ UDPゴシック" panose="020B0400000000000000" pitchFamily="50" charset="-128"/>
              </a:rPr>
              <a:t>大下容子ワイドスクランブル</a:t>
            </a:r>
            <a:r>
              <a:rPr lang="en-US" altLang="ja-JP" sz="1100" dirty="0">
                <a:highlight>
                  <a:srgbClr val="FFFF00"/>
                </a:highlight>
                <a:latin typeface="BIZ UDPゴシック" panose="020B0400000000000000" pitchFamily="50" charset="-128"/>
                <a:ea typeface="BIZ UDPゴシック" panose="020B0400000000000000" pitchFamily="50" charset="-128"/>
              </a:rPr>
              <a:t>×</a:t>
            </a:r>
            <a:r>
              <a:rPr lang="ja-JP" altLang="en-US" sz="1100" b="1" dirty="0">
                <a:solidFill>
                  <a:srgbClr val="FF0000"/>
                </a:solidFill>
                <a:highlight>
                  <a:srgbClr val="FFFF00"/>
                </a:highlight>
                <a:latin typeface="BIZ UDPゴシック" panose="020B0400000000000000" pitchFamily="50" charset="-128"/>
                <a:ea typeface="BIZ UDPゴシック" panose="020B0400000000000000" pitchFamily="50" charset="-128"/>
              </a:rPr>
              <a:t>月で１回</a:t>
            </a:r>
          </a:p>
          <a:p>
            <a:pPr fontAlgn="base"/>
            <a:r>
              <a:rPr lang="en-US" altLang="ja-JP" sz="1100" dirty="0">
                <a:highlight>
                  <a:srgbClr val="FFFF00"/>
                </a:highlight>
                <a:latin typeface="BIZ UDPゴシック" panose="020B0400000000000000" pitchFamily="50" charset="-128"/>
                <a:ea typeface="BIZ UDPゴシック" panose="020B0400000000000000" pitchFamily="50" charset="-128"/>
              </a:rPr>
              <a:t>B</a:t>
            </a:r>
            <a:r>
              <a:rPr lang="ja-JP" altLang="en-US" sz="1100" dirty="0">
                <a:highlight>
                  <a:srgbClr val="FFFF00"/>
                </a:highlight>
                <a:latin typeface="BIZ UDPゴシック" panose="020B0400000000000000" pitchFamily="50" charset="-128"/>
                <a:ea typeface="BIZ UDPゴシック" panose="020B0400000000000000" pitchFamily="50" charset="-128"/>
              </a:rPr>
              <a:t>タイム：グッドモーニング</a:t>
            </a:r>
            <a:r>
              <a:rPr lang="en-US" altLang="ja-JP" sz="1100" dirty="0">
                <a:highlight>
                  <a:srgbClr val="FFFF00"/>
                </a:highlight>
                <a:latin typeface="BIZ UDPゴシック" panose="020B0400000000000000" pitchFamily="50" charset="-128"/>
                <a:ea typeface="BIZ UDPゴシック" panose="020B0400000000000000" pitchFamily="50" charset="-128"/>
              </a:rPr>
              <a:t>×</a:t>
            </a:r>
            <a:r>
              <a:rPr lang="ja-JP" altLang="en-US" sz="1100" b="1" dirty="0">
                <a:solidFill>
                  <a:srgbClr val="FF0000"/>
                </a:solidFill>
                <a:highlight>
                  <a:srgbClr val="FFFF00"/>
                </a:highlight>
                <a:latin typeface="BIZ UDPゴシック" panose="020B0400000000000000" pitchFamily="50" charset="-128"/>
                <a:ea typeface="BIZ UDPゴシック" panose="020B0400000000000000" pitchFamily="50" charset="-128"/>
              </a:rPr>
              <a:t>月で２回</a:t>
            </a:r>
            <a:r>
              <a:rPr lang="en-US" altLang="ja-JP" sz="1100" dirty="0">
                <a:highlight>
                  <a:srgbClr val="FFFF00"/>
                </a:highlight>
                <a:latin typeface="BIZ UDPゴシック" panose="020B0400000000000000" pitchFamily="50" charset="-128"/>
                <a:ea typeface="BIZ UDPゴシック" panose="020B0400000000000000" pitchFamily="50" charset="-128"/>
              </a:rPr>
              <a:t>/</a:t>
            </a:r>
            <a:r>
              <a:rPr lang="ja-JP" altLang="en-US" sz="1100" dirty="0">
                <a:highlight>
                  <a:srgbClr val="FFFF00"/>
                </a:highlight>
                <a:latin typeface="BIZ UDPゴシック" panose="020B0400000000000000" pitchFamily="50" charset="-128"/>
                <a:ea typeface="BIZ UDPゴシック" panose="020B0400000000000000" pitchFamily="50" charset="-128"/>
              </a:rPr>
              <a:t>午後セレクション</a:t>
            </a:r>
            <a:r>
              <a:rPr lang="en-US" altLang="ja-JP" sz="1100" dirty="0">
                <a:highlight>
                  <a:srgbClr val="FFFF00"/>
                </a:highlight>
                <a:latin typeface="BIZ UDPゴシック" panose="020B0400000000000000" pitchFamily="50" charset="-128"/>
                <a:ea typeface="BIZ UDPゴシック" panose="020B0400000000000000" pitchFamily="50" charset="-128"/>
              </a:rPr>
              <a:t>×</a:t>
            </a:r>
            <a:r>
              <a:rPr lang="ja-JP" altLang="en-US" sz="1100" b="1" dirty="0">
                <a:solidFill>
                  <a:srgbClr val="FF0000"/>
                </a:solidFill>
                <a:highlight>
                  <a:srgbClr val="FFFF00"/>
                </a:highlight>
                <a:latin typeface="BIZ UDPゴシック" panose="020B0400000000000000" pitchFamily="50" charset="-128"/>
                <a:ea typeface="BIZ UDPゴシック" panose="020B0400000000000000" pitchFamily="50" charset="-128"/>
              </a:rPr>
              <a:t>月で１回</a:t>
            </a:r>
          </a:p>
          <a:p>
            <a:endParaRPr kumimoji="1" lang="en-US" altLang="ja-JP" sz="11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115260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3148619"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＞＞各局評価ルールについて</a:t>
            </a:r>
          </a:p>
        </p:txBody>
      </p:sp>
      <p:sp>
        <p:nvSpPr>
          <p:cNvPr id="5" name="テキスト ボックス 4">
            <a:extLst>
              <a:ext uri="{FF2B5EF4-FFF2-40B4-BE49-F238E27FC236}">
                <a16:creationId xmlns:a16="http://schemas.microsoft.com/office/drawing/2014/main" id="{E5607FAA-1F02-307B-E39F-A54B54FC3316}"/>
              </a:ext>
            </a:extLst>
          </p:cNvPr>
          <p:cNvSpPr txBox="1"/>
          <p:nvPr/>
        </p:nvSpPr>
        <p:spPr>
          <a:xfrm>
            <a:off x="332508" y="800855"/>
            <a:ext cx="11737571" cy="3046988"/>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 アクチュアル（事後評価）評価制度の考え（ルール）について</a:t>
            </a:r>
            <a:endParaRPr kumimoji="1" lang="en-US" altLang="ja-JP" sz="1600"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１．評価対象期間は事前に各局へ通知</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２．評価期間については</a:t>
            </a:r>
            <a:r>
              <a:rPr lang="en-US" altLang="ja-JP" sz="1600" dirty="0">
                <a:latin typeface="BIZ UDPゴシック" panose="020B0400000000000000" pitchFamily="50" charset="-128"/>
                <a:ea typeface="BIZ UDPゴシック" panose="020B0400000000000000" pitchFamily="50" charset="-128"/>
              </a:rPr>
              <a:t>2</a:t>
            </a:r>
            <a:r>
              <a:rPr lang="ja-JP" altLang="en-US" sz="1600" dirty="0">
                <a:latin typeface="BIZ UDPゴシック" panose="020B0400000000000000" pitchFamily="50" charset="-128"/>
                <a:ea typeface="BIZ UDPゴシック" panose="020B0400000000000000" pitchFamily="50" charset="-128"/>
              </a:rPr>
              <a:t>か月～</a:t>
            </a:r>
            <a:r>
              <a:rPr lang="en-US" altLang="ja-JP" sz="1600" dirty="0">
                <a:latin typeface="BIZ UDPゴシック" panose="020B0400000000000000" pitchFamily="50" charset="-128"/>
                <a:ea typeface="BIZ UDPゴシック" panose="020B0400000000000000" pitchFamily="50" charset="-128"/>
              </a:rPr>
              <a:t>3</a:t>
            </a:r>
            <a:r>
              <a:rPr lang="ja-JP" altLang="en-US" sz="1600" dirty="0">
                <a:latin typeface="BIZ UDPゴシック" panose="020B0400000000000000" pitchFamily="50" charset="-128"/>
                <a:ea typeface="BIZ UDPゴシック" panose="020B0400000000000000" pitchFamily="50" charset="-128"/>
              </a:rPr>
              <a:t>ヵ月で設定</a:t>
            </a:r>
            <a:endParaRPr lang="en-US" altLang="ja-JP" sz="1600"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（評価点方法）</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３．評価対象の視聴率（</a:t>
            </a:r>
            <a:r>
              <a:rPr lang="en-US" altLang="ja-JP" sz="1600" dirty="0">
                <a:latin typeface="BIZ UDPゴシック" panose="020B0400000000000000" pitchFamily="50" charset="-128"/>
                <a:ea typeface="BIZ UDPゴシック" panose="020B0400000000000000" pitchFamily="50" charset="-128"/>
              </a:rPr>
              <a:t>PRP</a:t>
            </a:r>
            <a:r>
              <a:rPr lang="ja-JP" altLang="en-US" sz="1600" dirty="0">
                <a:latin typeface="BIZ UDPゴシック" panose="020B0400000000000000" pitchFamily="50" charset="-128"/>
                <a:ea typeface="BIZ UDPゴシック" panose="020B0400000000000000" pitchFamily="50" charset="-128"/>
              </a:rPr>
              <a:t>）は以下の①～③の男性平均、女性平均の合計値で判断。また、発注金額の</a:t>
            </a:r>
            <a:r>
              <a:rPr lang="en-US" altLang="ja-JP" sz="1600" dirty="0">
                <a:latin typeface="BIZ UDPゴシック" panose="020B0400000000000000" pitchFamily="50" charset="-128"/>
                <a:ea typeface="BIZ UDPゴシック" panose="020B0400000000000000" pitchFamily="50" charset="-128"/>
              </a:rPr>
              <a:t>10</a:t>
            </a:r>
            <a:r>
              <a:rPr lang="ja-JP" altLang="en-US" sz="1600" dirty="0">
                <a:latin typeface="BIZ UDPゴシック" panose="020B0400000000000000" pitchFamily="50" charset="-128"/>
                <a:ea typeface="BIZ UDPゴシック" panose="020B0400000000000000" pitchFamily="50" charset="-128"/>
              </a:rPr>
              <a:t>万円あたり視聴率とする。</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＜評価対象視聴率＞</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① </a:t>
            </a:r>
            <a:r>
              <a:rPr lang="en-US" altLang="ja-JP" sz="1600" dirty="0">
                <a:latin typeface="BIZ UDPゴシック" panose="020B0400000000000000" pitchFamily="50" charset="-128"/>
                <a:ea typeface="BIZ UDPゴシック" panose="020B0400000000000000" pitchFamily="50" charset="-128"/>
              </a:rPr>
              <a:t>35</a:t>
            </a:r>
            <a:r>
              <a:rPr lang="ja-JP" altLang="en-US" sz="1600" dirty="0">
                <a:latin typeface="BIZ UDPゴシック" panose="020B0400000000000000" pitchFamily="50" charset="-128"/>
                <a:ea typeface="BIZ UDPゴシック" panose="020B0400000000000000" pitchFamily="50" charset="-128"/>
              </a:rPr>
              <a:t>ー</a:t>
            </a:r>
            <a:r>
              <a:rPr lang="en-US" altLang="ja-JP" sz="1600" dirty="0">
                <a:latin typeface="BIZ UDPゴシック" panose="020B0400000000000000" pitchFamily="50" charset="-128"/>
                <a:ea typeface="BIZ UDPゴシック" panose="020B0400000000000000" pitchFamily="50" charset="-128"/>
              </a:rPr>
              <a:t>49</a:t>
            </a:r>
            <a:r>
              <a:rPr lang="ja-JP" altLang="en-US" sz="1600" dirty="0">
                <a:latin typeface="BIZ UDPゴシック" panose="020B0400000000000000" pitchFamily="50" charset="-128"/>
                <a:ea typeface="BIZ UDPゴシック" panose="020B0400000000000000" pitchFamily="50" charset="-128"/>
              </a:rPr>
              <a:t>歳　男性、女性</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② ５０－</a:t>
            </a:r>
            <a:r>
              <a:rPr lang="en-US" altLang="ja-JP" sz="1600" dirty="0">
                <a:latin typeface="BIZ UDPゴシック" panose="020B0400000000000000" pitchFamily="50" charset="-128"/>
                <a:ea typeface="BIZ UDPゴシック" panose="020B0400000000000000" pitchFamily="50" charset="-128"/>
              </a:rPr>
              <a:t>64</a:t>
            </a:r>
            <a:r>
              <a:rPr lang="ja-JP" altLang="en-US" sz="1600" dirty="0">
                <a:latin typeface="BIZ UDPゴシック" panose="020B0400000000000000" pitchFamily="50" charset="-128"/>
                <a:ea typeface="BIZ UDPゴシック" panose="020B0400000000000000" pitchFamily="50" charset="-128"/>
              </a:rPr>
              <a:t>歳　男性、女性</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③ </a:t>
            </a:r>
            <a:r>
              <a:rPr lang="en-US" altLang="ja-JP" sz="1600" dirty="0">
                <a:latin typeface="BIZ UDPゴシック" panose="020B0400000000000000" pitchFamily="50" charset="-128"/>
                <a:ea typeface="BIZ UDPゴシック" panose="020B0400000000000000" pitchFamily="50" charset="-128"/>
              </a:rPr>
              <a:t>65</a:t>
            </a:r>
            <a:r>
              <a:rPr lang="ja-JP" altLang="en-US" sz="1600" dirty="0">
                <a:latin typeface="BIZ UDPゴシック" panose="020B0400000000000000" pitchFamily="50" charset="-128"/>
                <a:ea typeface="BIZ UDPゴシック" panose="020B0400000000000000" pitchFamily="50" charset="-128"/>
              </a:rPr>
              <a:t>歳以上～　男性、女性</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上記①～③の男性・女性の各平均値の合計</a:t>
            </a:r>
            <a:endParaRPr lang="en-US" altLang="ja-JP" sz="1600" dirty="0">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7EB42643-F398-57BD-D52F-D9774B74135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36BD1D2-2A8C-8D7F-AEBF-9CBD1069F1C1}"/>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10">
            <a:extLst>
              <a:ext uri="{FF2B5EF4-FFF2-40B4-BE49-F238E27FC236}">
                <a16:creationId xmlns:a16="http://schemas.microsoft.com/office/drawing/2014/main" id="{AEDA3085-9D26-282F-BC2C-13DFCB544DB3}"/>
              </a:ext>
            </a:extLst>
          </p:cNvPr>
          <p:cNvSpPr>
            <a:spLocks noGrp="1"/>
          </p:cNvSpPr>
          <p:nvPr>
            <p:ph type="sldNum" sz="quarter" idx="12"/>
          </p:nvPr>
        </p:nvSpPr>
        <p:spPr>
          <a:xfrm>
            <a:off x="9326880" y="6371613"/>
            <a:ext cx="2743200" cy="365125"/>
          </a:xfrm>
        </p:spPr>
        <p:txBody>
          <a:bodyPr/>
          <a:lstStyle/>
          <a:p>
            <a:fld id="{5A968F70-849A-4002-AAE1-AF06B930E453}" type="slidenum">
              <a:rPr kumimoji="1" lang="ja-JP" altLang="en-US" smtClean="0"/>
              <a:t>6</a:t>
            </a:fld>
            <a:endParaRPr kumimoji="1" lang="ja-JP" altLang="en-US"/>
          </a:p>
        </p:txBody>
      </p:sp>
      <p:grpSp>
        <p:nvGrpSpPr>
          <p:cNvPr id="41" name="グループ化 40">
            <a:extLst>
              <a:ext uri="{FF2B5EF4-FFF2-40B4-BE49-F238E27FC236}">
                <a16:creationId xmlns:a16="http://schemas.microsoft.com/office/drawing/2014/main" id="{9CE8FD1D-E100-206F-1DE3-6E08BCB8347C}"/>
              </a:ext>
            </a:extLst>
          </p:cNvPr>
          <p:cNvGrpSpPr/>
          <p:nvPr/>
        </p:nvGrpSpPr>
        <p:grpSpPr>
          <a:xfrm>
            <a:off x="332508" y="4137072"/>
            <a:ext cx="7183259" cy="1987824"/>
            <a:chOff x="4008119" y="4110525"/>
            <a:chExt cx="8061960" cy="2230987"/>
          </a:xfrm>
        </p:grpSpPr>
        <p:pic>
          <p:nvPicPr>
            <p:cNvPr id="15" name="図 14">
              <a:extLst>
                <a:ext uri="{FF2B5EF4-FFF2-40B4-BE49-F238E27FC236}">
                  <a16:creationId xmlns:a16="http://schemas.microsoft.com/office/drawing/2014/main" id="{43BE0353-C89A-13C3-8C63-17714E43EC61}"/>
                </a:ext>
              </a:extLst>
            </p:cNvPr>
            <p:cNvPicPr>
              <a:picLocks noChangeAspect="1"/>
            </p:cNvPicPr>
            <p:nvPr/>
          </p:nvPicPr>
          <p:blipFill>
            <a:blip r:embed="rId2"/>
            <a:stretch>
              <a:fillRect/>
            </a:stretch>
          </p:blipFill>
          <p:spPr>
            <a:xfrm>
              <a:off x="4008119" y="4110525"/>
              <a:ext cx="8061960" cy="1866900"/>
            </a:xfrm>
            <a:prstGeom prst="rect">
              <a:avLst/>
            </a:prstGeom>
          </p:spPr>
        </p:pic>
        <p:sp>
          <p:nvSpPr>
            <p:cNvPr id="16" name="楕円 15">
              <a:extLst>
                <a:ext uri="{FF2B5EF4-FFF2-40B4-BE49-F238E27FC236}">
                  <a16:creationId xmlns:a16="http://schemas.microsoft.com/office/drawing/2014/main" id="{F4330F33-2E11-B506-B861-918ECA54BBB7}"/>
                </a:ext>
              </a:extLst>
            </p:cNvPr>
            <p:cNvSpPr/>
            <p:nvPr/>
          </p:nvSpPr>
          <p:spPr>
            <a:xfrm>
              <a:off x="7859485" y="5353186"/>
              <a:ext cx="1014549" cy="50945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70ACDA70-1D89-4434-B07D-B82D64F1C318}"/>
                </a:ext>
              </a:extLst>
            </p:cNvPr>
            <p:cNvSpPr/>
            <p:nvPr/>
          </p:nvSpPr>
          <p:spPr>
            <a:xfrm>
              <a:off x="10524308" y="5353186"/>
              <a:ext cx="1014549" cy="50945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6C74B65A-44ED-D5A5-61E0-FFDBB728DFD4}"/>
                </a:ext>
              </a:extLst>
            </p:cNvPr>
            <p:cNvCxnSpPr>
              <a:cxnSpLocks/>
              <a:stCxn id="16" idx="5"/>
            </p:cNvCxnSpPr>
            <p:nvPr/>
          </p:nvCxnSpPr>
          <p:spPr>
            <a:xfrm>
              <a:off x="8725457" y="5788030"/>
              <a:ext cx="1009854" cy="55219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11D63B6B-5307-DC62-94CB-CB2E9A0369AB}"/>
                </a:ext>
              </a:extLst>
            </p:cNvPr>
            <p:cNvCxnSpPr>
              <a:cxnSpLocks/>
              <a:stCxn id="17" idx="3"/>
            </p:cNvCxnSpPr>
            <p:nvPr/>
          </p:nvCxnSpPr>
          <p:spPr>
            <a:xfrm flipH="1">
              <a:off x="9692639" y="5788030"/>
              <a:ext cx="980246" cy="553482"/>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42" name="テキスト ボックス 41">
            <a:extLst>
              <a:ext uri="{FF2B5EF4-FFF2-40B4-BE49-F238E27FC236}">
                <a16:creationId xmlns:a16="http://schemas.microsoft.com/office/drawing/2014/main" id="{87CF5EF9-D100-BAA4-655C-C4EE5CEFA6DC}"/>
              </a:ext>
            </a:extLst>
          </p:cNvPr>
          <p:cNvSpPr txBox="1"/>
          <p:nvPr/>
        </p:nvSpPr>
        <p:spPr>
          <a:xfrm>
            <a:off x="3924137" y="6189410"/>
            <a:ext cx="3678475" cy="338554"/>
          </a:xfrm>
          <a:prstGeom prst="rect">
            <a:avLst/>
          </a:prstGeom>
          <a:noFill/>
        </p:spPr>
        <p:txBody>
          <a:bodyPr wrap="square" rtlCol="0">
            <a:spAutoFit/>
          </a:bodyPr>
          <a:lstStyle/>
          <a:p>
            <a:r>
              <a:rPr lang="ja-JP" altLang="en-US" sz="1600" dirty="0">
                <a:solidFill>
                  <a:srgbClr val="FF0000"/>
                </a:solidFill>
                <a:latin typeface="BIZ UDPゴシック" panose="020B0400000000000000" pitchFamily="50" charset="-128"/>
                <a:ea typeface="BIZ UDPゴシック" panose="020B0400000000000000" pitchFamily="50" charset="-128"/>
              </a:rPr>
              <a:t>平均数値の合計：　例）　</a:t>
            </a:r>
            <a:r>
              <a:rPr lang="en-US" altLang="ja-JP" sz="1600" dirty="0">
                <a:solidFill>
                  <a:srgbClr val="FF0000"/>
                </a:solidFill>
                <a:latin typeface="BIZ UDPゴシック" panose="020B0400000000000000" pitchFamily="50" charset="-128"/>
                <a:ea typeface="BIZ UDPゴシック" panose="020B0400000000000000" pitchFamily="50" charset="-128"/>
              </a:rPr>
              <a:t>1,112.23</a:t>
            </a:r>
          </a:p>
        </p:txBody>
      </p:sp>
    </p:spTree>
    <p:extLst>
      <p:ext uri="{BB962C8B-B14F-4D97-AF65-F5344CB8AC3E}">
        <p14:creationId xmlns:p14="http://schemas.microsoft.com/office/powerpoint/2010/main" val="4131650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DE91AA-79BD-4ACF-E1CE-12624C8BA17F}"/>
              </a:ext>
            </a:extLst>
          </p:cNvPr>
          <p:cNvSpPr txBox="1"/>
          <p:nvPr/>
        </p:nvSpPr>
        <p:spPr>
          <a:xfrm>
            <a:off x="332509" y="299258"/>
            <a:ext cx="3167855" cy="369332"/>
          </a:xfrm>
          <a:prstGeom prst="rect">
            <a:avLst/>
          </a:prstGeom>
          <a:noFill/>
        </p:spPr>
        <p:txBody>
          <a:bodyPr wrap="none" rtlCol="0">
            <a:spAutoFit/>
          </a:bodyPr>
          <a:lstStyle/>
          <a:p>
            <a:r>
              <a:rPr kumimoji="1" lang="ja-JP" altLang="en-US" dirty="0">
                <a:latin typeface="BIZ UDPゴシック" panose="020B0400000000000000" pitchFamily="50" charset="-128"/>
                <a:ea typeface="BIZ UDPゴシック" panose="020B0400000000000000" pitchFamily="50" charset="-128"/>
              </a:rPr>
              <a:t>＞＞今後の月例報告について</a:t>
            </a:r>
          </a:p>
        </p:txBody>
      </p:sp>
      <p:sp>
        <p:nvSpPr>
          <p:cNvPr id="8" name="正方形/長方形 7">
            <a:extLst>
              <a:ext uri="{FF2B5EF4-FFF2-40B4-BE49-F238E27FC236}">
                <a16:creationId xmlns:a16="http://schemas.microsoft.com/office/drawing/2014/main" id="{7EB42643-F398-57BD-D52F-D9774B74135D}"/>
              </a:ext>
            </a:extLst>
          </p:cNvPr>
          <p:cNvSpPr/>
          <p:nvPr/>
        </p:nvSpPr>
        <p:spPr>
          <a:xfrm>
            <a:off x="0" y="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36BD1D2-2A8C-8D7F-AEBF-9CBD1069F1C1}"/>
              </a:ext>
            </a:extLst>
          </p:cNvPr>
          <p:cNvSpPr/>
          <p:nvPr/>
        </p:nvSpPr>
        <p:spPr>
          <a:xfrm>
            <a:off x="0" y="6705600"/>
            <a:ext cx="12192000" cy="1524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スライド番号プレースホルダー 10">
            <a:extLst>
              <a:ext uri="{FF2B5EF4-FFF2-40B4-BE49-F238E27FC236}">
                <a16:creationId xmlns:a16="http://schemas.microsoft.com/office/drawing/2014/main" id="{AEDA3085-9D26-282F-BC2C-13DFCB544DB3}"/>
              </a:ext>
            </a:extLst>
          </p:cNvPr>
          <p:cNvSpPr>
            <a:spLocks noGrp="1"/>
          </p:cNvSpPr>
          <p:nvPr>
            <p:ph type="sldNum" sz="quarter" idx="12"/>
          </p:nvPr>
        </p:nvSpPr>
        <p:spPr>
          <a:xfrm>
            <a:off x="9326880" y="6371613"/>
            <a:ext cx="2743200" cy="365125"/>
          </a:xfrm>
        </p:spPr>
        <p:txBody>
          <a:bodyPr/>
          <a:lstStyle/>
          <a:p>
            <a:fld id="{5A968F70-849A-4002-AAE1-AF06B930E453}" type="slidenum">
              <a:rPr kumimoji="1" lang="ja-JP" altLang="en-US" smtClean="0"/>
              <a:t>7</a:t>
            </a:fld>
            <a:endParaRPr kumimoji="1" lang="ja-JP" altLang="en-US"/>
          </a:p>
        </p:txBody>
      </p:sp>
      <p:sp>
        <p:nvSpPr>
          <p:cNvPr id="2" name="テキスト ボックス 1">
            <a:extLst>
              <a:ext uri="{FF2B5EF4-FFF2-40B4-BE49-F238E27FC236}">
                <a16:creationId xmlns:a16="http://schemas.microsoft.com/office/drawing/2014/main" id="{29E3B341-F358-2373-88B2-6F6E1C339792}"/>
              </a:ext>
            </a:extLst>
          </p:cNvPr>
          <p:cNvSpPr txBox="1"/>
          <p:nvPr/>
        </p:nvSpPr>
        <p:spPr>
          <a:xfrm>
            <a:off x="500150" y="729550"/>
            <a:ext cx="11569930" cy="1077218"/>
          </a:xfrm>
          <a:prstGeom prst="rect">
            <a:avLst/>
          </a:prstGeom>
          <a:noFill/>
        </p:spPr>
        <p:txBody>
          <a:bodyPr wrap="square" rtlCol="0">
            <a:spAutoFit/>
          </a:bodyPr>
          <a:lstStyle/>
          <a:p>
            <a:r>
              <a:rPr kumimoji="1" lang="en-US" altLang="ja-JP" sz="1600" dirty="0">
                <a:latin typeface="BIZ UDPゴシック" panose="020B0400000000000000" pitchFamily="50" charset="-128"/>
                <a:ea typeface="BIZ UDPゴシック" panose="020B0400000000000000" pitchFamily="50" charset="-128"/>
              </a:rPr>
              <a:t>1</a:t>
            </a:r>
            <a:r>
              <a:rPr kumimoji="1" lang="ja-JP" altLang="en-US" sz="1600" dirty="0">
                <a:latin typeface="BIZ UDPゴシック" panose="020B0400000000000000" pitchFamily="50" charset="-128"/>
                <a:ea typeface="BIZ UDPゴシック" panose="020B0400000000000000" pitchFamily="50" charset="-128"/>
              </a:rPr>
              <a:t>月以降、</a:t>
            </a:r>
            <a:r>
              <a:rPr kumimoji="1" lang="en-US" altLang="ja-JP" sz="1600" dirty="0">
                <a:latin typeface="BIZ UDPゴシック" panose="020B0400000000000000" pitchFamily="50" charset="-128"/>
                <a:ea typeface="BIZ UDPゴシック" panose="020B0400000000000000" pitchFamily="50" charset="-128"/>
              </a:rPr>
              <a:t>CM</a:t>
            </a:r>
            <a:r>
              <a:rPr lang="ja-JP" altLang="en-US" sz="1600" dirty="0">
                <a:latin typeface="BIZ UDPゴシック" panose="020B0400000000000000" pitchFamily="50" charset="-128"/>
                <a:ea typeface="BIZ UDPゴシック" panose="020B0400000000000000" pitchFamily="50" charset="-128"/>
              </a:rPr>
              <a:t>放送後に「アクチュアル（事後評価）」を実施し、放送完了時点での獲得視聴率の報告を実施いたします。</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月一回報告資料の提出もしくは定例でミーティングをもうけさせて頂き、放送後の効果検証に繋げていきたいと考えております。</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年間を通して、視聴率の管理を行う事で年間の平均値や、良かった月、悪かった月などが形になって分かるようになると考えておりますので、その内容を元に今後の放送方法についてもより良くなる様改善を行えればと考えております。</a:t>
            </a:r>
            <a:endParaRPr lang="en-US" altLang="ja-JP" sz="1600"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FA4A29B8-23A7-CF86-0ED6-C957BDCE3EB2}"/>
              </a:ext>
            </a:extLst>
          </p:cNvPr>
          <p:cNvSpPr txBox="1"/>
          <p:nvPr/>
        </p:nvSpPr>
        <p:spPr>
          <a:xfrm>
            <a:off x="500150" y="2017795"/>
            <a:ext cx="11569930" cy="338554"/>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＜報告会提出資料＞</a:t>
            </a:r>
            <a:endParaRPr kumimoji="1" lang="en-US" altLang="ja-JP" sz="1600" dirty="0">
              <a:latin typeface="BIZ UDPゴシック" panose="020B0400000000000000" pitchFamily="50" charset="-128"/>
              <a:ea typeface="BIZ UDPゴシック" panose="020B0400000000000000" pitchFamily="50" charset="-128"/>
            </a:endParaRPr>
          </a:p>
        </p:txBody>
      </p:sp>
      <p:pic>
        <p:nvPicPr>
          <p:cNvPr id="14" name="図 13">
            <a:extLst>
              <a:ext uri="{FF2B5EF4-FFF2-40B4-BE49-F238E27FC236}">
                <a16:creationId xmlns:a16="http://schemas.microsoft.com/office/drawing/2014/main" id="{E419972A-1919-10C4-8BC6-209EF37CBB66}"/>
              </a:ext>
            </a:extLst>
          </p:cNvPr>
          <p:cNvPicPr>
            <a:picLocks noChangeAspect="1"/>
          </p:cNvPicPr>
          <p:nvPr/>
        </p:nvPicPr>
        <p:blipFill>
          <a:blip r:embed="rId2"/>
          <a:stretch>
            <a:fillRect/>
          </a:stretch>
        </p:blipFill>
        <p:spPr>
          <a:xfrm>
            <a:off x="524897" y="2667505"/>
            <a:ext cx="4138543" cy="3871102"/>
          </a:xfrm>
          <a:prstGeom prst="rect">
            <a:avLst/>
          </a:prstGeom>
        </p:spPr>
      </p:pic>
      <p:sp>
        <p:nvSpPr>
          <p:cNvPr id="15" name="テキスト ボックス 14">
            <a:extLst>
              <a:ext uri="{FF2B5EF4-FFF2-40B4-BE49-F238E27FC236}">
                <a16:creationId xmlns:a16="http://schemas.microsoft.com/office/drawing/2014/main" id="{4FAA39C2-D166-6264-C555-3DE75CDED65F}"/>
              </a:ext>
            </a:extLst>
          </p:cNvPr>
          <p:cNvSpPr txBox="1"/>
          <p:nvPr/>
        </p:nvSpPr>
        <p:spPr>
          <a:xfrm>
            <a:off x="500150" y="2328950"/>
            <a:ext cx="3941221" cy="338554"/>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 </a:t>
            </a:r>
            <a:r>
              <a:rPr kumimoji="1" lang="en-US" altLang="ja-JP" sz="1600" dirty="0">
                <a:latin typeface="BIZ UDPゴシック" panose="020B0400000000000000" pitchFamily="50" charset="-128"/>
                <a:ea typeface="BIZ UDPゴシック" panose="020B0400000000000000" pitchFamily="50" charset="-128"/>
              </a:rPr>
              <a:t>CM</a:t>
            </a:r>
            <a:r>
              <a:rPr lang="ja-JP" altLang="en-US" sz="1600" dirty="0">
                <a:latin typeface="BIZ UDPゴシック" panose="020B0400000000000000" pitchFamily="50" charset="-128"/>
                <a:ea typeface="BIZ UDPゴシック" panose="020B0400000000000000" pitchFamily="50" charset="-128"/>
              </a:rPr>
              <a:t>全オンエアの視聴率報告資料</a:t>
            </a:r>
            <a:endParaRPr kumimoji="1" lang="en-US" altLang="ja-JP" sz="1600" dirty="0">
              <a:latin typeface="BIZ UDPゴシック" panose="020B0400000000000000" pitchFamily="50" charset="-128"/>
              <a:ea typeface="BIZ UDPゴシック" panose="020B0400000000000000" pitchFamily="50" charset="-128"/>
            </a:endParaRPr>
          </a:p>
        </p:txBody>
      </p:sp>
      <p:pic>
        <p:nvPicPr>
          <p:cNvPr id="16" name="図 15">
            <a:extLst>
              <a:ext uri="{FF2B5EF4-FFF2-40B4-BE49-F238E27FC236}">
                <a16:creationId xmlns:a16="http://schemas.microsoft.com/office/drawing/2014/main" id="{30984E08-776D-BCCA-5085-74B9CB93AD24}"/>
              </a:ext>
            </a:extLst>
          </p:cNvPr>
          <p:cNvPicPr>
            <a:picLocks noChangeAspect="1"/>
          </p:cNvPicPr>
          <p:nvPr/>
        </p:nvPicPr>
        <p:blipFill>
          <a:blip r:embed="rId3"/>
          <a:stretch>
            <a:fillRect/>
          </a:stretch>
        </p:blipFill>
        <p:spPr>
          <a:xfrm>
            <a:off x="5048794" y="2654441"/>
            <a:ext cx="6413863" cy="1547359"/>
          </a:xfrm>
          <a:prstGeom prst="rect">
            <a:avLst/>
          </a:prstGeom>
        </p:spPr>
      </p:pic>
      <p:sp>
        <p:nvSpPr>
          <p:cNvPr id="17" name="テキスト ボックス 16">
            <a:extLst>
              <a:ext uri="{FF2B5EF4-FFF2-40B4-BE49-F238E27FC236}">
                <a16:creationId xmlns:a16="http://schemas.microsoft.com/office/drawing/2014/main" id="{21381A7B-7975-3C64-700C-E6CF3A2A6475}"/>
              </a:ext>
            </a:extLst>
          </p:cNvPr>
          <p:cNvSpPr txBox="1"/>
          <p:nvPr/>
        </p:nvSpPr>
        <p:spPr>
          <a:xfrm>
            <a:off x="5048794" y="2342013"/>
            <a:ext cx="3941221" cy="338554"/>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 視聴率管理表</a:t>
            </a:r>
            <a:endParaRPr kumimoji="1" lang="en-US" altLang="ja-JP" sz="16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ABC56E45-8E88-94AC-CBD8-89D695AE6551}"/>
              </a:ext>
            </a:extLst>
          </p:cNvPr>
          <p:cNvSpPr txBox="1"/>
          <p:nvPr/>
        </p:nvSpPr>
        <p:spPr>
          <a:xfrm>
            <a:off x="5048794" y="4791980"/>
            <a:ext cx="6618309" cy="1323439"/>
          </a:xfrm>
          <a:prstGeom prst="rect">
            <a:avLst/>
          </a:prstGeom>
          <a:noFill/>
        </p:spPr>
        <p:txBody>
          <a:bodyPr wrap="square" rtlCol="0">
            <a:spAutoFit/>
          </a:bodyPr>
          <a:lstStyle/>
          <a:p>
            <a:r>
              <a:rPr kumimoji="1" lang="ja-JP" altLang="en-US" sz="1600" dirty="0">
                <a:latin typeface="BIZ UDPゴシック" panose="020B0400000000000000" pitchFamily="50" charset="-128"/>
                <a:ea typeface="BIZ UDPゴシック" panose="020B0400000000000000" pitchFamily="50" charset="-128"/>
              </a:rPr>
              <a:t>各</a:t>
            </a:r>
            <a:r>
              <a:rPr kumimoji="1" lang="en-US" altLang="ja-JP" sz="1600" dirty="0">
                <a:latin typeface="BIZ UDPゴシック" panose="020B0400000000000000" pitchFamily="50" charset="-128"/>
                <a:ea typeface="BIZ UDPゴシック" panose="020B0400000000000000" pitchFamily="50" charset="-128"/>
              </a:rPr>
              <a:t>CM</a:t>
            </a:r>
            <a:r>
              <a:rPr kumimoji="1" lang="ja-JP" altLang="en-US" sz="1600" dirty="0">
                <a:latin typeface="BIZ UDPゴシック" panose="020B0400000000000000" pitchFamily="50" charset="-128"/>
                <a:ea typeface="BIZ UDPゴシック" panose="020B0400000000000000" pitchFamily="50" charset="-128"/>
              </a:rPr>
              <a:t>本数毎の視聴率をもとに月間の棚卸を実施。</a:t>
            </a:r>
            <a:endParaRPr kumimoji="1"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各月の視聴率情報をストックしつつ、比較検証を行います。</a:t>
            </a:r>
            <a:endParaRPr lang="en-US" altLang="ja-JP" sz="1600" dirty="0">
              <a:latin typeface="BIZ UDPゴシック" panose="020B0400000000000000" pitchFamily="50" charset="-128"/>
              <a:ea typeface="BIZ UDPゴシック" panose="020B0400000000000000" pitchFamily="50" charset="-128"/>
            </a:endParaRPr>
          </a:p>
          <a:p>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視聴率の他に目標値の設定をしたいと考えております。</a:t>
            </a:r>
            <a:endParaRPr lang="en-US" altLang="ja-JP" sz="1600" dirty="0">
              <a:latin typeface="BIZ UDPゴシック" panose="020B0400000000000000" pitchFamily="50" charset="-128"/>
              <a:ea typeface="BIZ UDPゴシック" panose="020B0400000000000000" pitchFamily="50" charset="-128"/>
            </a:endParaRPr>
          </a:p>
          <a:p>
            <a:r>
              <a:rPr lang="ja-JP" altLang="en-US" sz="1600" dirty="0">
                <a:latin typeface="BIZ UDPゴシック" panose="020B0400000000000000" pitchFamily="50" charset="-128"/>
                <a:ea typeface="BIZ UDPゴシック" panose="020B0400000000000000" pitchFamily="50" charset="-128"/>
              </a:rPr>
              <a:t>（問い合わせ件数、成約件数）など</a:t>
            </a:r>
            <a:endParaRPr lang="en-US" altLang="ja-JP" sz="16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1250444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TotalTime>
  <Words>1110</Words>
  <Application>Microsoft Office PowerPoint</Application>
  <PresentationFormat>ワイド画面</PresentationFormat>
  <Paragraphs>95</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BIZ UDPゴシック</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大城 直樹</dc:creator>
  <cp:lastModifiedBy>大城 直樹</cp:lastModifiedBy>
  <cp:revision>2</cp:revision>
  <cp:lastPrinted>2025-12-10T15:40:52Z</cp:lastPrinted>
  <dcterms:created xsi:type="dcterms:W3CDTF">2025-12-10T12:10:49Z</dcterms:created>
  <dcterms:modified xsi:type="dcterms:W3CDTF">2025-12-11T01:27:27Z</dcterms:modified>
</cp:coreProperties>
</file>